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a339362ffc4cce" /><Relationship Type="http://schemas.openxmlformats.org/officeDocument/2006/relationships/extended-properties" Target="/docProps/app.xml" Id="R882467a6be9b48bc" /><Relationship Type="http://schemas.openxmlformats.org/officeDocument/2006/relationships/officeDocument" Target="/ppt/presentation.xml" Id="Rff93d514d26445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2baa19cf884ee1"/>
  </p:sldMasterIdLst>
  <p:notesMasterIdLst>
    <p:notesMasterId xmlns:r="http://schemas.openxmlformats.org/officeDocument/2006/relationships" r:id="Rc1f7edda7bc24093"/>
  </p:notesMasterIdLst>
  <p:sldIdLst>
    <p:sldId xmlns:r="http://schemas.openxmlformats.org/officeDocument/2006/relationships" id="256" r:id="R803a81db62874c80"/>
    <p:sldId xmlns:r="http://schemas.openxmlformats.org/officeDocument/2006/relationships" id="257" r:id="R614a0ff24d4e49b1"/>
    <p:sldId xmlns:r="http://schemas.openxmlformats.org/officeDocument/2006/relationships" id="258" r:id="R4e3622fa31dd4b9c"/>
    <p:sldId xmlns:r="http://schemas.openxmlformats.org/officeDocument/2006/relationships" id="259" r:id="R227000874a884eba"/>
    <p:sldId xmlns:r="http://schemas.openxmlformats.org/officeDocument/2006/relationships" id="260" r:id="Rea2856f70da544d5"/>
    <p:sldId xmlns:r="http://schemas.openxmlformats.org/officeDocument/2006/relationships" id="261" r:id="R19bf43439ddd4726"/>
    <p:sldId xmlns:r="http://schemas.openxmlformats.org/officeDocument/2006/relationships" id="262" r:id="Rc9ebf8222c1647f4"/>
    <p:sldId xmlns:r="http://schemas.openxmlformats.org/officeDocument/2006/relationships" id="263" r:id="R4427d72c7ecc4f90"/>
    <p:sldId xmlns:r="http://schemas.openxmlformats.org/officeDocument/2006/relationships" id="264" r:id="R09222c8b8f224640"/>
    <p:sldId xmlns:r="http://schemas.openxmlformats.org/officeDocument/2006/relationships" id="265" r:id="R9f5626f9c7b741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610d105e464d95" /><Relationship Type="http://schemas.openxmlformats.org/officeDocument/2006/relationships/slideMaster" Target="/ppt/slideMasters/slideMaster1.xml" Id="R422baa19cf884ee1" /><Relationship Type="http://schemas.openxmlformats.org/officeDocument/2006/relationships/notesMaster" Target="/ppt/notesMasters/notesMaster1.xml" Id="Rc1f7edda7bc24093" /><Relationship Type="http://schemas.openxmlformats.org/officeDocument/2006/relationships/presProps" Target="/ppt/presProps.xml" Id="Rd4925c491e134261" /><Relationship Type="http://schemas.openxmlformats.org/officeDocument/2006/relationships/viewProps" Target="/ppt/viewProps.xml" Id="R505c8209695d466d" /><Relationship Type="http://schemas.openxmlformats.org/officeDocument/2006/relationships/tableStyles" Target="/ppt/tableStyles.xml" Id="R89a7df9fe476433c" /><Relationship Type="http://schemas.openxmlformats.org/officeDocument/2006/relationships/slide" Target="/ppt/slides/slide1.xml" Id="R803a81db62874c80" /><Relationship Type="http://schemas.openxmlformats.org/officeDocument/2006/relationships/slide" Target="/ppt/slides/slide2.xml" Id="R614a0ff24d4e49b1" /><Relationship Type="http://schemas.openxmlformats.org/officeDocument/2006/relationships/slide" Target="/ppt/slides/slide3.xml" Id="R4e3622fa31dd4b9c" /><Relationship Type="http://schemas.openxmlformats.org/officeDocument/2006/relationships/slide" Target="/ppt/slides/slide4.xml" Id="R227000874a884eba" /><Relationship Type="http://schemas.openxmlformats.org/officeDocument/2006/relationships/slide" Target="/ppt/slides/slide5.xml" Id="Rea2856f70da544d5" /><Relationship Type="http://schemas.openxmlformats.org/officeDocument/2006/relationships/slide" Target="/ppt/slides/slide6.xml" Id="R19bf43439ddd4726" /><Relationship Type="http://schemas.openxmlformats.org/officeDocument/2006/relationships/slide" Target="/ppt/slides/slide7.xml" Id="Rc9ebf8222c1647f4" /><Relationship Type="http://schemas.openxmlformats.org/officeDocument/2006/relationships/slide" Target="/ppt/slides/slide8.xml" Id="R4427d72c7ecc4f90" /><Relationship Type="http://schemas.openxmlformats.org/officeDocument/2006/relationships/slide" Target="/ppt/slides/slide9.xml" Id="R09222c8b8f224640" /><Relationship Type="http://schemas.openxmlformats.org/officeDocument/2006/relationships/slide" Target="/ppt/slides/slide10.xml" Id="R9f5626f9c7b741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66cf54b6ce4a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b3e5ccb4264ab6" /><Relationship Type="http://schemas.openxmlformats.org/officeDocument/2006/relationships/notesMaster" Target="/ppt/notesMasters/notesMaster1.xml" Id="R410948d3a05546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d9bc82caf1475a" /><Relationship Type="http://schemas.openxmlformats.org/officeDocument/2006/relationships/notesMaster" Target="/ppt/notesMasters/notesMaster1.xml" Id="Ra1854164ded042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34cdd2350740e6" /><Relationship Type="http://schemas.openxmlformats.org/officeDocument/2006/relationships/notesMaster" Target="/ppt/notesMasters/notesMaster1.xml" Id="Rc516cbd8d98c44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38b58f23f6494a" /><Relationship Type="http://schemas.openxmlformats.org/officeDocument/2006/relationships/notesMaster" Target="/ppt/notesMasters/notesMaster1.xml" Id="R06d3d13d9dcb4c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fdcc3b392f43b5" /><Relationship Type="http://schemas.openxmlformats.org/officeDocument/2006/relationships/notesMaster" Target="/ppt/notesMasters/notesMaster1.xml" Id="Rd25da2f231294f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85c34931ee4c9b" /><Relationship Type="http://schemas.openxmlformats.org/officeDocument/2006/relationships/notesMaster" Target="/ppt/notesMasters/notesMaster1.xml" Id="Rf1e1ec960d8649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a1b5682b7c4c2f" /><Relationship Type="http://schemas.openxmlformats.org/officeDocument/2006/relationships/notesMaster" Target="/ppt/notesMasters/notesMaster1.xml" Id="R3217a728168b4e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abca1f65b845ce" /><Relationship Type="http://schemas.openxmlformats.org/officeDocument/2006/relationships/notesMaster" Target="/ppt/notesMasters/notesMaster1.xml" Id="R4155e79dc03d4d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c36dc7b3284bc8" /><Relationship Type="http://schemas.openxmlformats.org/officeDocument/2006/relationships/notesMaster" Target="/ppt/notesMasters/notesMaster1.xml" Id="R05e84a156a3c45b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eea1f682fd47cc" /><Relationship Type="http://schemas.openxmlformats.org/officeDocument/2006/relationships/notesMaster" Target="/ppt/notesMasters/notesMaster1.xml" Id="Rc60c243a883b4b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Mở bằng outcome: trợ lý giọng nói tiếng Việt có boundary thực thi rõ.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vong2/18-CLAIM-EVIDENCE-MAP.md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biến vấn đề thành danh sách tính năng; giữ trọng tâm vào attention và action safety.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Klauer et al. (2006), NHTSA DOT HS 810 594, The Impact of Driver Inattention on Near-Crash/Crash Risk</a:t>
            </a:r>
          </a:p>
          <a:p xmlns:a="http://schemas.openxmlformats.org/drawingml/2006/main">
            <a:r>
              <a:t>- vong2/12-PRODUCT-INTEGRATION-CARD.md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Nhấn mạnh AI chỉ đề xuất intent; claim Device vẫn đang khóa.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vong2/20-WRITE-UP-AI-VONG-2.md sections 3 and 7</a:t>
            </a:r>
          </a:p>
          <a:p xmlns:a="http://schemas.openxmlformats.org/drawingml/2006/main">
            <a:r>
              <a:t>- android/voice/README.md</a:t>
            </a:r>
          </a:p>
          <a:p xmlns:a="http://schemas.openxmlformats.org/drawingml/2006/main">
            <a:r>
              <a:t>- vong2/25-LECH-KIEN-TRUC-VOICE-PIPELINE.md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Đi từ trái sang phải, dừng ở service/guard để nói rõ dependency.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android/voice/README.md</a:t>
            </a:r>
          </a:p>
          <a:p xmlns:a="http://schemas.openxmlformats.org/drawingml/2006/main">
            <a:r>
              <a:t>- automotive/README.md</a:t>
            </a:r>
          </a:p>
          <a:p xmlns:a="http://schemas.openxmlformats.org/drawingml/2006/main">
            <a:r>
              <a:t>- vong2/25-LECH-KIEN-TRUC-VOICE-PIPELINE.md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này mô tả contract mục tiêu, không tuyên bố đã tích hợp SafetyGuard.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vong2/03-contracts.md section 4</a:t>
            </a:r>
          </a:p>
          <a:p xmlns:a="http://schemas.openxmlformats.org/drawingml/2006/main">
            <a:r>
              <a:t>- vong2/13-M7A-TINH-HUONG-PHUC-TAP.md</a:t>
            </a:r>
          </a:p>
          <a:p xmlns:a="http://schemas.openxmlformats.org/drawingml/2006/main">
            <a:r>
              <a:t>- vong2/18-CLAIM-EVIDENCE-MAP.md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E12 là source/JVM evidence, không phải CarSky evidence.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evidence/c2/jvm-test-summary.txt</a:t>
            </a:r>
          </a:p>
          <a:p xmlns:a="http://schemas.openxmlformats.org/drawingml/2006/main">
            <a:r>
              <a:t>- commit 150df0bebc8d071632eef6223d5f37e3f7c84684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Đọc cột trái trước, sau đó nêu từng gate đỏ ở cột phải.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vong2/18-CLAIM-EVIDENCE-MAP.md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Outcome là giả thuyết cần kiểm chứng, không phải số liệu đã đo.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vong2/12-PRODUCT-INTEGRATION-CARD.md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Kịch bản chính có hai tình huống phức tạp đã có test: thiếu slot và ngoài phạm vi.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vong2/14-KICH-BAN-DEMO-3-PHUT.md</a:t>
            </a:r>
          </a:p>
          <a:p xmlns:a="http://schemas.openxmlformats.org/drawingml/2006/main">
            <a:r>
              <a:t>- vong2/13-M7A-TINH-HUONG-PHUC-TAP.md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Kết bằng quyết định: ưu tiên execution-path evidence thay vì thêm tính năng.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vong2/18-CLAIM-EVIDENCE-MAP.md</a:t>
            </a:r>
          </a:p>
          <a:p xmlns:a="http://schemas.openxmlformats.org/drawingml/2006/main">
            <a:r>
              <a:t>- vong2/20-WRITE-UP-AI-VONG-2.md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ffb8f891b54359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93d53216f840c8" /><Relationship Type="http://schemas.openxmlformats.org/officeDocument/2006/relationships/slideLayout" Target="/ppt/slideLayouts/slideLayout1.xml" Id="R500d0506fd004b8e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0d0506fd004b8e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9abe41a944ad9" /><Relationship Type="http://schemas.openxmlformats.org/officeDocument/2006/relationships/image" Target="/ppt/media/image.png" Id="Rc7ada5aa716a4ffd" /><Relationship Type="http://schemas.openxmlformats.org/officeDocument/2006/relationships/image" Target="/ppt/media/image2.png" Id="Rf3c93912eb424320" /><Relationship Type="http://schemas.openxmlformats.org/officeDocument/2006/relationships/image" Target="/ppt/media/image3.png" Id="Rbe64e9baac6f40d7" /><Relationship Type="http://schemas.openxmlformats.org/officeDocument/2006/relationships/notesSlide" Target="/ppt/notesSlides/notesSlide1.xml" Id="Rb0e5cf828dde44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b181830565439f" /><Relationship Type="http://schemas.openxmlformats.org/officeDocument/2006/relationships/image" Target="/ppt/media/image4.png" Id="R8f20043b364d4b70" /><Relationship Type="http://schemas.openxmlformats.org/officeDocument/2006/relationships/notesSlide" Target="/ppt/notesSlides/notesSlide2.xml" Id="R3316656ce32142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8056e1e584d93" /><Relationship Type="http://schemas.openxmlformats.org/officeDocument/2006/relationships/image" Target="/ppt/media/image5.png" Id="R58cbc7a2729c402e" /><Relationship Type="http://schemas.openxmlformats.org/officeDocument/2006/relationships/notesSlide" Target="/ppt/notesSlides/notesSlide3.xml" Id="R147f9edddbd842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379c1b0b34d9c" /><Relationship Type="http://schemas.openxmlformats.org/officeDocument/2006/relationships/image" Target="/ppt/media/image6.png" Id="R1ea3c6f0412e4b0c" /><Relationship Type="http://schemas.openxmlformats.org/officeDocument/2006/relationships/image" Target="/ppt/media/image7.png" Id="R808bd7dc3dea4563" /><Relationship Type="http://schemas.openxmlformats.org/officeDocument/2006/relationships/image" Target="/ppt/media/image8.png" Id="R2fc8633b35c54aaf" /><Relationship Type="http://schemas.openxmlformats.org/officeDocument/2006/relationships/image" Target="/ppt/media/image9.png" Id="R46792f10dd654fe7" /><Relationship Type="http://schemas.openxmlformats.org/officeDocument/2006/relationships/image" Target="/ppt/media/image10.png" Id="Raebb9cf4825e435f" /><Relationship Type="http://schemas.openxmlformats.org/officeDocument/2006/relationships/image" Target="/ppt/media/image11.png" Id="R7f15133ef2b44adb" /><Relationship Type="http://schemas.openxmlformats.org/officeDocument/2006/relationships/notesSlide" Target="/ppt/notesSlides/notesSlide4.xml" Id="R8bed35412e8b48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9b94ae8ac4634" /><Relationship Type="http://schemas.openxmlformats.org/officeDocument/2006/relationships/image" Target="/ppt/media/image12.png" Id="R2b0149d0084a4df8" /><Relationship Type="http://schemas.openxmlformats.org/officeDocument/2006/relationships/image" Target="/ppt/media/image13.png" Id="Rf0efd0fe969141d8" /><Relationship Type="http://schemas.openxmlformats.org/officeDocument/2006/relationships/image" Target="/ppt/media/image14.png" Id="R1e6a75c69cb34b1e" /><Relationship Type="http://schemas.openxmlformats.org/officeDocument/2006/relationships/notesSlide" Target="/ppt/notesSlides/notesSlide5.xml" Id="R08a13f1580ca4f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b97d0541f4a07" /><Relationship Type="http://schemas.openxmlformats.org/officeDocument/2006/relationships/image" Target="/ppt/media/image15.png" Id="Rbcf014f4e2ca41fc" /><Relationship Type="http://schemas.openxmlformats.org/officeDocument/2006/relationships/image" Target="/ppt/media/image16.png" Id="Rff36604895a24978" /><Relationship Type="http://schemas.openxmlformats.org/officeDocument/2006/relationships/image" Target="/ppt/media/image17.png" Id="Rd4727d6f8cf74c1b" /><Relationship Type="http://schemas.openxmlformats.org/officeDocument/2006/relationships/image" Target="/ppt/media/image18.png" Id="R0e6716e173274e89" /><Relationship Type="http://schemas.openxmlformats.org/officeDocument/2006/relationships/image" Target="/ppt/media/image19.png" Id="R865956f90b984f3a" /><Relationship Type="http://schemas.openxmlformats.org/officeDocument/2006/relationships/notesSlide" Target="/ppt/notesSlides/notesSlide6.xml" Id="R17bd25245d7f4f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568b0f080498f" /><Relationship Type="http://schemas.openxmlformats.org/officeDocument/2006/relationships/image" Target="/ppt/media/image15.png" Id="Rdc2bc001e1434d75" /><Relationship Type="http://schemas.openxmlformats.org/officeDocument/2006/relationships/image" Target="/ppt/media/image16.png" Id="R8574177018bd4faa" /><Relationship Type="http://schemas.openxmlformats.org/officeDocument/2006/relationships/image" Target="/ppt/media/image17.png" Id="R35c7d3b24e614291" /><Relationship Type="http://schemas.openxmlformats.org/officeDocument/2006/relationships/image" Target="/ppt/media/image18.png" Id="R30c6ac32ca9048c4" /><Relationship Type="http://schemas.openxmlformats.org/officeDocument/2006/relationships/image" Target="/ppt/media/image19.png" Id="Re5970195599543b8" /><Relationship Type="http://schemas.openxmlformats.org/officeDocument/2006/relationships/notesSlide" Target="/ppt/notesSlides/notesSlide7.xml" Id="R0c309d1134454f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4f6de73ed44aeb" /><Relationship Type="http://schemas.openxmlformats.org/officeDocument/2006/relationships/image" Target="/ppt/media/image20.png" Id="R2b592e05e3854527" /><Relationship Type="http://schemas.openxmlformats.org/officeDocument/2006/relationships/image" Target="/ppt/media/image21.png" Id="Re27c85a792664df9" /><Relationship Type="http://schemas.openxmlformats.org/officeDocument/2006/relationships/image" Target="/ppt/media/image22.png" Id="R4d321e9528b34424" /><Relationship Type="http://schemas.openxmlformats.org/officeDocument/2006/relationships/notesSlide" Target="/ppt/notesSlides/notesSlide8.xml" Id="Rd8fee4a735f143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ead340a98c4ac7" /><Relationship Type="http://schemas.openxmlformats.org/officeDocument/2006/relationships/notesSlide" Target="/ppt/notesSlides/notesSlide9.xml" Id="R03ae547ab40c49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d02e540204f39" /><Relationship Type="http://schemas.openxmlformats.org/officeDocument/2006/relationships/image" Target="/ppt/media/image23.png" Id="R9802308d66124be5" /><Relationship Type="http://schemas.openxmlformats.org/officeDocument/2006/relationships/notesSlide" Target="/ppt/notesSlides/notesSlide10.xml" Id="R981a45b8106840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E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5352231-D122-4707-8897-F02EC547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1051560"/>
            <a:ext cx="3063240" cy="3063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2F6B"/>
          </a:solidFill>
          <a:ln xmlns:a="http://schemas.openxmlformats.org/drawingml/2006/main" w="19050">
            <a:solidFill>
              <a:srgbClr val="2E4489"/>
            </a:solidFill>
            <a:prstDash val="solid"/>
          </a:ln>
        </p:spPr>
      </p:sp>
      <p:pic>
        <p:nvPicPr>
          <p:cNvPr id="2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ada5aa716a4f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2600" y="2057400"/>
            <a:ext cx="1051560" cy="1051560"/>
          </a:xfrm>
          <a:prstGeom xmlns:a="http://schemas.openxmlformats.org/drawingml/2006/main" prst="rect">
            <a:avLst/>
          </a:prstGeom>
        </p:spPr>
      </p:pic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A7AF7D26-38ED-4E24-8A47-41D61D73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3520440"/>
            <a:ext cx="868680" cy="868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F21"/>
          </a:solidFill>
        </p:spPr>
      </p:sp>
      <p:pic>
        <p:nvPicPr>
          <p:cNvPr id="2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c93912eb4243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35640" y="370332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6" name="Shape 2">
            <a:extLst xmlns:a="http://schemas.openxmlformats.org/drawingml/2006/main">
              <a:ext uri="{FF2B5EF4-FFF2-40B4-BE49-F238E27FC236}">
                <a16:creationId xmlns:a16="http://schemas.microsoft.com/office/drawing/2014/main" id="{0B1D26E8-7AD3-4CC5-89E0-53BDB948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9476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366F"/>
          </a:solidFill>
        </p:spPr>
      </p:sp>
      <p:pic>
        <p:nvPicPr>
          <p:cNvPr id="2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64e9baac6f40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56448" y="3950208"/>
            <a:ext cx="374904" cy="374904"/>
          </a:xfrm>
          <a:prstGeom xmlns:a="http://schemas.openxmlformats.org/drawingml/2006/main" prst="rect">
            <a:avLst/>
          </a:prstGeom>
        </p:spPr>
      </p:pic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4AC8AA82-1DE0-48A7-8258-DC4F713D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34440"/>
            <a:ext cx="74980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60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VIVA</a:t>
            </a:r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79A27C5A-3482-4873-B2DC-E29FD1F5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03120"/>
            <a:ext cx="78638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VOICE AI TRÊN AAOS</a:t>
            </a:r>
          </a:p>
        </p:txBody>
      </p:sp>
      <p:sp>
        <p:nvSpPr>
          <p:cNvPr id="10" name="Text 5">
            <a:extLst xmlns:a="http://schemas.openxmlformats.org/drawingml/2006/main">
              <a:ext uri="{FF2B5EF4-FFF2-40B4-BE49-F238E27FC236}">
                <a16:creationId xmlns:a16="http://schemas.microsoft.com/office/drawing/2014/main" id="{9590F802-2933-4FC4-B800-D1793BA2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246120"/>
            <a:ext cx="7498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Vietnamese In-Vehicle Assistant</a:t>
            </a:r>
          </a:p>
        </p:txBody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648D2FCF-AFCB-4126-8CFE-18CEBBFA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749040"/>
            <a:ext cx="7680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AEC0E8"/>
                </a:solidFill>
                <a:latin typeface="Arial"/>
                <a:ea typeface="Arial"/>
                <a:cs typeface="Arial"/>
              </a:rPr>
              <a:t>Digital Cockpit · Voice-Controlled Assistant · Tài xế giao hàng</a:t>
            </a:r>
          </a:p>
        </p:txBody>
      </p:sp>
      <p:sp>
        <p:nvSpPr>
          <p:cNvPr id="12" name="Shape 7">
            <a:extLst xmlns:a="http://schemas.openxmlformats.org/drawingml/2006/main">
              <a:ext uri="{FF2B5EF4-FFF2-40B4-BE49-F238E27FC236}">
                <a16:creationId xmlns:a16="http://schemas.microsoft.com/office/drawing/2014/main" id="{7316E488-E993-41D6-A941-01C71375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434840"/>
            <a:ext cx="1920240" cy="475488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26F21"/>
          </a:solidFill>
        </p:spPr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695D818E-E439-49F8-81DA-FBA3277B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434840"/>
            <a:ext cx="1920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TEAM VIVA</a:t>
            </a:r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32EE345E-6237-4EA5-AFD2-B40E5C42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806440"/>
            <a:ext cx="283464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F6B"/>
          </a:solidFill>
          <a:ln xmlns:a="http://schemas.openxmlformats.org/drawingml/2006/main" w="12700">
            <a:solidFill>
              <a:srgbClr val="3D5399"/>
            </a:solidFill>
            <a:prstDash val="solid"/>
          </a:ln>
        </p:spPr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0D65F2D8-56F7-4E8B-8F76-CE9D1F37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806440"/>
            <a:ext cx="28346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PITCH VÒNG 2</a:t>
            </a:r>
          </a:p>
        </p:txBody>
      </p:sp>
    </p:spTree>
    <p:extLst>
      <p:ext uri="{BB962C8B-B14F-4D97-AF65-F5344CB8AC3E}">
        <p14:creationId xmlns:p14="http://schemas.microsoft.com/office/powerpoint/2010/main" val="17788937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CF64393-1A0F-4698-8A95-1DAC448E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5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BA03D57-556D-4F0E-97AF-FA68EE8D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8872"/>
            <a:ext cx="877824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VẤN ĐỀ KHÔNG PHẢI THIẾU MÀN HÌNH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DDAD670-D8BC-4FD5-BB54-E0BE86D6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2608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FA3D6"/>
                </a:solidFill>
                <a:latin typeface="Arial"/>
                <a:ea typeface="Arial"/>
                <a:cs typeface="Arial"/>
              </a:rPr>
              <a:t>AUTOMOTIVE HACKATHON 2026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320D12E-1C11-40F7-8DA8-7A42BD37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14400"/>
            <a:ext cx="111556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Tài xế cần hoàn thành tác vụ mà vẫn giữ mắt trên đường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ECFF701-C3AD-4C82-AF5A-AB3175C8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81328"/>
            <a:ext cx="3566160" cy="4526280"/>
          </a:xfrm>
          <a:prstGeom xmlns:a="http://schemas.openxmlformats.org/drawingml/2006/main" prst="roundRect">
            <a:avLst>
              <a:gd name="adj" fmla="val 1410"/>
            </a:avLst>
          </a:prstGeom>
          <a:solidFill xmlns:a="http://schemas.openxmlformats.org/drawingml/2006/main">
            <a:srgbClr val="13285A"/>
          </a:solidFill>
          <a:ln xmlns:a="http://schemas.openxmlformats.org/drawingml/2006/main" w="12700">
            <a:solidFill>
              <a:srgbClr val="13285A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BE0A821-6878-4511-B5C1-25CE8B41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1755648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F21"/>
          </a:solidFill>
        </p:spPr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20043b364d4b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95805" y="1931213"/>
            <a:ext cx="380390" cy="380390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0CE6E24-A2A6-4407-9055-5FBA6B6A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2004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×2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58BD7B2E-CEC4-4611-AEB3-7632E898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77640"/>
            <a:ext cx="3017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0000"/>
              </a:lnSpc>
              <a:buNone/>
            </a:pPr>
            <a:r>
              <a:rPr sz="1250">
                <a:solidFill>
                  <a:srgbClr val="FFFFFF"/>
                </a:solidFill>
                <a:latin typeface="Arial"/>
                <a:ea typeface="Arial"/>
                <a:cs typeface="Arial"/>
              </a:rPr>
              <a:t>nguy cơ va chạm khi rời mắt quá 2 giây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5DA61DA-1AC1-4FCD-BDCE-549CAFD9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46320"/>
            <a:ext cx="30175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0000"/>
              </a:lnSpc>
              <a:buNone/>
            </a:pPr>
            <a:r>
              <a:rPr sz="900">
                <a:solidFill>
                  <a:srgbClr val="8FA3D6"/>
                </a:solidFill>
                <a:latin typeface="Arial"/>
                <a:ea typeface="Arial"/>
                <a:cs typeface="Arial"/>
              </a:rPr>
              <a:t>NHTSA/VTTI 100-Car Study (2006): glance &gt;2 giây làm tăng ít nhất gấp đôi nguy cơ crash/near-crash.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82F5906B-D2D0-4536-985E-9A01C7FF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81328"/>
            <a:ext cx="7342632" cy="1426464"/>
          </a:xfrm>
          <a:prstGeom xmlns:a="http://schemas.openxmlformats.org/drawingml/2006/main" prst="roundRect">
            <a:avLst>
              <a:gd name="adj" fmla="val 3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4962593-0B95-4BCE-8789-F19E8E4C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00784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F21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C47AB196-0F4B-4C5D-84D5-4954C69A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00784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2462B32C-9AA6-4996-A598-5883F26A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1645920"/>
            <a:ext cx="6309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Mỗi chặng giao tạo nhiều lần chạm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DF98C77C-DA0E-47C3-964A-9FC30D76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1993392"/>
            <a:ext cx="6263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100">
                <a:solidFill>
                  <a:srgbClr val="5B6580"/>
                </a:solidFill>
                <a:latin typeface="Arial"/>
                <a:ea typeface="Arial"/>
                <a:cs typeface="Arial"/>
              </a:rPr>
              <a:t>Điều hướng, gọi khách, xác nhận giao và chỉnh cockpit kéo mắt khỏi đường.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1FF253AF-A173-4CD4-89D6-0CF9A2C8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54096"/>
            <a:ext cx="7342632" cy="1426464"/>
          </a:xfrm>
          <a:prstGeom xmlns:a="http://schemas.openxmlformats.org/drawingml/2006/main" prst="roundRect">
            <a:avLst>
              <a:gd name="adj" fmla="val 3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F941CE98-A673-43F8-BDF3-53E2E241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73552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F21"/>
          </a:solidFill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9C5D6603-A5AD-4609-BE94-DDBD85B8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73552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B8DD3451-307B-4078-8B0E-6E74DEF1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218688"/>
            <a:ext cx="6309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Trợ lý phổ thông nói được nhưng không điều khiển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476C3E9D-19CE-4780-8813-97340D5C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566160"/>
            <a:ext cx="6263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100">
                <a:solidFill>
                  <a:srgbClr val="5B6580"/>
                </a:solidFill>
                <a:latin typeface="Arial"/>
                <a:ea typeface="Arial"/>
                <a:cs typeface="Arial"/>
              </a:rPr>
              <a:t>Tiếng Việt trong cabin ồn, offline và lệnh xe có kiểu vẫn là khoảng trống.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898FD0A-B20F-4569-B41C-24B07803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26864"/>
            <a:ext cx="7342632" cy="1426464"/>
          </a:xfrm>
          <a:prstGeom xmlns:a="http://schemas.openxmlformats.org/drawingml/2006/main" prst="roundRect">
            <a:avLst>
              <a:gd name="adj" fmla="val 3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187185A-9F3C-47AC-8E9B-C7920716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46320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F21"/>
          </a:solidFill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4B93BDB-CC6B-40A1-B4D2-00A05AA9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46320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FE0E028A-BF81-4B28-A2B5-CDD72C6F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791456"/>
            <a:ext cx="6309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Lệnh xe không được phép “đoán”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859BA43E-E20A-4457-BBCE-1FEC3BFB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5138928"/>
            <a:ext cx="6263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100">
                <a:solidFill>
                  <a:srgbClr val="5B6580"/>
                </a:solidFill>
                <a:latin typeface="Arial"/>
                <a:ea typeface="Arial"/>
                <a:cs typeface="Arial"/>
              </a:rPr>
              <a:t>Một intent sai không chỉ tạo câu trả lời sai; nó có thể đổi trạng thái actuator.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4DA3F6D4-56C9-4D64-881D-C4F30CD4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28816"/>
            <a:ext cx="7772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B94AD"/>
                </a:solidFill>
                <a:latin typeface="Arial"/>
                <a:ea typeface="Arial"/>
                <a:cs typeface="Arial"/>
              </a:rPr>
              <a:t>Team VIVA · Vòng 2 · Digital Cockpit — Voice-Controlled Assistant</a:t>
            </a:r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F773BC56-E47A-4477-A598-FC6565BA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28816"/>
            <a:ext cx="3657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B94A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944817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C8A2A57-163A-470C-A66C-CB82EEEB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5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16181F9-9497-448F-8A44-8020D680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8872"/>
            <a:ext cx="877824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GIẢI PHÁP: AI HIỂU, BOUNDARY QUYẾT ĐỊNH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1BEC30A-6D41-44F0-A50A-1578BDFA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2608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FA3D6"/>
                </a:solidFill>
                <a:latin typeface="Arial"/>
                <a:ea typeface="Arial"/>
                <a:cs typeface="Arial"/>
              </a:rPr>
              <a:t>AUTOMOTIVE HACKATHON 2026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B822815-58CA-427A-A5D2-81D46F69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14400"/>
            <a:ext cx="111556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VIVA biến câu tiếng Việt thành intent có kiểu — rồi chờ kết quả thực thi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BA55EFB-1DDA-4342-A51D-319CE1CC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44752"/>
            <a:ext cx="11183112" cy="1938528"/>
          </a:xfrm>
          <a:prstGeom xmlns:a="http://schemas.openxmlformats.org/drawingml/2006/main" prst="roundRect">
            <a:avLst>
              <a:gd name="adj" fmla="val 2594"/>
            </a:avLst>
          </a:prstGeom>
          <a:solidFill xmlns:a="http://schemas.openxmlformats.org/drawingml/2006/main">
            <a:srgbClr val="13285A"/>
          </a:solidFill>
          <a:ln xmlns:a="http://schemas.openxmlformats.org/drawingml/2006/main" w="12700">
            <a:solidFill>
              <a:srgbClr val="13285A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662ED22-12F1-4A17-B2BF-4F38CADC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09344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VIVA TRONG MỘT CÂU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A068866-B106-4ECF-AC5E-47110660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01952"/>
            <a:ext cx="1056132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FFFFFF"/>
                </a:solidFill>
                <a:latin typeface="Arial"/>
                <a:ea typeface="Arial"/>
                <a:cs typeface="Arial"/>
              </a:rPr>
              <a:t>Nhấn nói → Vosk tự thu và tự chốt cuối câu → grammar router → gateway → TTS/HMI. Silero VAD và AsrClient container đã có module/test nhưng chưa cắm. Mỗi lượt vẫn có trace; timeout và lỗi không được ghi thành công.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0DBFBDC-CC51-4969-A5C0-4CF40899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11880"/>
            <a:ext cx="11183112" cy="2395728"/>
          </a:xfrm>
          <a:prstGeom xmlns:a="http://schemas.openxmlformats.org/drawingml/2006/main" prst="roundRect">
            <a:avLst>
              <a:gd name="adj" fmla="val 2099"/>
            </a:avLst>
          </a:prstGeom>
          <a:solidFill xmlns:a="http://schemas.openxmlformats.org/drawingml/2006/main">
            <a:srgbClr val="FDF1E7"/>
          </a:solidFill>
          <a:ln xmlns:a="http://schemas.openxmlformats.org/drawingml/2006/main" w="12700">
            <a:solidFill>
              <a:srgbClr val="F4C9A4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76AF3F4-169B-4801-AA81-222ECD44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4048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F21"/>
          </a:solidFill>
        </p:spPr>
      </p:sp>
      <p:pic>
        <p:nvPicPr>
          <p:cNvPr id="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cbc7a2729c40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4634" y="3972154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2417308-BF73-4AF2-BEB5-356B8C15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950208"/>
            <a:ext cx="3200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NGUYÊN TẮC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8F565ED-27B2-4BE3-92E4-F72386FD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343400"/>
            <a:ext cx="1056132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A2440"/>
                </a:solidFill>
                <a:latin typeface="Arial"/>
                <a:ea typeface="Arial"/>
                <a:cs typeface="Arial"/>
              </a:rPr>
              <a:t>AI chỉ nhận biết và đề xuất intent. Kiến trúc ép intent qua schema, policy và adapter trước actuator. Snapshot hiện chứng minh voice/router/trace ở source/JVM; CarSky, SafetyGuard và p95 chỉ được claim sau Device evidence.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063E699-2548-4655-A177-B094BAC3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28816"/>
            <a:ext cx="7772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B94AD"/>
                </a:solidFill>
                <a:latin typeface="Arial"/>
                <a:ea typeface="Arial"/>
                <a:cs typeface="Arial"/>
              </a:rPr>
              <a:t>Team VIVA · Vòng 2 · Digital Cockpit — Voice-Controlled Assistant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1FD5F1E-9E5C-4B64-8622-9C6743F8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28816"/>
            <a:ext cx="3657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B94A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5252436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363385B-BA48-4D00-94B4-5B533787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5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2720F76-D8B5-4698-8C0F-51B9EDB8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8872"/>
            <a:ext cx="877824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KIẾN TRÚC ĐÍCH VÀ ĐƯỜNG CHẠY THỰC TẾ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940339-8355-43B9-B461-5BD2FC06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2608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FA3D6"/>
                </a:solidFill>
                <a:latin typeface="Arial"/>
                <a:ea typeface="Arial"/>
                <a:cs typeface="Arial"/>
              </a:rPr>
              <a:t>AUTOMOTIVE HACKATHON 2026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9736597-FD8B-4CEA-BDEA-DD1E6DBA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14400"/>
            <a:ext cx="11155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Phân biệt thành phần đang chạy trong APK với module đích đã có source/JVM: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0BA76D5-E19D-4C72-A93D-069189C3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17320"/>
            <a:ext cx="1700784" cy="1965960"/>
          </a:xfrm>
          <a:prstGeom xmlns:a="http://schemas.openxmlformats.org/drawingml/2006/main" prst="roundRect">
            <a:avLst>
              <a:gd name="adj" fmla="val 2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DD94838-778D-4455-BAD6-4E79308D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563624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85A"/>
          </a:solidFill>
        </p:spPr>
      </p:sp>
      <p:pic>
        <p:nvPicPr>
          <p:cNvPr id="8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a3c6f0412e4b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20175" y="1686519"/>
            <a:ext cx="266273" cy="266273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D0BC2A1-8AC6-4F08-AEE4-2BA5F66D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2148840"/>
            <a:ext cx="159105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Mic + Vosk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4C479B5-892F-46FA-BAE0-2DFB63EE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2441448"/>
            <a:ext cx="15544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2000"/>
              </a:lnSpc>
              <a:buNone/>
            </a:pPr>
            <a:r>
              <a:rPr sz="860">
                <a:solidFill>
                  <a:srgbClr val="5B6580"/>
                </a:solidFill>
                <a:latin typeface="Arial"/>
                <a:ea typeface="Arial"/>
                <a:cs typeface="Arial"/>
              </a:rPr>
              <a:t>AudioRecord · tự endpoint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A32FE27-AB39-4270-8F2C-696C5430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971800"/>
            <a:ext cx="1463040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85A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FBCEDADD-9796-4479-B184-B8604693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971800"/>
            <a:ext cx="1463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ĐANG CHẠY APK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0164F7D-5771-4493-B109-A9467DCF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416" y="2194560"/>
            <a:ext cx="246888" cy="38404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6F21"/>
          </a:solidFill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91C8D15-D3CC-435E-8534-031427C2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1417320"/>
            <a:ext cx="1700784" cy="1965960"/>
          </a:xfrm>
          <a:prstGeom xmlns:a="http://schemas.openxmlformats.org/drawingml/2006/main" prst="roundRect">
            <a:avLst>
              <a:gd name="adj" fmla="val 2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1098776A-2CF6-4201-A27E-0F89D858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1563624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85A"/>
          </a:solidFill>
        </p:spPr>
      </p:sp>
      <p:pic>
        <p:nvPicPr>
          <p:cNvPr id="8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8bd7dc3dea45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12983" y="1686519"/>
            <a:ext cx="266273" cy="266273"/>
          </a:xfrm>
          <a:prstGeom xmlns:a="http://schemas.openxmlformats.org/drawingml/2006/main" prst="rect">
            <a:avLst/>
          </a:prstGeom>
        </p:spPr>
      </p:pic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4038989B-4272-44E4-9097-D009D0EB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592" y="2148840"/>
            <a:ext cx="159105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VAD + ASR đích</a:t>
            </a:r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B56D3566-0E25-4C10-B5D2-08D80FB6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2441448"/>
            <a:ext cx="15544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2000"/>
              </a:lnSpc>
              <a:buNone/>
            </a:pPr>
            <a:r>
              <a:rPr sz="860">
                <a:solidFill>
                  <a:srgbClr val="5B6580"/>
                </a:solidFill>
                <a:latin typeface="Arial"/>
                <a:ea typeface="Arial"/>
                <a:cs typeface="Arial"/>
              </a:rPr>
              <a:t>Silero · AsrClient container</a:t>
            </a:r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D4F65BA-72EC-42FD-9597-77B086AF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71800"/>
            <a:ext cx="1463040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F21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538E9FBA-C1EE-479D-89D0-2E33BC8F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71800"/>
            <a:ext cx="1463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CHƯA CẮM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86929BB7-6903-482C-8D2E-98F9D74E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224" y="2194560"/>
            <a:ext cx="246888" cy="38404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6F21"/>
          </a:solidFill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E9A68874-FB18-43CC-901C-6F946594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1417320"/>
            <a:ext cx="1700784" cy="1965960"/>
          </a:xfrm>
          <a:prstGeom xmlns:a="http://schemas.openxmlformats.org/drawingml/2006/main" prst="roundRect">
            <a:avLst>
              <a:gd name="adj" fmla="val 2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BF51E05E-E4AC-44F2-BB5F-7DF24FF1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2896" y="1563624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85A"/>
          </a:solidFill>
        </p:spPr>
      </p:sp>
      <p:pic>
        <p:nvPicPr>
          <p:cNvPr id="9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c8633b35c54a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05791" y="1686519"/>
            <a:ext cx="266273" cy="266273"/>
          </a:xfrm>
          <a:prstGeom xmlns:a="http://schemas.openxmlformats.org/drawingml/2006/main" prst="rect">
            <a:avLst/>
          </a:prstGeom>
        </p:spPr>
      </p:pic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AC6B11EF-352D-4049-BBD8-8287B16A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48840"/>
            <a:ext cx="159105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Intent Router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043E8738-8A7C-454F-9656-C5A9FC93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2441448"/>
            <a:ext cx="15544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2000"/>
              </a:lnSpc>
              <a:buNone/>
            </a:pPr>
            <a:r>
              <a:rPr sz="860">
                <a:solidFill>
                  <a:srgbClr val="5B6580"/>
                </a:solidFill>
                <a:latin typeface="Arial"/>
                <a:ea typeface="Arial"/>
                <a:cs typeface="Arial"/>
              </a:rPr>
              <a:t>10 intent grammar có kiểu</a:t>
            </a:r>
          </a:p>
        </p:txBody>
      </p:sp>
      <p:sp>
        <p:nvSpPr>
          <p:cNvPr id="27" name="Shape 22">
            <a:extLst xmlns:a="http://schemas.openxmlformats.org/drawingml/2006/main">
              <a:ext uri="{FF2B5EF4-FFF2-40B4-BE49-F238E27FC236}">
                <a16:creationId xmlns:a16="http://schemas.microsoft.com/office/drawing/2014/main" id="{AC73E85C-9D25-41A4-ABF1-3B358B92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2971800"/>
            <a:ext cx="1463040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F21"/>
          </a:solidFill>
        </p:spPr>
      </p:sp>
      <p:sp>
        <p:nvSpPr>
          <p:cNvPr id="28" name="Text 23">
            <a:extLst xmlns:a="http://schemas.openxmlformats.org/drawingml/2006/main">
              <a:ext uri="{FF2B5EF4-FFF2-40B4-BE49-F238E27FC236}">
                <a16:creationId xmlns:a16="http://schemas.microsoft.com/office/drawing/2014/main" id="{BE5E4DFE-E34B-4585-9086-E8884D95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2971800"/>
            <a:ext cx="1463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ĐANG CHẠY APK</a:t>
            </a:r>
          </a:p>
        </p:txBody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1ACC55A5-47A3-46D3-B167-D44A0B80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1032" y="2194560"/>
            <a:ext cx="246888" cy="38404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6F21"/>
          </a:solidFill>
        </p:spPr>
      </p:sp>
      <p:sp>
        <p:nvSpPr>
          <p:cNvPr id="30" name="Shape 25">
            <a:extLst xmlns:a="http://schemas.openxmlformats.org/drawingml/2006/main">
              <a:ext uri="{FF2B5EF4-FFF2-40B4-BE49-F238E27FC236}">
                <a16:creationId xmlns:a16="http://schemas.microsoft.com/office/drawing/2014/main" id="{B04145DE-59B5-421D-8E7A-36A433F0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1700784" cy="1965960"/>
          </a:xfrm>
          <a:prstGeom xmlns:a="http://schemas.openxmlformats.org/drawingml/2006/main" prst="roundRect">
            <a:avLst>
              <a:gd name="adj" fmla="val 2688"/>
            </a:avLst>
          </a:prstGeom>
          <a:solidFill xmlns:a="http://schemas.openxmlformats.org/drawingml/2006/main">
            <a:srgbClr val="FDF1E7"/>
          </a:solidFill>
          <a:ln xmlns:a="http://schemas.openxmlformats.org/drawingml/2006/main" w="25400">
            <a:solidFill>
              <a:srgbClr val="F26F21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31" name="Shape 26">
            <a:extLst xmlns:a="http://schemas.openxmlformats.org/drawingml/2006/main">
              <a:ext uri="{FF2B5EF4-FFF2-40B4-BE49-F238E27FC236}">
                <a16:creationId xmlns:a16="http://schemas.microsoft.com/office/drawing/2014/main" id="{7710AADC-1B32-461A-BBD2-25A8ADDD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704" y="1563624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F21"/>
          </a:solidFill>
        </p:spPr>
      </p:sp>
      <p:pic>
        <p:nvPicPr>
          <p:cNvPr id="10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792f10dd654f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8599" y="1686519"/>
            <a:ext cx="266273" cy="266273"/>
          </a:xfrm>
          <a:prstGeom xmlns:a="http://schemas.openxmlformats.org/drawingml/2006/main" prst="rect">
            <a:avLst/>
          </a:prstGeom>
        </p:spPr>
      </p:pic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0776AFB1-1FFB-47EE-9942-42A9B22B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2148840"/>
            <a:ext cx="159105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SERVICE / GUARD</a:t>
            </a:r>
          </a:p>
        </p:txBody>
      </p:sp>
      <p:sp>
        <p:nvSpPr>
          <p:cNvPr id="34" name="Text 28">
            <a:extLst xmlns:a="http://schemas.openxmlformats.org/drawingml/2006/main">
              <a:ext uri="{FF2B5EF4-FFF2-40B4-BE49-F238E27FC236}">
                <a16:creationId xmlns:a16="http://schemas.microsoft.com/office/drawing/2014/main" id="{5F6000FB-5CAC-422E-B056-04A79349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2441448"/>
            <a:ext cx="15544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2000"/>
              </a:lnSpc>
              <a:buNone/>
            </a:pPr>
            <a:r>
              <a:rPr sz="860">
                <a:solidFill>
                  <a:srgbClr val="5B6580"/>
                </a:solidFill>
                <a:latin typeface="Arial"/>
                <a:ea typeface="Arial"/>
                <a:cs typeface="Arial"/>
              </a:rPr>
              <a:t>policy + execution boundary</a:t>
            </a:r>
          </a:p>
        </p:txBody>
      </p:sp>
      <p:sp>
        <p:nvSpPr>
          <p:cNvPr id="35" name="Shape 29">
            <a:extLst xmlns:a="http://schemas.openxmlformats.org/drawingml/2006/main">
              <a:ext uri="{FF2B5EF4-FFF2-40B4-BE49-F238E27FC236}">
                <a16:creationId xmlns:a16="http://schemas.microsoft.com/office/drawing/2014/main" id="{9BE0A9E2-A269-4E39-80BC-8E2C660A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2971800"/>
            <a:ext cx="1463040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F21"/>
          </a:solidFill>
        </p:spPr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A1339B43-1681-41BF-BE30-15E6154B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2971800"/>
            <a:ext cx="1463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GUARD CHƯA CÓ</a:t>
            </a:r>
          </a:p>
        </p:txBody>
      </p:sp>
      <p:sp>
        <p:nvSpPr>
          <p:cNvPr id="37" name="Shape 31">
            <a:extLst xmlns:a="http://schemas.openxmlformats.org/drawingml/2006/main">
              <a:ext uri="{FF2B5EF4-FFF2-40B4-BE49-F238E27FC236}">
                <a16:creationId xmlns:a16="http://schemas.microsoft.com/office/drawing/2014/main" id="{789208A7-FB17-4C0D-8650-B4BA0AA8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2194560"/>
            <a:ext cx="246888" cy="38404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6F21"/>
          </a:solidFill>
        </p:spPr>
      </p:sp>
      <p:sp>
        <p:nvSpPr>
          <p:cNvPr id="38" name="Shape 32">
            <a:extLst xmlns:a="http://schemas.openxmlformats.org/drawingml/2006/main">
              <a:ext uri="{FF2B5EF4-FFF2-40B4-BE49-F238E27FC236}">
                <a16:creationId xmlns:a16="http://schemas.microsoft.com/office/drawing/2014/main" id="{A30D6393-57B2-4529-B41F-FF577982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1417320"/>
            <a:ext cx="1700784" cy="1965960"/>
          </a:xfrm>
          <a:prstGeom xmlns:a="http://schemas.openxmlformats.org/drawingml/2006/main" prst="roundRect">
            <a:avLst>
              <a:gd name="adj" fmla="val 2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39" name="Shape 33">
            <a:extLst xmlns:a="http://schemas.openxmlformats.org/drawingml/2006/main">
              <a:ext uri="{FF2B5EF4-FFF2-40B4-BE49-F238E27FC236}">
                <a16:creationId xmlns:a16="http://schemas.microsoft.com/office/drawing/2014/main" id="{6C767D89-8313-4D8B-9313-A1B3FA2B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512" y="1563624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85A"/>
          </a:solidFill>
        </p:spPr>
      </p:sp>
      <p:pic>
        <p:nvPicPr>
          <p:cNvPr id="113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bb9cf4825e43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91407" y="1686519"/>
            <a:ext cx="266273" cy="266273"/>
          </a:xfrm>
          <a:prstGeom xmlns:a="http://schemas.openxmlformats.org/drawingml/2006/main" prst="rect">
            <a:avLst/>
          </a:prstGeom>
        </p:spPr>
      </p:pic>
      <p:sp>
        <p:nvSpPr>
          <p:cNvPr id="41" name="Text 34">
            <a:extLst xmlns:a="http://schemas.openxmlformats.org/drawingml/2006/main">
              <a:ext uri="{FF2B5EF4-FFF2-40B4-BE49-F238E27FC236}">
                <a16:creationId xmlns:a16="http://schemas.microsoft.com/office/drawing/2014/main" id="{B04FAFC5-E4EC-4FA2-86F4-0A925D5D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16" y="2148840"/>
            <a:ext cx="159105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VHAL / Media</a:t>
            </a:r>
          </a:p>
        </p:txBody>
      </p:sp>
      <p:sp>
        <p:nvSpPr>
          <p:cNvPr id="42" name="Text 35">
            <a:extLst xmlns:a="http://schemas.openxmlformats.org/drawingml/2006/main">
              <a:ext uri="{FF2B5EF4-FFF2-40B4-BE49-F238E27FC236}">
                <a16:creationId xmlns:a16="http://schemas.microsoft.com/office/drawing/2014/main" id="{388D5528-E35A-40A9-89B3-76A2676A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304" y="2441448"/>
            <a:ext cx="15544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2000"/>
              </a:lnSpc>
              <a:buNone/>
            </a:pPr>
            <a:r>
              <a:rPr sz="860">
                <a:solidFill>
                  <a:srgbClr val="5B6580"/>
                </a:solidFill>
                <a:latin typeface="Arial"/>
                <a:ea typeface="Arial"/>
                <a:cs typeface="Arial"/>
              </a:rPr>
              <a:t>PropertyID · adapters</a:t>
            </a:r>
          </a:p>
        </p:txBody>
      </p:sp>
      <p:sp>
        <p:nvSpPr>
          <p:cNvPr id="43" name="Shape 36">
            <a:extLst xmlns:a="http://schemas.openxmlformats.org/drawingml/2006/main">
              <a:ext uri="{FF2B5EF4-FFF2-40B4-BE49-F238E27FC236}">
                <a16:creationId xmlns:a16="http://schemas.microsoft.com/office/drawing/2014/main" id="{83512507-2D4A-4D5C-A479-8ACC9A0E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971800"/>
            <a:ext cx="1463040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85A"/>
          </a:solidFill>
        </p:spPr>
      </p:sp>
      <p:sp>
        <p:nvSpPr>
          <p:cNvPr id="44" name="Text 37">
            <a:extLst xmlns:a="http://schemas.openxmlformats.org/drawingml/2006/main">
              <a:ext uri="{FF2B5EF4-FFF2-40B4-BE49-F238E27FC236}">
                <a16:creationId xmlns:a16="http://schemas.microsoft.com/office/drawing/2014/main" id="{57141B5B-0C16-4116-90D6-DDA47201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971800"/>
            <a:ext cx="1463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CHỜ DEVICE</a:t>
            </a:r>
          </a:p>
        </p:txBody>
      </p:sp>
      <p:sp>
        <p:nvSpPr>
          <p:cNvPr id="45" name="Shape 38">
            <a:extLst xmlns:a="http://schemas.openxmlformats.org/drawingml/2006/main">
              <a:ext uri="{FF2B5EF4-FFF2-40B4-BE49-F238E27FC236}">
                <a16:creationId xmlns:a16="http://schemas.microsoft.com/office/drawing/2014/main" id="{79CC6FDC-6CB7-4B32-AFCF-0E252766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648" y="2194560"/>
            <a:ext cx="246888" cy="38404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6F21"/>
          </a:solidFill>
        </p:spPr>
      </p:sp>
      <p:sp>
        <p:nvSpPr>
          <p:cNvPr id="46" name="Shape 39">
            <a:extLst xmlns:a="http://schemas.openxmlformats.org/drawingml/2006/main">
              <a:ext uri="{FF2B5EF4-FFF2-40B4-BE49-F238E27FC236}">
                <a16:creationId xmlns:a16="http://schemas.microsoft.com/office/drawing/2014/main" id="{E684B9AC-F427-4414-BCEC-9EB27710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1417320"/>
            <a:ext cx="1700784" cy="1965960"/>
          </a:xfrm>
          <a:prstGeom xmlns:a="http://schemas.openxmlformats.org/drawingml/2006/main" prst="roundRect">
            <a:avLst>
              <a:gd name="adj" fmla="val 2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47" name="Shape 40">
            <a:extLst xmlns:a="http://schemas.openxmlformats.org/drawingml/2006/main">
              <a:ext uri="{FF2B5EF4-FFF2-40B4-BE49-F238E27FC236}">
                <a16:creationId xmlns:a16="http://schemas.microsoft.com/office/drawing/2014/main" id="{11FC918A-5256-4163-A9F6-E4BED598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1563624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85A"/>
          </a:solidFill>
        </p:spPr>
      </p:sp>
      <p:pic>
        <p:nvPicPr>
          <p:cNvPr id="12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15133ef2b44a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84215" y="1686519"/>
            <a:ext cx="266273" cy="266273"/>
          </a:xfrm>
          <a:prstGeom xmlns:a="http://schemas.openxmlformats.org/drawingml/2006/main" prst="rect">
            <a:avLst/>
          </a:prstGeom>
        </p:spPr>
      </p:pic>
      <p:sp>
        <p:nvSpPr>
          <p:cNvPr id="49" name="Text 41">
            <a:extLst xmlns:a="http://schemas.openxmlformats.org/drawingml/2006/main">
              <a:ext uri="{FF2B5EF4-FFF2-40B4-BE49-F238E27FC236}">
                <a16:creationId xmlns:a16="http://schemas.microsoft.com/office/drawing/2014/main" id="{30CACFC8-FD66-484B-855F-A7686056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1824" y="2148840"/>
            <a:ext cx="159105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TTS + HMI</a:t>
            </a:r>
          </a:p>
        </p:txBody>
      </p:sp>
      <p:sp>
        <p:nvSpPr>
          <p:cNvPr id="50" name="Text 42">
            <a:extLst xmlns:a="http://schemas.openxmlformats.org/drawingml/2006/main">
              <a:ext uri="{FF2B5EF4-FFF2-40B4-BE49-F238E27FC236}">
                <a16:creationId xmlns:a16="http://schemas.microsoft.com/office/drawing/2014/main" id="{93919551-C297-4A9D-8F3D-AF8B73D1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112" y="2441448"/>
            <a:ext cx="15544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2000"/>
              </a:lnSpc>
              <a:buNone/>
            </a:pPr>
            <a:r>
              <a:rPr sz="860">
                <a:solidFill>
                  <a:srgbClr val="5B6580"/>
                </a:solidFill>
                <a:latin typeface="Arial"/>
                <a:ea typeface="Arial"/>
                <a:cs typeface="Arial"/>
              </a:rPr>
              <a:t>36 prompt · audio focus</a:t>
            </a:r>
          </a:p>
        </p:txBody>
      </p:sp>
      <p:sp>
        <p:nvSpPr>
          <p:cNvPr id="51" name="Shape 43">
            <a:extLst xmlns:a="http://schemas.openxmlformats.org/drawingml/2006/main">
              <a:ext uri="{FF2B5EF4-FFF2-40B4-BE49-F238E27FC236}">
                <a16:creationId xmlns:a16="http://schemas.microsoft.com/office/drawing/2014/main" id="{514F83CA-A7E5-4475-9266-28B058EA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2971800"/>
            <a:ext cx="1463040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F21"/>
          </a:solidFill>
        </p:spPr>
      </p:sp>
      <p:sp>
        <p:nvSpPr>
          <p:cNvPr id="52" name="Text 44">
            <a:extLst xmlns:a="http://schemas.openxmlformats.org/drawingml/2006/main">
              <a:ext uri="{FF2B5EF4-FFF2-40B4-BE49-F238E27FC236}">
                <a16:creationId xmlns:a16="http://schemas.microsoft.com/office/drawing/2014/main" id="{A0910E7C-F254-4ECF-B934-FC3C3235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2971800"/>
            <a:ext cx="1463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ĐANG CHẠY APK</a:t>
            </a:r>
          </a:p>
        </p:txBody>
      </p:sp>
      <p:sp>
        <p:nvSpPr>
          <p:cNvPr id="53" name="Shape 45">
            <a:extLst xmlns:a="http://schemas.openxmlformats.org/drawingml/2006/main">
              <a:ext uri="{FF2B5EF4-FFF2-40B4-BE49-F238E27FC236}">
                <a16:creationId xmlns:a16="http://schemas.microsoft.com/office/drawing/2014/main" id="{D051BCE4-BC1A-4596-9073-D91F3330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57600"/>
            <a:ext cx="11183112" cy="1024128"/>
          </a:xfrm>
          <a:prstGeom xmlns:a="http://schemas.openxmlformats.org/drawingml/2006/main" prst="roundRect">
            <a:avLst>
              <a:gd name="adj" fmla="val 4911"/>
            </a:avLst>
          </a:prstGeom>
          <a:solidFill xmlns:a="http://schemas.openxmlformats.org/drawingml/2006/main">
            <a:srgbClr val="F3F6FC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54" name="Text 46">
            <a:extLst xmlns:a="http://schemas.openxmlformats.org/drawingml/2006/main">
              <a:ext uri="{FF2B5EF4-FFF2-40B4-BE49-F238E27FC236}">
                <a16:creationId xmlns:a16="http://schemas.microsoft.com/office/drawing/2014/main" id="{F92837F2-6182-4B46-A202-42415626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03904"/>
            <a:ext cx="1065276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5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Đường chạy APK: speech_start → speech_end → asr_done → nlu_done → exec_done → tts_start. guard_done chưa có; Silero VAD và AsrClient container chưa tham gia luồng.</a:t>
            </a:r>
          </a:p>
        </p:txBody>
      </p:sp>
      <p:sp>
        <p:nvSpPr>
          <p:cNvPr id="55" name="Text 47">
            <a:extLst xmlns:a="http://schemas.openxmlformats.org/drawingml/2006/main">
              <a:ext uri="{FF2B5EF4-FFF2-40B4-BE49-F238E27FC236}">
                <a16:creationId xmlns:a16="http://schemas.microsoft.com/office/drawing/2014/main" id="{E8F1F885-C883-4B1A-9E0E-951AAEC3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64608"/>
            <a:ext cx="11155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Boundary có sẵn, nhưng trạng thái khác nhau:</a:t>
            </a:r>
          </a:p>
        </p:txBody>
      </p:sp>
      <p:sp>
        <p:nvSpPr>
          <p:cNvPr id="56" name="Shape 48">
            <a:extLst xmlns:a="http://schemas.openxmlformats.org/drawingml/2006/main">
              <a:ext uri="{FF2B5EF4-FFF2-40B4-BE49-F238E27FC236}">
                <a16:creationId xmlns:a16="http://schemas.microsoft.com/office/drawing/2014/main" id="{82015E38-A5ED-401B-B746-4EECC596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248656"/>
            <a:ext cx="2880360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85A"/>
          </a:solidFill>
        </p:spPr>
      </p:sp>
      <p:sp>
        <p:nvSpPr>
          <p:cNvPr id="57" name="Text 49">
            <a:extLst xmlns:a="http://schemas.openxmlformats.org/drawingml/2006/main">
              <a:ext uri="{FF2B5EF4-FFF2-40B4-BE49-F238E27FC236}">
                <a16:creationId xmlns:a16="http://schemas.microsoft.com/office/drawing/2014/main" id="{9DBDF376-0329-4CB9-A40C-A4F59650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248656"/>
            <a:ext cx="28803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AudioRecord</a:t>
            </a:r>
          </a:p>
        </p:txBody>
      </p:sp>
      <p:sp>
        <p:nvSpPr>
          <p:cNvPr id="58" name="Shape 50">
            <a:extLst xmlns:a="http://schemas.openxmlformats.org/drawingml/2006/main">
              <a:ext uri="{FF2B5EF4-FFF2-40B4-BE49-F238E27FC236}">
                <a16:creationId xmlns:a16="http://schemas.microsoft.com/office/drawing/2014/main" id="{20BF72EB-25C1-4EFE-A97D-C849326F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584" y="5248656"/>
            <a:ext cx="2148840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85A"/>
          </a:solidFill>
        </p:spPr>
      </p:sp>
      <p:sp>
        <p:nvSpPr>
          <p:cNvPr id="59" name="Text 51">
            <a:extLst xmlns:a="http://schemas.openxmlformats.org/drawingml/2006/main">
              <a:ext uri="{FF2B5EF4-FFF2-40B4-BE49-F238E27FC236}">
                <a16:creationId xmlns:a16="http://schemas.microsoft.com/office/drawing/2014/main" id="{589ADAD8-00FC-48AE-A809-D05E3D24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584" y="5248656"/>
            <a:ext cx="21488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AsrClient</a:t>
            </a:r>
          </a:p>
        </p:txBody>
      </p:sp>
      <p:sp>
        <p:nvSpPr>
          <p:cNvPr id="60" name="Shape 52">
            <a:extLst xmlns:a="http://schemas.openxmlformats.org/drawingml/2006/main">
              <a:ext uri="{FF2B5EF4-FFF2-40B4-BE49-F238E27FC236}">
                <a16:creationId xmlns:a16="http://schemas.microsoft.com/office/drawing/2014/main" id="{00C41739-CB2F-45A7-9019-4B540B54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5248656"/>
            <a:ext cx="2011680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85A"/>
          </a:solidFill>
        </p:spPr>
      </p:sp>
      <p:sp>
        <p:nvSpPr>
          <p:cNvPr id="61" name="Text 53">
            <a:extLst xmlns:a="http://schemas.openxmlformats.org/drawingml/2006/main">
              <a:ext uri="{FF2B5EF4-FFF2-40B4-BE49-F238E27FC236}">
                <a16:creationId xmlns:a16="http://schemas.microsoft.com/office/drawing/2014/main" id="{F481A874-B2E3-4EF1-B16F-29A1E9FB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5248656"/>
            <a:ext cx="2011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GrammarRule</a:t>
            </a:r>
          </a:p>
        </p:txBody>
      </p:sp>
      <p:sp>
        <p:nvSpPr>
          <p:cNvPr id="62" name="Shape 54">
            <a:extLst xmlns:a="http://schemas.openxmlformats.org/drawingml/2006/main">
              <a:ext uri="{FF2B5EF4-FFF2-40B4-BE49-F238E27FC236}">
                <a16:creationId xmlns:a16="http://schemas.microsoft.com/office/drawing/2014/main" id="{35EA2C98-DFEB-4766-85D4-6FBB04B6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5248656"/>
            <a:ext cx="1874520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85A"/>
          </a:solidFill>
        </p:spPr>
      </p:sp>
      <p:sp>
        <p:nvSpPr>
          <p:cNvPr id="63" name="Text 55">
            <a:extLst xmlns:a="http://schemas.openxmlformats.org/drawingml/2006/main">
              <a:ext uri="{FF2B5EF4-FFF2-40B4-BE49-F238E27FC236}">
                <a16:creationId xmlns:a16="http://schemas.microsoft.com/office/drawing/2014/main" id="{0A5F657A-F024-4292-84F2-D7D676C2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5248656"/>
            <a:ext cx="1874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Vehicle gateway</a:t>
            </a:r>
          </a:p>
        </p:txBody>
      </p:sp>
      <p:sp>
        <p:nvSpPr>
          <p:cNvPr id="64" name="Shape 56">
            <a:extLst xmlns:a="http://schemas.openxmlformats.org/drawingml/2006/main">
              <a:ext uri="{FF2B5EF4-FFF2-40B4-BE49-F238E27FC236}">
                <a16:creationId xmlns:a16="http://schemas.microsoft.com/office/drawing/2014/main" id="{7102C4CC-D020-4335-9FF8-820D6AA0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3536" y="5248656"/>
            <a:ext cx="1719072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85A"/>
          </a:solidFill>
        </p:spPr>
      </p:sp>
      <p:sp>
        <p:nvSpPr>
          <p:cNvPr id="65" name="Text 57">
            <a:extLst xmlns:a="http://schemas.openxmlformats.org/drawingml/2006/main">
              <a:ext uri="{FF2B5EF4-FFF2-40B4-BE49-F238E27FC236}">
                <a16:creationId xmlns:a16="http://schemas.microsoft.com/office/drawing/2014/main" id="{13BD43F2-719E-4AC8-8794-F2610866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3536" y="5248656"/>
            <a:ext cx="171907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TtsSpeaker</a:t>
            </a:r>
          </a:p>
        </p:txBody>
      </p:sp>
      <p:sp>
        <p:nvSpPr>
          <p:cNvPr id="66" name="Text 58">
            <a:extLst xmlns:a="http://schemas.openxmlformats.org/drawingml/2006/main">
              <a:ext uri="{FF2B5EF4-FFF2-40B4-BE49-F238E27FC236}">
                <a16:creationId xmlns:a16="http://schemas.microsoft.com/office/drawing/2014/main" id="{FB330D9D-7424-47DA-A380-E57F7347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742432"/>
            <a:ext cx="11155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5B6580"/>
                </a:solidFill>
                <a:latin typeface="Arial"/>
                <a:ea typeface="Arial"/>
                <a:cs typeface="Arial"/>
              </a:rPr>
              <a:t>Chỉ so hai engine sau khi dùng chung một dòng PCM và cùng định nghĩa endpoint.</a:t>
            </a:r>
          </a:p>
        </p:txBody>
      </p:sp>
      <p:sp>
        <p:nvSpPr>
          <p:cNvPr id="67" name="Text 59">
            <a:extLst xmlns:a="http://schemas.openxmlformats.org/drawingml/2006/main">
              <a:ext uri="{FF2B5EF4-FFF2-40B4-BE49-F238E27FC236}">
                <a16:creationId xmlns:a16="http://schemas.microsoft.com/office/drawing/2014/main" id="{92F10579-508A-42B3-B077-69AB95BE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28816"/>
            <a:ext cx="7772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B94AD"/>
                </a:solidFill>
                <a:latin typeface="Arial"/>
                <a:ea typeface="Arial"/>
                <a:cs typeface="Arial"/>
              </a:rPr>
              <a:t>Team VIVA · Vòng 2 · Digital Cockpit — Voice-Controlled Assistant</a:t>
            </a:r>
          </a:p>
        </p:txBody>
      </p:sp>
      <p:sp>
        <p:nvSpPr>
          <p:cNvPr id="68" name="Text 60">
            <a:extLst xmlns:a="http://schemas.openxmlformats.org/drawingml/2006/main">
              <a:ext uri="{FF2B5EF4-FFF2-40B4-BE49-F238E27FC236}">
                <a16:creationId xmlns:a16="http://schemas.microsoft.com/office/drawing/2014/main" id="{ADF1F935-859D-408E-9B33-67142BE5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28816"/>
            <a:ext cx="3657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B94A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775517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CEC66EF-CE45-4928-A521-6E4B5415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5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FD64FCA-C3C8-499C-A5F0-9749E7EF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8872"/>
            <a:ext cx="877824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 TOÀN LÀ HỢP ĐỒNG, KHÔNG PHẢI CLAIM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488E4EA-E12D-4A66-8443-FA3BECE5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2608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FA3D6"/>
                </a:solidFill>
                <a:latin typeface="Arial"/>
                <a:ea typeface="Arial"/>
                <a:cs typeface="Arial"/>
              </a:rPr>
              <a:t>AUTOMOTIVE HACKATHON 2026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ED4DC04-92C3-4D2B-9D14-DAB66C60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14400"/>
            <a:ext cx="111556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“Ngôn ngữ có thể xác suất — thực thi phải tất định.” Snapshot hiện tại chưa mở claim C-SAFETY.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9D462FE-E35E-485F-BF13-8434365D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81328"/>
            <a:ext cx="3557016" cy="3127248"/>
          </a:xfrm>
          <a:prstGeom xmlns:a="http://schemas.openxmlformats.org/drawingml/2006/main" prst="roundRect">
            <a:avLst>
              <a:gd name="adj" fmla="val 16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C2849F6-BC0D-4048-A814-0359B980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00784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85A"/>
          </a:solidFill>
        </p:spPr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0149d0084a4d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61" y="1845625"/>
            <a:ext cx="313822" cy="313822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844CCC7-0394-4AF9-A8FB-7849D2E0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1755648"/>
            <a:ext cx="24871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2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G1 · Khóa theo trạng thái xe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D6EA61D-ACCF-4984-B70B-92C63DC5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31089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050">
                <a:solidFill>
                  <a:srgbClr val="1A2440"/>
                </a:solidFill>
                <a:latin typeface="Arial"/>
                <a:ea typeface="Arial"/>
                <a:cs typeface="Arial"/>
              </a:rPr>
              <a:t>Đọc speed/gear/door trước khi gọi setter.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16EDF1D-1039-44C1-8E02-ADD8C56B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83280"/>
            <a:ext cx="310896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000" i="1">
                <a:solidFill>
                  <a:srgbClr val="5B6580"/>
                </a:solidFill>
                <a:latin typeface="Arial"/>
                <a:ea typeface="Arial"/>
                <a:cs typeface="Arial"/>
              </a:rPr>
              <a:t>Target: Speed=60 + “mở cửa” → Deny:G1_SPEED_LOCK; không gọi property.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625E104-FB13-4D24-B38E-5EE97469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1481328"/>
            <a:ext cx="3557016" cy="3127248"/>
          </a:xfrm>
          <a:prstGeom xmlns:a="http://schemas.openxmlformats.org/drawingml/2006/main" prst="roundRect">
            <a:avLst>
              <a:gd name="adj" fmla="val 16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1F7F3EE6-673B-49E3-80C3-DE23B295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1700784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85A"/>
          </a:solidFill>
        </p:spPr>
      </p:sp>
      <p:pic>
        <p:nvPicPr>
          <p:cNvPr id="4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efd0fe969141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89409" y="1845625"/>
            <a:ext cx="313822" cy="313822"/>
          </a:xfrm>
          <a:prstGeom xmlns:a="http://schemas.openxmlformats.org/drawingml/2006/main" prst="rect">
            <a:avLst/>
          </a:prstGeom>
        </p:spPr>
      </p:pic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7FCE4E7F-77C6-4A1B-A482-B4E3AB79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088" y="1755648"/>
            <a:ext cx="24871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2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G2 · Xác nhận lệnh nhạy cảm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531A91DD-0166-4C18-89BC-2B37AD75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2468880"/>
            <a:ext cx="31089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050">
                <a:solidFill>
                  <a:srgbClr val="1A2440"/>
                </a:solidFill>
                <a:latin typeface="Arial"/>
                <a:ea typeface="Arial"/>
                <a:cs typeface="Arial"/>
              </a:rPr>
              <a:t>Giữ pending action có thời hạn; xác nhận đúng ngữ cảnh.</a:t>
            </a:r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4358AC60-7245-4981-9A4D-AA41CAEE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3383280"/>
            <a:ext cx="310896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000" i="1">
                <a:solidFill>
                  <a:srgbClr val="5B6580"/>
                </a:solidFill>
                <a:latin typeface="Arial"/>
                <a:ea typeface="Arial"/>
                <a:cs typeface="Arial"/>
              </a:rPr>
              <a:t>Không dùng một câu “có” cũ để chạy lệnh mới.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F24FE42-B09C-4A2B-AF9D-BF7B2F60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16" y="1481328"/>
            <a:ext cx="3557016" cy="3127248"/>
          </a:xfrm>
          <a:prstGeom xmlns:a="http://schemas.openxmlformats.org/drawingml/2006/main" prst="roundRect">
            <a:avLst>
              <a:gd name="adj" fmla="val 16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0BD2080A-E7CC-483B-90D6-C9D7BB89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1700784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85A"/>
          </a:solidFill>
        </p:spPr>
      </p:sp>
      <p:pic>
        <p:nvPicPr>
          <p:cNvPr id="4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6a75c69cb34b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02457" y="1845625"/>
            <a:ext cx="313822" cy="313822"/>
          </a:xfrm>
          <a:prstGeom xmlns:a="http://schemas.openxmlformats.org/drawingml/2006/main" prst="rect">
            <a:avLst/>
          </a:prstGeom>
        </p:spPr>
      </p:pic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1A84BDA6-459F-4ACE-BCB5-7C28D468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755648"/>
            <a:ext cx="24871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2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G3 · Chặn lệnh ngoài contract</a:t>
            </a:r>
          </a:p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2F0BFA0A-1795-4AC1-BC19-EF92352A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2468880"/>
            <a:ext cx="31089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050">
                <a:solidFill>
                  <a:srgbClr val="1A2440"/>
                </a:solidFill>
                <a:latin typeface="Arial"/>
                <a:ea typeface="Arial"/>
                <a:cs typeface="Arial"/>
              </a:rPr>
              <a:t>Whitelist intent, kiểm schema/miền và từ chối ngoài phạm vi.</a:t>
            </a:r>
          </a:p>
        </p:txBody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318D07D9-F9B9-4E90-88C3-F90D1D03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3383280"/>
            <a:ext cx="310896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000" i="1">
                <a:solidFill>
                  <a:srgbClr val="5B6580"/>
                </a:solidFill>
                <a:latin typeface="Arial"/>
                <a:ea typeface="Arial"/>
                <a:cs typeface="Arial"/>
              </a:rPr>
              <a:t>LLM, nếu có, chỉ đề xuất intent; policy mới quyết định.</a:t>
            </a:r>
          </a:p>
        </p:txBody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EBADB92A-09CC-42AD-8D12-89CD2EBE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46320"/>
            <a:ext cx="11183112" cy="1207008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DF1E7"/>
          </a:solidFill>
          <a:ln xmlns:a="http://schemas.openxmlformats.org/drawingml/2006/main" w="12700">
            <a:solidFill>
              <a:srgbClr val="F4C9A4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B72D5633-A154-4F3D-93F1-62185E75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29200"/>
            <a:ext cx="106527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2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Gate evidence: cần SafetyGuard + snapshot xe + trace Device. Trước gate này, demo gắn nhãn Kế hoạch/Mô phỏng và không nói “đã tích hợp an toàn”.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F5AECEDC-675D-43B2-84F4-D138D152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28816"/>
            <a:ext cx="7772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B94AD"/>
                </a:solidFill>
                <a:latin typeface="Arial"/>
                <a:ea typeface="Arial"/>
                <a:cs typeface="Arial"/>
              </a:rPr>
              <a:t>Team VIVA · Vòng 2 · Digital Cockpit — Voice-Controlled Assistant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DEFC98E7-561B-4863-A34B-6269E066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28816"/>
            <a:ext cx="3657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B94A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9363952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49A4844-2C0E-4B48-9894-EF3B63FC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5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EFF1CFF-91CE-4EAE-804E-0FC870F6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8872"/>
            <a:ext cx="877824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CORE VOICE ĐÃ CÓ BẰNG CHỨNG, KHÔNG CHỈ CÓ SLIDE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28F6A27-D0D7-4D9B-B1CF-045F67A9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2608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FA3D6"/>
                </a:solidFill>
                <a:latin typeface="Arial"/>
                <a:ea typeface="Arial"/>
                <a:cs typeface="Arial"/>
              </a:rPr>
              <a:t>AUTOMOTIVE HACKATHON 2026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0453D18-0C11-4909-B95B-96255A7E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05840"/>
            <a:ext cx="5440680" cy="5138928"/>
          </a:xfrm>
          <a:prstGeom xmlns:a="http://schemas.openxmlformats.org/drawingml/2006/main" prst="roundRect">
            <a:avLst>
              <a:gd name="adj" fmla="val 9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69F2B2C-0D85-4A17-8001-68128983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18872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Snapshot E12 · JVM/source verification</a:t>
            </a:r>
          </a:p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f014f4e2ca41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1719072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18619FA6-A2A4-429A-9CE5-F8322D8A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1664208"/>
            <a:ext cx="46177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139 test JVM · 0 fail · 0 skip</a:t>
            </a:r>
          </a:p>
        </p:txBody>
      </p:sp>
      <p:pic>
        <p:nvPicPr>
          <p:cNvPr id="3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36604895a249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578608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1F3D83D8-57F7-43C6-9FE0-30744561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2523744"/>
            <a:ext cx="46177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65 test voice-core + 74 test automotive modules</a:t>
            </a:r>
          </a:p>
        </p:txBody>
      </p:sp>
      <p:pic>
        <p:nvPicPr>
          <p:cNvPr id="4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727d6f8cf74c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438144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4D041496-AB45-42B0-ABBF-414283F7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3383280"/>
            <a:ext cx="46177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2 APK build xanh: mockDebug + realDebug</a:t>
            </a:r>
          </a:p>
        </p:txBody>
      </p:sp>
      <p:pic>
        <p:nvPicPr>
          <p:cNvPr id="4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6716e173274e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29768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533AB1C2-17E0-400E-942D-9C82F26C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242816"/>
            <a:ext cx="46177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Backend go test ./... exit 0</a:t>
            </a:r>
          </a:p>
        </p:txBody>
      </p:sp>
      <p:pic>
        <p:nvPicPr>
          <p:cNvPr id="4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5956f90b984f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157216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6" name="Text 9">
            <a:extLst xmlns:a="http://schemas.openxmlformats.org/drawingml/2006/main">
              <a:ext uri="{FF2B5EF4-FFF2-40B4-BE49-F238E27FC236}">
                <a16:creationId xmlns:a16="http://schemas.microsoft.com/office/drawing/2014/main" id="{37AC77D9-12DC-4C3B-949E-5A598946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5102352"/>
            <a:ext cx="46177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Commit 150df0b · Java 21 · Gradle 9.5</a:t>
            </a:r>
          </a:p>
        </p:txBody>
      </p:sp>
      <p:sp>
        <p:nvSpPr>
          <p:cNvPr id="17" name="Shape 10">
            <a:extLst xmlns:a="http://schemas.openxmlformats.org/drawingml/2006/main">
              <a:ext uri="{FF2B5EF4-FFF2-40B4-BE49-F238E27FC236}">
                <a16:creationId xmlns:a16="http://schemas.microsoft.com/office/drawing/2014/main" id="{72DD90FF-EF04-48D6-838F-965D2C5B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005840"/>
            <a:ext cx="5513832" cy="5138928"/>
          </a:xfrm>
          <a:prstGeom xmlns:a="http://schemas.openxmlformats.org/drawingml/2006/main" prst="roundRect">
            <a:avLst>
              <a:gd name="adj" fmla="val 9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18" name="Text 11">
            <a:extLst xmlns:a="http://schemas.openxmlformats.org/drawingml/2006/main">
              <a:ext uri="{FF2B5EF4-FFF2-40B4-BE49-F238E27FC236}">
                <a16:creationId xmlns:a16="http://schemas.microsoft.com/office/drawing/2014/main" id="{66842106-C28E-45A5-8B34-ED91C9D2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188720"/>
            <a:ext cx="5029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Các năng lực đã kiểm</a:t>
            </a:r>
          </a:p>
        </p:txBody>
      </p:sp>
      <p:sp>
        <p:nvSpPr>
          <p:cNvPr id="19" name="Text 12">
            <a:extLst xmlns:a="http://schemas.openxmlformats.org/drawingml/2006/main">
              <a:ext uri="{FF2B5EF4-FFF2-40B4-BE49-F238E27FC236}">
                <a16:creationId xmlns:a16="http://schemas.microsoft.com/office/drawing/2014/main" id="{EDB5D02D-A4D9-4830-94BC-C51DED1C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64208"/>
            <a:ext cx="4983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6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Push-to-talk + WAV + Silero VAD ONNX</a:t>
            </a:r>
          </a:p>
        </p:txBody>
      </p:sp>
      <p:sp>
        <p:nvSpPr>
          <p:cNvPr id="20" name="Text 13">
            <a:extLst xmlns:a="http://schemas.openxmlformats.org/drawingml/2006/main">
              <a:ext uri="{FF2B5EF4-FFF2-40B4-BE49-F238E27FC236}">
                <a16:creationId xmlns:a16="http://schemas.microsoft.com/office/drawing/2014/main" id="{2F5CC90A-F0FD-4096-B73D-F0E1E604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386584"/>
            <a:ext cx="4983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6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Grammar router đủ 10 intent lõi</a:t>
            </a:r>
          </a:p>
        </p:txBody>
      </p:sp>
      <p:sp>
        <p:nvSpPr>
          <p:cNvPr id="21" name="Text 14">
            <a:extLst xmlns:a="http://schemas.openxmlformats.org/drawingml/2006/main">
              <a:ext uri="{FF2B5EF4-FFF2-40B4-BE49-F238E27FC236}">
                <a16:creationId xmlns:a16="http://schemas.microsoft.com/office/drawing/2014/main" id="{BD4D098E-9A99-4633-87EB-0FA445C3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108960"/>
            <a:ext cx="4983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6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Timeout/lỗi có stage; không ghi false success</a:t>
            </a:r>
          </a:p>
        </p:txBody>
      </p:sp>
      <p:sp>
        <p:nvSpPr>
          <p:cNvPr id="22" name="Text 15">
            <a:extLst xmlns:a="http://schemas.openxmlformats.org/drawingml/2006/main">
              <a:ext uri="{FF2B5EF4-FFF2-40B4-BE49-F238E27FC236}">
                <a16:creationId xmlns:a16="http://schemas.microsoft.com/office/drawing/2014/main" id="{52E56CF7-FC2D-4815-A44B-183F9635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831336"/>
            <a:ext cx="4983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6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36 prompt TTS fallback + audio focus</a:t>
            </a:r>
          </a:p>
        </p:txBody>
      </p:sp>
      <p:sp>
        <p:nvSpPr>
          <p:cNvPr id="23" name="Text 16">
            <a:extLst xmlns:a="http://schemas.openxmlformats.org/drawingml/2006/main">
              <a:ext uri="{FF2B5EF4-FFF2-40B4-BE49-F238E27FC236}">
                <a16:creationId xmlns:a16="http://schemas.microsoft.com/office/drawing/2014/main" id="{7602D4BA-7DE5-4B76-BD7A-67856CF6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553712"/>
            <a:ext cx="4983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6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GrammarRule mở rộng mà không sửa core</a:t>
            </a:r>
          </a:p>
        </p:txBody>
      </p:sp>
      <p:sp>
        <p:nvSpPr>
          <p:cNvPr id="24" name="Text 17">
            <a:extLst xmlns:a="http://schemas.openxmlformats.org/drawingml/2006/main">
              <a:ext uri="{FF2B5EF4-FFF2-40B4-BE49-F238E27FC236}">
                <a16:creationId xmlns:a16="http://schemas.microsoft.com/office/drawing/2014/main" id="{B6E6E696-F1E3-48E8-AB5E-A500E1E8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276088"/>
            <a:ext cx="4983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6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Trace 6 chặng + verdict có cấu trúc</a:t>
            </a:r>
          </a:p>
        </p:txBody>
      </p:sp>
      <p:sp>
        <p:nvSpPr>
          <p:cNvPr id="25" name="Text 18">
            <a:extLst xmlns:a="http://schemas.openxmlformats.org/drawingml/2006/main">
              <a:ext uri="{FF2B5EF4-FFF2-40B4-BE49-F238E27FC236}">
                <a16:creationId xmlns:a16="http://schemas.microsoft.com/office/drawing/2014/main" id="{AFDE901B-96BD-4CEE-A526-342B32E0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28816"/>
            <a:ext cx="7772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B94AD"/>
                </a:solidFill>
                <a:latin typeface="Arial"/>
                <a:ea typeface="Arial"/>
                <a:cs typeface="Arial"/>
              </a:rPr>
              <a:t>Team VIVA · Vòng 2 · Digital Cockpit — Voice-Controlled Assistant</a:t>
            </a:r>
          </a:p>
        </p:txBody>
      </p:sp>
      <p:sp>
        <p:nvSpPr>
          <p:cNvPr id="26" name="Text 19">
            <a:extLst xmlns:a="http://schemas.openxmlformats.org/drawingml/2006/main">
              <a:ext uri="{FF2B5EF4-FFF2-40B4-BE49-F238E27FC236}">
                <a16:creationId xmlns:a16="http://schemas.microsoft.com/office/drawing/2014/main" id="{11620EC6-296E-4643-9F24-BF4E13D5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28816"/>
            <a:ext cx="3657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B94AD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307269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49A4844-2C0E-4B48-9894-EF3B63FC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5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EFF1CFF-91CE-4EAE-804E-0FC870F6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8872"/>
            <a:ext cx="877824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CLAIM PHẢI CÓ EVIDENCE ĐÚNG TẦNG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28F6A27-D0D7-4D9B-B1CF-045F67A9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2608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FA3D6"/>
                </a:solidFill>
                <a:latin typeface="Arial"/>
                <a:ea typeface="Arial"/>
                <a:cs typeface="Arial"/>
              </a:rPr>
              <a:t>AUTOMOTIVE HACKATHON 2026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0453D18-0C11-4909-B95B-96255A7E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05840"/>
            <a:ext cx="5440680" cy="5138928"/>
          </a:xfrm>
          <a:prstGeom xmlns:a="http://schemas.openxmlformats.org/drawingml/2006/main" prst="roundRect">
            <a:avLst>
              <a:gd name="adj" fmla="val 9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69F2B2C-0D85-4A17-8001-68128983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18872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Được phép nói ở snapshot hiện tại</a:t>
            </a:r>
          </a:p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2bc001e1434d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1719072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18619FA6-A2A4-429A-9CE5-F8322D8A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1664208"/>
            <a:ext cx="46177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C-VOICE: source/JVM</a:t>
            </a:r>
          </a:p>
        </p:txBody>
      </p:sp>
      <p:pic>
        <p:nvPicPr>
          <p:cNvPr id="3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74177018bd4f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578608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1F3D83D8-57F7-43C6-9FE0-30744561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2523744"/>
            <a:ext cx="46177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C-ERROR: source/JVM</a:t>
            </a:r>
          </a:p>
        </p:txBody>
      </p:sp>
      <p:pic>
        <p:nvPicPr>
          <p:cNvPr id="4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c7d3b24e6142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438144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4D041496-AB45-42B0-ABBF-414283F7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3383280"/>
            <a:ext cx="46177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C-MODULAR: source/JVM</a:t>
            </a:r>
          </a:p>
        </p:txBody>
      </p:sp>
      <p:pic>
        <p:nvPicPr>
          <p:cNvPr id="4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c6ac32ca9048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29768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533AB1C2-17E0-400E-942D-9C82F26C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242816"/>
            <a:ext cx="46177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139 test + 2 APK build</a:t>
            </a:r>
          </a:p>
        </p:txBody>
      </p:sp>
      <p:pic>
        <p:nvPicPr>
          <p:cNvPr id="4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970195599543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157216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6" name="Text 9">
            <a:extLst xmlns:a="http://schemas.openxmlformats.org/drawingml/2006/main">
              <a:ext uri="{FF2B5EF4-FFF2-40B4-BE49-F238E27FC236}">
                <a16:creationId xmlns:a16="http://schemas.microsoft.com/office/drawing/2014/main" id="{37AC77D9-12DC-4C3B-949E-5A598946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5102352"/>
            <a:ext cx="46177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Không gọi local log là CarSky evidence</a:t>
            </a:r>
          </a:p>
        </p:txBody>
      </p:sp>
      <p:sp>
        <p:nvSpPr>
          <p:cNvPr id="17" name="Shape 10">
            <a:extLst xmlns:a="http://schemas.openxmlformats.org/drawingml/2006/main">
              <a:ext uri="{FF2B5EF4-FFF2-40B4-BE49-F238E27FC236}">
                <a16:creationId xmlns:a16="http://schemas.microsoft.com/office/drawing/2014/main" id="{72DD90FF-EF04-48D6-838F-965D2C5B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005840"/>
            <a:ext cx="5513832" cy="5138928"/>
          </a:xfrm>
          <a:prstGeom xmlns:a="http://schemas.openxmlformats.org/drawingml/2006/main" prst="roundRect">
            <a:avLst>
              <a:gd name="adj" fmla="val 9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18" name="Text 11">
            <a:extLst xmlns:a="http://schemas.openxmlformats.org/drawingml/2006/main">
              <a:ext uri="{FF2B5EF4-FFF2-40B4-BE49-F238E27FC236}">
                <a16:creationId xmlns:a16="http://schemas.microsoft.com/office/drawing/2014/main" id="{66842106-C28E-45A5-8B34-ED91C9D2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188720"/>
            <a:ext cx="5029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Các gate còn đỏ</a:t>
            </a:r>
          </a:p>
        </p:txBody>
      </p:sp>
      <p:sp>
        <p:nvSpPr>
          <p:cNvPr id="19" name="Text 12">
            <a:extLst xmlns:a="http://schemas.openxmlformats.org/drawingml/2006/main">
              <a:ext uri="{FF2B5EF4-FFF2-40B4-BE49-F238E27FC236}">
                <a16:creationId xmlns:a16="http://schemas.microsoft.com/office/drawing/2014/main" id="{EDB5D02D-A4D9-4830-94BC-C51DED1C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64208"/>
            <a:ext cx="4983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6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C-HVAC / C-DOOR: chờ Device</a:t>
            </a:r>
          </a:p>
        </p:txBody>
      </p:sp>
      <p:sp>
        <p:nvSpPr>
          <p:cNvPr id="20" name="Text 13">
            <a:extLst xmlns:a="http://schemas.openxmlformats.org/drawingml/2006/main">
              <a:ext uri="{FF2B5EF4-FFF2-40B4-BE49-F238E27FC236}">
                <a16:creationId xmlns:a16="http://schemas.microsoft.com/office/drawing/2014/main" id="{2F5CC90A-F0FD-4096-B73D-F0E1E604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386584"/>
            <a:ext cx="4983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6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C-MEDIA: adapter + duck thật</a:t>
            </a:r>
          </a:p>
        </p:txBody>
      </p:sp>
      <p:sp>
        <p:nvSpPr>
          <p:cNvPr id="21" name="Text 14">
            <a:extLst xmlns:a="http://schemas.openxmlformats.org/drawingml/2006/main">
              <a:ext uri="{FF2B5EF4-FFF2-40B4-BE49-F238E27FC236}">
                <a16:creationId xmlns:a16="http://schemas.microsoft.com/office/drawing/2014/main" id="{BD4D098E-9A99-4633-87EB-0FA445C3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108960"/>
            <a:ext cx="4983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6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C-SAFETY: Guard + snapshot + trace</a:t>
            </a:r>
          </a:p>
        </p:txBody>
      </p:sp>
      <p:sp>
        <p:nvSpPr>
          <p:cNvPr id="22" name="Text 15">
            <a:extLst xmlns:a="http://schemas.openxmlformats.org/drawingml/2006/main">
              <a:ext uri="{FF2B5EF4-FFF2-40B4-BE49-F238E27FC236}">
                <a16:creationId xmlns:a16="http://schemas.microsoft.com/office/drawing/2014/main" id="{52E56CF7-FC2D-4815-A44B-183F9635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831336"/>
            <a:ext cx="4983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6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C-LATENCY: chưa công bố p50/p95</a:t>
            </a:r>
          </a:p>
        </p:txBody>
      </p:sp>
      <p:sp>
        <p:nvSpPr>
          <p:cNvPr id="23" name="Text 16">
            <a:extLst xmlns:a="http://schemas.openxmlformats.org/drawingml/2006/main">
              <a:ext uri="{FF2B5EF4-FFF2-40B4-BE49-F238E27FC236}">
                <a16:creationId xmlns:a16="http://schemas.microsoft.com/office/drawing/2014/main" id="{7602D4BA-7DE5-4B76-BD7A-67856CF6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553712"/>
            <a:ext cx="4983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6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C-PLATFORM: chưa nói core flow trên CarSky</a:t>
            </a:r>
          </a:p>
        </p:txBody>
      </p:sp>
      <p:sp>
        <p:nvSpPr>
          <p:cNvPr id="24" name="Text 17">
            <a:extLst xmlns:a="http://schemas.openxmlformats.org/drawingml/2006/main">
              <a:ext uri="{FF2B5EF4-FFF2-40B4-BE49-F238E27FC236}">
                <a16:creationId xmlns:a16="http://schemas.microsoft.com/office/drawing/2014/main" id="{B6E6E696-F1E3-48E8-AB5E-A500E1E8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276088"/>
            <a:ext cx="4983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6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Mock dùng để phát triển — nhưng phải gắn nhãn Mô phỏng.</a:t>
            </a:r>
          </a:p>
        </p:txBody>
      </p:sp>
      <p:sp>
        <p:nvSpPr>
          <p:cNvPr id="25" name="Text 18">
            <a:extLst xmlns:a="http://schemas.openxmlformats.org/drawingml/2006/main">
              <a:ext uri="{FF2B5EF4-FFF2-40B4-BE49-F238E27FC236}">
                <a16:creationId xmlns:a16="http://schemas.microsoft.com/office/drawing/2014/main" id="{AFDE901B-96BD-4CEE-A526-342B32E0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28816"/>
            <a:ext cx="7772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B94AD"/>
                </a:solidFill>
                <a:latin typeface="Arial"/>
                <a:ea typeface="Arial"/>
                <a:cs typeface="Arial"/>
              </a:rPr>
              <a:t>Team VIVA · Vòng 2 · Digital Cockpit — Voice-Controlled Assistant</a:t>
            </a:r>
          </a:p>
        </p:txBody>
      </p:sp>
      <p:sp>
        <p:nvSpPr>
          <p:cNvPr id="26" name="Text 19">
            <a:extLst xmlns:a="http://schemas.openxmlformats.org/drawingml/2006/main">
              <a:ext uri="{FF2B5EF4-FFF2-40B4-BE49-F238E27FC236}">
                <a16:creationId xmlns:a16="http://schemas.microsoft.com/office/drawing/2014/main" id="{11620EC6-296E-4643-9F24-BF4E13D5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28816"/>
            <a:ext cx="3657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B94AD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307269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2D66CF8-DA83-46AF-AC8D-93DD354D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5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51339F9-164F-4D15-8670-5AB41B6A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8872"/>
            <a:ext cx="877824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MODULE VOICE TÍCH HỢP CHO COCKPIT AAOS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4B5F1CC-5A81-4F92-89E7-1C950DF8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2608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FA3D6"/>
                </a:solidFill>
                <a:latin typeface="Arial"/>
                <a:ea typeface="Arial"/>
                <a:cs typeface="Arial"/>
              </a:rPr>
              <a:t>AUTOMOTIVE HACKATHON 2026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5223754-462E-4405-ACE8-8817B9DF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43000"/>
            <a:ext cx="11183112" cy="1426464"/>
          </a:xfrm>
          <a:prstGeom xmlns:a="http://schemas.openxmlformats.org/drawingml/2006/main" prst="roundRect">
            <a:avLst>
              <a:gd name="adj" fmla="val 3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654EB5B-6E8B-4C0B-A752-D2CB44EF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27048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85A"/>
          </a:solidFill>
        </p:spPr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592e05e38545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5248" y="1685056"/>
            <a:ext cx="342351" cy="342351"/>
          </a:xfrm>
          <a:prstGeom xmlns:a="http://schemas.openxmlformats.org/drawingml/2006/main" prst="rect">
            <a:avLst/>
          </a:prstGeom>
        </p:spPr>
      </p:pic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3285B55-5DE9-40C8-AA34-423E7E23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307592"/>
            <a:ext cx="96926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Người dùng &amp; người quyết định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2641476-9525-4B30-83C8-35889120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655064"/>
            <a:ext cx="969264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100">
                <a:solidFill>
                  <a:srgbClr val="5B6580"/>
                </a:solidFill>
                <a:latin typeface="Arial"/>
                <a:ea typeface="Arial"/>
                <a:cs typeface="Arial"/>
              </a:rPr>
              <a:t>User: tài xế giao hàng. Buyer/process owner: fleet ops, OEM hoặc Tier-1.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3134ABFA-35E0-420A-92B1-F6D15156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15768"/>
            <a:ext cx="11183112" cy="1426464"/>
          </a:xfrm>
          <a:prstGeom xmlns:a="http://schemas.openxmlformats.org/drawingml/2006/main" prst="roundRect">
            <a:avLst>
              <a:gd name="adj" fmla="val 3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F877178-09FE-4E7F-BA9B-87C64EDC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9816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85A"/>
          </a:solidFill>
        </p:spPr>
      </p:sp>
      <p:pic>
        <p:nvPicPr>
          <p:cNvPr id="3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7c85a792664d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5248" y="3257824"/>
            <a:ext cx="342351" cy="342351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21252823-BF40-4D0F-BC06-A7ADD14F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880360"/>
            <a:ext cx="96926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Offering &amp; outcome giả thuyết</a:t>
            </a:r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76F80C27-B613-4225-A4B3-65974F70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227832"/>
            <a:ext cx="969264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100">
                <a:solidFill>
                  <a:srgbClr val="5B6580"/>
                </a:solidFill>
                <a:latin typeface="Arial"/>
                <a:ea typeface="Arial"/>
                <a:cs typeface="Arial"/>
              </a:rPr>
              <a:t>Module voice B2B/B2B2C cho cockpit AAOS; giảm thao tác chạm và chuyển ngữ cảnh. Cần thử nghiệm người dùng để xác nhận.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D8F96B3-5EC5-41B4-BE53-30411CC1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88536"/>
            <a:ext cx="11183112" cy="1426464"/>
          </a:xfrm>
          <a:prstGeom xmlns:a="http://schemas.openxmlformats.org/drawingml/2006/main" prst="roundRect">
            <a:avLst>
              <a:gd name="adj" fmla="val 3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BD21EAC4-8748-46BB-B8A8-B167C218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67258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85A"/>
          </a:solidFill>
        </p:spPr>
      </p:sp>
      <p:pic>
        <p:nvPicPr>
          <p:cNvPr id="4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321e9528b344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5248" y="4830592"/>
            <a:ext cx="342351" cy="342351"/>
          </a:xfrm>
          <a:prstGeom xmlns:a="http://schemas.openxmlformats.org/drawingml/2006/main" prst="rect">
            <a:avLst/>
          </a:prstGeom>
        </p:spPr>
      </p:pic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DA196335-B35F-4EC7-BB7D-588706D2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453128"/>
            <a:ext cx="96926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Bước kiểm chứng tiếp theo</a:t>
            </a:r>
          </a:p>
        </p:txBody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7FBFFD88-B187-48A0-8D61-BF091CB7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800600"/>
            <a:ext cx="969264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100">
                <a:solidFill>
                  <a:srgbClr val="5B6580"/>
                </a:solidFill>
                <a:latin typeface="Arial"/>
                <a:ea typeface="Arial"/>
                <a:cs typeface="Arial"/>
              </a:rPr>
              <a:t>Chạy tác vụ chặng giao với tài xế/fleet ops; đo completion time, lỗi intent và số lần phải chạm.</a:t>
            </a:r>
          </a:p>
        </p:txBody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BD7BC05F-B329-4136-ABAA-EA972CF4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989320"/>
            <a:ext cx="11155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5B6580"/>
                </a:solidFill>
                <a:latin typeface="Arial"/>
                <a:ea typeface="Arial"/>
                <a:cs typeface="Arial"/>
              </a:rPr>
              <a:t>Rào cản lớn nhất: quyền và evidence cho APP → service fw → PropertyID → VHAL → CAN.</a:t>
            </a: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35653CE3-B326-40E4-833E-63204488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28816"/>
            <a:ext cx="7772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B94AD"/>
                </a:solidFill>
                <a:latin typeface="Arial"/>
                <a:ea typeface="Arial"/>
                <a:cs typeface="Arial"/>
              </a:rPr>
              <a:t>Team VIVA · Vòng 2 · Digital Cockpit — Voice-Controlled Assistant</a:t>
            </a:r>
          </a:p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77CFE12A-78BA-4C5C-86B4-C95D0D73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28816"/>
            <a:ext cx="3657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B94AD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4528868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5187435-593C-461A-B147-05238F37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5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13E3783-C034-4796-A4E2-90BAC5F2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8872"/>
            <a:ext cx="877824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DEMO 3 PHÚT: MỘT LUỒNG, HAI GATE LỖI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FF62120-A5C3-4FB0-B3D7-6CCD1ADC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2608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FA3D6"/>
                </a:solidFill>
                <a:latin typeface="Arial"/>
                <a:ea typeface="Arial"/>
                <a:cs typeface="Arial"/>
              </a:rPr>
              <a:t>AUTOMOTIVE HACKATHON 2026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98F48A6-F3EC-4E4E-8638-5420A426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3557016" cy="3246120"/>
          </a:xfrm>
          <a:prstGeom xmlns:a="http://schemas.openxmlformats.org/drawingml/2006/main" prst="roundRect">
            <a:avLst>
              <a:gd name="adj" fmla="val 15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93E7350-0C84-458F-9F55-55ED12AB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3557016" cy="713232"/>
          </a:xfrm>
          <a:prstGeom xmlns:a="http://schemas.openxmlformats.org/drawingml/2006/main" prst="roundRect">
            <a:avLst>
              <a:gd name="adj" fmla="val 7051"/>
            </a:avLst>
          </a:prstGeom>
          <a:solidFill xmlns:a="http://schemas.openxmlformats.org/drawingml/2006/main">
            <a:srgbClr val="13285A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FADD26F-7146-4DE0-8EA3-ACCADC23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1051560"/>
            <a:ext cx="32004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1 · HIỂU &amp; HỎI LẠI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21A7449-3956-4427-B518-E1E53C35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20240"/>
            <a:ext cx="3127248" cy="2240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“Hạ điều hòa 24 độ” → intent có slot</a:t>
            </a:r>
          </a:p>
          <a:p xmlns:a="http://schemas.openxmlformats.org/drawingml/2006/main"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“Quạt mạnh lên” → hỏi mức 0–5</a:t>
            </a:r>
          </a:p>
          <a:p xmlns:a="http://schemas.openxmlformats.org/drawingml/2006/main"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Không đoán giá trị thiếu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A49D4F1-F91A-4DC2-BE17-A0CA184E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1051560"/>
            <a:ext cx="3557016" cy="3246120"/>
          </a:xfrm>
          <a:prstGeom xmlns:a="http://schemas.openxmlformats.org/drawingml/2006/main" prst="roundRect">
            <a:avLst>
              <a:gd name="adj" fmla="val 15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8C93571-E12A-48B6-B31A-CE9744A8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1051560"/>
            <a:ext cx="3557016" cy="713232"/>
          </a:xfrm>
          <a:prstGeom xmlns:a="http://schemas.openxmlformats.org/drawingml/2006/main" prst="roundRect">
            <a:avLst>
              <a:gd name="adj" fmla="val 7051"/>
            </a:avLst>
          </a:prstGeom>
          <a:solidFill xmlns:a="http://schemas.openxmlformats.org/drawingml/2006/main">
            <a:srgbClr val="13285A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01F8B8D-B59F-49DE-A3FB-64007A9E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1051560"/>
            <a:ext cx="32004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2 · THỰC THI &amp; PHẢN HỒI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D660D72-EE3B-4434-8368-B152B862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1920240"/>
            <a:ext cx="3127248" cy="2240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HVAC/fan chỉ xác nhận sau Applied</a:t>
            </a:r>
          </a:p>
          <a:p xmlns:a="http://schemas.openxmlformats.org/drawingml/2006/main"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“Chuyển bài” kiểm adapter + audio focus</a:t>
            </a:r>
          </a:p>
          <a:p xmlns:a="http://schemas.openxmlformats.org/drawingml/2006/main"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Lỗi được gắn đúng stage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93FDC31-C9AC-4B30-AC7E-97C552F8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16" y="1051560"/>
            <a:ext cx="3557016" cy="3246120"/>
          </a:xfrm>
          <a:prstGeom xmlns:a="http://schemas.openxmlformats.org/drawingml/2006/main" prst="roundRect">
            <a:avLst>
              <a:gd name="adj" fmla="val 15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2F34EB9-72FF-4E2B-A114-E14955B7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16" y="1051560"/>
            <a:ext cx="3557016" cy="713232"/>
          </a:xfrm>
          <a:prstGeom xmlns:a="http://schemas.openxmlformats.org/drawingml/2006/main" prst="roundRect">
            <a:avLst>
              <a:gd name="adj" fmla="val 7051"/>
            </a:avLst>
          </a:prstGeom>
          <a:solidFill xmlns:a="http://schemas.openxmlformats.org/drawingml/2006/main">
            <a:srgbClr val="F26F21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51F1446-7F3A-434E-9D3F-7552F65B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184" y="1051560"/>
            <a:ext cx="32004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· TỪ CHỐI &amp; BẰNG CHỨNG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2F23BB2-8E35-40AA-8F34-FBC4E53A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1920240"/>
            <a:ext cx="3127248" cy="2240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“Đặt bàn ăn tối” → từ chối lịch sự</a:t>
            </a:r>
          </a:p>
          <a:p xmlns:a="http://schemas.openxmlformats.org/drawingml/2006/main"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Trace + Signal Watch: điều gì thật</a:t>
            </a:r>
          </a:p>
          <a:p xmlns:a="http://schemas.openxmlformats.org/drawingml/2006/main"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Mock/Device được nói rõ trên màn hình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BFE22337-473B-48B3-B0B0-3E93D16D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498848"/>
            <a:ext cx="201168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5A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09A949D-7174-4562-8083-2F7EC64E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453128"/>
            <a:ext cx="10972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A2440"/>
                </a:solidFill>
                <a:latin typeface="Arial"/>
                <a:ea typeface="Arial"/>
                <a:cs typeface="Arial"/>
              </a:rPr>
              <a:t>Đã tích hợp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04AFB02-8064-416A-AF9D-AC2F545D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498848"/>
            <a:ext cx="201168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F21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4CBA6D9-EA6A-448A-8BA6-1C968FC1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4453128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A2440"/>
                </a:solidFill>
                <a:latin typeface="Arial"/>
                <a:ea typeface="Arial"/>
                <a:cs typeface="Arial"/>
              </a:rPr>
              <a:t>Chờ Device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ED900E67-DFBB-45E8-85F3-C0A3FEFF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64608"/>
            <a:ext cx="11183112" cy="713232"/>
          </a:xfrm>
          <a:prstGeom xmlns:a="http://schemas.openxmlformats.org/drawingml/2006/main" prst="roundRect">
            <a:avLst>
              <a:gd name="adj" fmla="val 7051"/>
            </a:avLst>
          </a:prstGeom>
          <a:solidFill xmlns:a="http://schemas.openxmlformats.org/drawingml/2006/main">
            <a:srgbClr val="13285A"/>
          </a:solidFill>
          <a:ln xmlns:a="http://schemas.openxmlformats.org/drawingml/2006/main" w="12700">
            <a:solidFill>
              <a:srgbClr val="13285A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456D14C-E618-4F46-82D5-87CC3B08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64608"/>
            <a:ext cx="1065276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Deliverable: commit identity · Claim–Evidence Map · Product Card · video uncut · write-up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D3EA1373-2AB8-4235-9165-0F650020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724144"/>
            <a:ext cx="11183112" cy="603504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6FC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22FC247-737E-4D6D-B334-7FE50E56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724144"/>
            <a:ext cx="1065276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Nếu Device fail: dùng mock có nhãn; không lặp lệnh quá một lần; không claim full-stack.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6651745B-276A-4EEC-9486-DAFBEB9E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28816"/>
            <a:ext cx="7772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B94AD"/>
                </a:solidFill>
                <a:latin typeface="Arial"/>
                <a:ea typeface="Arial"/>
                <a:cs typeface="Arial"/>
              </a:rPr>
              <a:t>Team VIVA · Vòng 2 · Digital Cockpit — Voice-Controlled Assistant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4E3CC7F-0FFD-47DD-8D40-C1B3F4CB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28816"/>
            <a:ext cx="3657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B94AD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015293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E1E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1E03E26-7203-4E14-A9EC-A381948C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822960"/>
            <a:ext cx="2103120" cy="2103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2F6B"/>
          </a:solidFill>
          <a:ln xmlns:a="http://schemas.openxmlformats.org/drawingml/2006/main" w="19050">
            <a:solidFill>
              <a:srgbClr val="2E4489"/>
            </a:solidFill>
            <a:prstDash val="solid"/>
          </a:ln>
        </p:spPr>
      </p:sp>
      <p:pic>
        <p:nvPicPr>
          <p:cNvPr id="1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02308d66124b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04120" y="1508760"/>
            <a:ext cx="731520" cy="731520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FBD3BC5-4C62-4781-AD34-63E4A8B5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28800"/>
            <a:ext cx="10515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GATE CUỐI: CHẠY TRÊN DEVICE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C726630-D2E3-43E4-983B-DFACC4DC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880360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TEAM VIVA — Vietnamese In-Vehicle Assistant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36DA635-320C-4EFF-8615-4BD8DCB9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401568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AEC0E8"/>
                </a:solidFill>
                <a:latin typeface="Arial"/>
                <a:ea typeface="Arial"/>
                <a:cs typeface="Arial"/>
              </a:rPr>
              <a:t>Voice core đã có bằng chứng. Việc còn lại là chứng minh execution path trên đúng Device — không mở thêm bề ngang.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40EE16C4-7547-47AB-8D92-F8DD3A88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206240"/>
            <a:ext cx="667512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F6B"/>
          </a:solidFill>
          <a:ln xmlns:a="http://schemas.openxmlformats.org/drawingml/2006/main" w="12700">
            <a:solidFill>
              <a:srgbClr val="3D5399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1BA9F0FF-68EA-4671-A5CE-494D0345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4352544"/>
            <a:ext cx="630936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Đội trưởng: Ngô Văn Long — AI Engineer</a:t>
            </a:r>
          </a:p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200">
                <a:solidFill>
                  <a:srgbClr val="AEC0E8"/>
                </a:solidFill>
                <a:latin typeface="Arial"/>
                <a:ea typeface="Arial"/>
                <a:cs typeface="Arial"/>
              </a:rPr>
              <a:t>longnv3008@gmail.com   ·   0348 006 898</a:t>
            </a:r>
          </a:p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200">
                <a:solidFill>
                  <a:srgbClr val="AEC0E8"/>
                </a:solidFill>
                <a:latin typeface="Arial"/>
                <a:ea typeface="Arial"/>
                <a:cs typeface="Arial"/>
              </a:rPr>
              <a:t>linkedin.com/in/longnv3008   ·   github.com/longnv3008</a:t>
            </a:r>
          </a:p>
        </p:txBody>
      </p:sp>
    </p:spTree>
    <p:extLst>
      <p:ext uri="{BB962C8B-B14F-4D97-AF65-F5344CB8AC3E}">
        <p14:creationId xmlns:p14="http://schemas.microsoft.com/office/powerpoint/2010/main" val="6206972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2026-08-04T13:49:33.7550000Z</dcterms:created>
  <dcterms:modified xsi:type="dcterms:W3CDTF">2026-08-04T13:49:33.7550000Z</dcterms:modified>
</coreProperties>
</file>