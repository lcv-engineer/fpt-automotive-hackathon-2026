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KHI NỘP: (1) Upload file lên Google Drive/OneDrive, bật quyền 'Anyone with the link – Viewer'. (2) Dán link vào mục 9 'Liên kết nộp ý tưởng của đội' trên form. (3) Nếu đội đã đăng ký tên khác 'Team VIVA' thì đổi tên trên slide này. Deadline 23:59 ngày 12/07/2026.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Đội 4 thành viên (hợp lệ theo thể lệ: tối thiểu 2, tối đa 5). QUAN TRỌNG — Thể lệ 5.4: đội thay đổi thông tin thành viên (5 → 4) phải ĐĂNG KÝ LẠI trên website fptautomotive-hackathon.com trước 23:59 ngày 12/07/2026, sau thời điểm này không được đổi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ĐÃ VERIFY: Klauer, Dingus, Neale, Sudweeks &amp; Ramsey (2006), 'The Impact of Driver Inattention on Near-Crash/Crash Risk' — NHTSA DOT HS 810 594: glances &gt;2s làm tăng nguy cơ crash/near-crash ít nhất 2 lần so với lái bình thường. NHTSA driver-distraction guidelines dùng chính ngưỡng 2s và khuyến khích voice interface để giảm rời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kịp trước 23:59: điền số RTF đo thực (thay dải 200–350 ms bằng số đo) — thu ~10 câu lệnh tiếng Việt, chạy Silero VAD + PhoWhisper INT8 + classifier ONNX trên i7-14650HX.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nộp: upload PPTX (+ bản PDF dự phòng) lên Drive, bật 'Anyone with the link – Viewer', dán link vào mục 9 của form. LƯU Ý THỂ LỆ 5.4: đội đổi từ 5 xuống 4 thành viên → phải đăng ký lại thông tin thành viên trên website trước 23:59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4B"/>
        </a:solidFill>
      </p:bgPr>
    </p:bg>
    <p:spTree>
      <p:nvGrpSpPr>
        <p:cNvPr id="1" name=""/>
        <p:cNvGrpSpPr/>
        <p:nvPr/>
      </p:nvGrpSpPr>
      <p:grpSpPr>
        <a:xfrm>
          <a:off x="0" y="0"/>
          <a:ext cx="0" cy="0"/>
          <a:chOff x="0" y="0"/>
          <a:chExt cx="0" cy="0"/>
        </a:xfrm>
      </p:grpSpPr>
      <p:sp>
        <p:nvSpPr>
          <p:cNvPr id="2" name="Shape 0"/>
          <p:cNvSpPr/>
          <p:nvPr/>
        </p:nvSpPr>
        <p:spPr>
          <a:xfrm>
            <a:off x="8366760" y="1051560"/>
            <a:ext cx="3063240" cy="3063240"/>
          </a:xfrm>
          <a:prstGeom prst="ellipse">
            <a:avLst/>
          </a:prstGeom>
          <a:solidFill>
            <a:srgbClr val="1B2F6B"/>
          </a:solidFill>
          <a:ln w="19050">
            <a:solidFill>
              <a:srgbClr val="2E4489"/>
            </a:solidFill>
            <a:prstDash val="solid"/>
          </a:ln>
        </p:spPr>
      </p:sp>
      <p:pic>
        <p:nvPicPr>
          <p:cNvPr id="3" name="Image 0" descr="preencoded.png">    </p:cNvPr>
          <p:cNvPicPr>
            <a:picLocks noChangeAspect="1"/>
          </p:cNvPicPr>
          <p:nvPr/>
        </p:nvPicPr>
        <p:blipFill>
          <a:blip r:embed="rId1"/>
          <a:stretch>
            <a:fillRect/>
          </a:stretch>
        </p:blipFill>
        <p:spPr>
          <a:xfrm>
            <a:off x="9372600" y="2057400"/>
            <a:ext cx="1051560" cy="1051560"/>
          </a:xfrm>
          <a:prstGeom prst="rect">
            <a:avLst/>
          </a:prstGeom>
        </p:spPr>
      </p:pic>
      <p:sp>
        <p:nvSpPr>
          <p:cNvPr id="4" name="Shape 1"/>
          <p:cNvSpPr/>
          <p:nvPr/>
        </p:nvSpPr>
        <p:spPr>
          <a:xfrm>
            <a:off x="10652760" y="3520440"/>
            <a:ext cx="868680" cy="868680"/>
          </a:xfrm>
          <a:prstGeom prst="ellipse">
            <a:avLst/>
          </a:prstGeom>
          <a:solidFill>
            <a:srgbClr val="F26F21"/>
          </a:solidFill>
          <a:ln/>
        </p:spPr>
      </p:sp>
      <p:pic>
        <p:nvPicPr>
          <p:cNvPr id="5" name="Image 1" descr="preencoded.png">    </p:cNvPr>
          <p:cNvPicPr>
            <a:picLocks noChangeAspect="1"/>
          </p:cNvPicPr>
          <p:nvPr/>
        </p:nvPicPr>
        <p:blipFill>
          <a:blip r:embed="rId2"/>
          <a:stretch>
            <a:fillRect/>
          </a:stretch>
        </p:blipFill>
        <p:spPr>
          <a:xfrm>
            <a:off x="10835640" y="3703320"/>
            <a:ext cx="502920" cy="502920"/>
          </a:xfrm>
          <a:prstGeom prst="rect">
            <a:avLst/>
          </a:prstGeom>
        </p:spPr>
      </p:pic>
      <p:sp>
        <p:nvSpPr>
          <p:cNvPr id="6" name="Shape 2"/>
          <p:cNvSpPr/>
          <p:nvPr/>
        </p:nvSpPr>
        <p:spPr>
          <a:xfrm>
            <a:off x="8001000" y="3794760"/>
            <a:ext cx="685800" cy="685800"/>
          </a:xfrm>
          <a:prstGeom prst="ellipse">
            <a:avLst/>
          </a:prstGeom>
          <a:solidFill>
            <a:srgbClr val="22366F"/>
          </a:solidFill>
          <a:ln/>
        </p:spPr>
      </p:sp>
      <p:pic>
        <p:nvPicPr>
          <p:cNvPr id="7" name="Image 2" descr="preencoded.png">    </p:cNvPr>
          <p:cNvPicPr>
            <a:picLocks noChangeAspect="1"/>
          </p:cNvPicPr>
          <p:nvPr/>
        </p:nvPicPr>
        <p:blipFill>
          <a:blip r:embed="rId3"/>
          <a:stretch>
            <a:fillRect/>
          </a:stretch>
        </p:blipFill>
        <p:spPr>
          <a:xfrm>
            <a:off x="8156448" y="3950208"/>
            <a:ext cx="374904" cy="374904"/>
          </a:xfrm>
          <a:prstGeom prst="rect">
            <a:avLst/>
          </a:prstGeom>
        </p:spPr>
      </p:pic>
      <p:sp>
        <p:nvSpPr>
          <p:cNvPr id="8" name="Text 3"/>
          <p:cNvSpPr/>
          <p:nvPr/>
        </p:nvSpPr>
        <p:spPr>
          <a:xfrm>
            <a:off x="777240" y="1234440"/>
            <a:ext cx="7498080" cy="914400"/>
          </a:xfrm>
          <a:prstGeom prst="rect">
            <a:avLst/>
          </a:prstGeom>
          <a:noFill/>
          <a:ln/>
        </p:spPr>
        <p:txBody>
          <a:bodyPr wrap="square" lIns="0" tIns="0" rIns="0" bIns="0" rtlCol="0" anchor="ctr"/>
          <a:lstStyle/>
          <a:p>
            <a:pPr indent="0" marL="0">
              <a:buNone/>
            </a:pPr>
            <a:r>
              <a:rPr lang="en-US" sz="5600" b="1" dirty="0">
                <a:solidFill>
                  <a:srgbClr val="F26F21"/>
                </a:solidFill>
                <a:latin typeface="Arial" pitchFamily="34" charset="0"/>
                <a:ea typeface="Arial" pitchFamily="34" charset="-122"/>
                <a:cs typeface="Arial" pitchFamily="34" charset="-120"/>
              </a:rPr>
              <a:t>PROPOSAL</a:t>
            </a:r>
            <a:endParaRPr lang="en-US" sz="5600" dirty="0"/>
          </a:p>
        </p:txBody>
      </p:sp>
      <p:sp>
        <p:nvSpPr>
          <p:cNvPr id="9" name="Text 4"/>
          <p:cNvSpPr/>
          <p:nvPr/>
        </p:nvSpPr>
        <p:spPr>
          <a:xfrm>
            <a:off x="777240" y="2103120"/>
            <a:ext cx="7863840" cy="914400"/>
          </a:xfrm>
          <a:prstGeom prst="rect">
            <a:avLst/>
          </a:prstGeom>
          <a:noFill/>
          <a:ln/>
        </p:spPr>
        <p:txBody>
          <a:bodyPr wrap="square" lIns="0" tIns="0" rIns="0" bIns="0" rtlCol="0" anchor="ctr"/>
          <a:lstStyle/>
          <a:p>
            <a:pPr indent="0" marL="0">
              <a:buNone/>
            </a:pPr>
            <a:r>
              <a:rPr lang="en-US" sz="5600" b="1" dirty="0">
                <a:solidFill>
                  <a:srgbClr val="FFFFFF"/>
                </a:solidFill>
                <a:latin typeface="Arial" pitchFamily="34" charset="0"/>
                <a:ea typeface="Arial" pitchFamily="34" charset="-122"/>
                <a:cs typeface="Arial" pitchFamily="34" charset="-120"/>
              </a:rPr>
              <a:t>HACKATHON 2026</a:t>
            </a:r>
            <a:endParaRPr lang="en-US" sz="5600" dirty="0"/>
          </a:p>
        </p:txBody>
      </p:sp>
      <p:sp>
        <p:nvSpPr>
          <p:cNvPr id="10" name="Text 5"/>
          <p:cNvSpPr/>
          <p:nvPr/>
        </p:nvSpPr>
        <p:spPr>
          <a:xfrm>
            <a:off x="804672" y="3246120"/>
            <a:ext cx="749808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VIVA — Vietnamese In-Vehicle Assistant</a:t>
            </a:r>
            <a:endParaRPr lang="en-US" sz="2000" dirty="0"/>
          </a:p>
        </p:txBody>
      </p:sp>
      <p:sp>
        <p:nvSpPr>
          <p:cNvPr id="11" name="Text 6"/>
          <p:cNvSpPr/>
          <p:nvPr/>
        </p:nvSpPr>
        <p:spPr>
          <a:xfrm>
            <a:off x="804672" y="3749040"/>
            <a:ext cx="7680960" cy="365760"/>
          </a:xfrm>
          <a:prstGeom prst="rect">
            <a:avLst/>
          </a:prstGeom>
          <a:noFill/>
          <a:ln/>
        </p:spPr>
        <p:txBody>
          <a:bodyPr wrap="square" lIns="0" tIns="0" rIns="0" bIns="0" rtlCol="0" anchor="ctr"/>
          <a:lstStyle/>
          <a:p>
            <a:pPr indent="0" marL="0">
              <a:buNone/>
            </a:pPr>
            <a:r>
              <a:rPr lang="en-US" sz="1300" dirty="0">
                <a:solidFill>
                  <a:srgbClr val="AEC0E8"/>
                </a:solidFill>
                <a:latin typeface="Arial" pitchFamily="34" charset="0"/>
                <a:ea typeface="Arial" pitchFamily="34" charset="-122"/>
                <a:cs typeface="Arial" pitchFamily="34" charset="-120"/>
              </a:rPr>
              <a:t>Vertical: Digital Cockpit  ·  Core: Voice-Controlled Assistant  ·  Persona: Tài xế giao hàng</a:t>
            </a:r>
            <a:endParaRPr lang="en-US" sz="1300" dirty="0"/>
          </a:p>
        </p:txBody>
      </p:sp>
      <p:sp>
        <p:nvSpPr>
          <p:cNvPr id="12" name="Shape 7"/>
          <p:cNvSpPr/>
          <p:nvPr/>
        </p:nvSpPr>
        <p:spPr>
          <a:xfrm>
            <a:off x="804672" y="4434840"/>
            <a:ext cx="1920240" cy="475488"/>
          </a:xfrm>
          <a:prstGeom prst="roundRect">
            <a:avLst>
              <a:gd name="adj" fmla="val 19231"/>
            </a:avLst>
          </a:prstGeom>
          <a:solidFill>
            <a:srgbClr val="F26F21"/>
          </a:solidFill>
          <a:ln/>
        </p:spPr>
      </p:sp>
      <p:sp>
        <p:nvSpPr>
          <p:cNvPr id="13" name="Text 8"/>
          <p:cNvSpPr/>
          <p:nvPr/>
        </p:nvSpPr>
        <p:spPr>
          <a:xfrm>
            <a:off x="804672" y="4434840"/>
            <a:ext cx="19202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TEAM VIVA</a:t>
            </a:r>
            <a:endParaRPr lang="en-US" sz="1400" dirty="0"/>
          </a:p>
        </p:txBody>
      </p:sp>
      <p:sp>
        <p:nvSpPr>
          <p:cNvPr id="14" name="Shape 9"/>
          <p:cNvSpPr/>
          <p:nvPr/>
        </p:nvSpPr>
        <p:spPr>
          <a:xfrm>
            <a:off x="804672" y="5806440"/>
            <a:ext cx="2834640" cy="475488"/>
          </a:xfrm>
          <a:prstGeom prst="rect">
            <a:avLst/>
          </a:prstGeom>
          <a:solidFill>
            <a:srgbClr val="1B2F6B"/>
          </a:solidFill>
          <a:ln w="12700">
            <a:solidFill>
              <a:srgbClr val="3D5399"/>
            </a:solidFill>
            <a:prstDash val="solid"/>
          </a:ln>
        </p:spPr>
      </p:sp>
      <p:sp>
        <p:nvSpPr>
          <p:cNvPr id="15" name="Text 10"/>
          <p:cNvSpPr/>
          <p:nvPr/>
        </p:nvSpPr>
        <p:spPr>
          <a:xfrm>
            <a:off x="804672" y="5806440"/>
            <a:ext cx="2834640" cy="475488"/>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Hà Nội, 12/07/2026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MỤC LỤC</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777240" y="1234440"/>
            <a:ext cx="566928" cy="566928"/>
          </a:xfrm>
          <a:prstGeom prst="ellipse">
            <a:avLst/>
          </a:prstGeom>
          <a:solidFill>
            <a:srgbClr val="F26F21"/>
          </a:solidFill>
          <a:ln/>
        </p:spPr>
      </p:sp>
      <p:sp>
        <p:nvSpPr>
          <p:cNvPr id="6" name="Text 4"/>
          <p:cNvSpPr/>
          <p:nvPr/>
        </p:nvSpPr>
        <p:spPr>
          <a:xfrm>
            <a:off x="777240" y="12344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572768" y="1271016"/>
            <a:ext cx="5760720" cy="512064"/>
          </a:xfrm>
          <a:prstGeom prst="rect">
            <a:avLst/>
          </a:prstGeom>
          <a:noFill/>
          <a:ln/>
        </p:spPr>
        <p:txBody>
          <a:bodyPr wrap="square" lIns="0" tIns="0" rIns="0" bIns="0" rtlCol="0" anchor="ctr"/>
          <a:lstStyle/>
          <a:p>
            <a:pPr indent="0" marL="0">
              <a:buNone/>
            </a:pPr>
            <a:r>
              <a:rPr lang="en-US" sz="1900" b="1" dirty="0">
                <a:solidFill>
                  <a:srgbClr val="13285A"/>
                </a:solidFill>
                <a:latin typeface="Arial" pitchFamily="34" charset="0"/>
                <a:ea typeface="Arial" pitchFamily="34" charset="-122"/>
                <a:cs typeface="Arial" pitchFamily="34" charset="-120"/>
              </a:rPr>
              <a:t>Thông tin đội chơi</a:t>
            </a:r>
            <a:endParaRPr lang="en-US" sz="1900" dirty="0"/>
          </a:p>
        </p:txBody>
      </p:sp>
      <p:sp>
        <p:nvSpPr>
          <p:cNvPr id="8" name="Shape 6"/>
          <p:cNvSpPr/>
          <p:nvPr/>
        </p:nvSpPr>
        <p:spPr>
          <a:xfrm>
            <a:off x="777240" y="2212848"/>
            <a:ext cx="566928" cy="566928"/>
          </a:xfrm>
          <a:prstGeom prst="ellipse">
            <a:avLst/>
          </a:prstGeom>
          <a:solidFill>
            <a:srgbClr val="F26F21"/>
          </a:solidFill>
          <a:ln/>
        </p:spPr>
      </p:sp>
      <p:sp>
        <p:nvSpPr>
          <p:cNvPr id="9" name="Text 7"/>
          <p:cNvSpPr/>
          <p:nvPr/>
        </p:nvSpPr>
        <p:spPr>
          <a:xfrm>
            <a:off x="777240" y="22128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572768" y="2249424"/>
            <a:ext cx="5760720" cy="512064"/>
          </a:xfrm>
          <a:prstGeom prst="rect">
            <a:avLst/>
          </a:prstGeom>
          <a:noFill/>
          <a:ln/>
        </p:spPr>
        <p:txBody>
          <a:bodyPr wrap="square" lIns="0" tIns="0" rIns="0" bIns="0" rtlCol="0" anchor="ctr"/>
          <a:lstStyle/>
          <a:p>
            <a:pPr indent="0" marL="0">
              <a:buNone/>
            </a:pPr>
            <a:r>
              <a:rPr lang="en-US" sz="1900" b="1" dirty="0">
                <a:solidFill>
                  <a:srgbClr val="13285A"/>
                </a:solidFill>
                <a:latin typeface="Arial" pitchFamily="34" charset="0"/>
                <a:ea typeface="Arial" pitchFamily="34" charset="-122"/>
                <a:cs typeface="Arial" pitchFamily="34" charset="-120"/>
              </a:rPr>
              <a:t>Bài tập lựa chọn</a:t>
            </a:r>
            <a:endParaRPr lang="en-US" sz="1900" dirty="0"/>
          </a:p>
        </p:txBody>
      </p:sp>
      <p:sp>
        <p:nvSpPr>
          <p:cNvPr id="11" name="Shape 9"/>
          <p:cNvSpPr/>
          <p:nvPr/>
        </p:nvSpPr>
        <p:spPr>
          <a:xfrm>
            <a:off x="777240" y="3191256"/>
            <a:ext cx="566928" cy="566928"/>
          </a:xfrm>
          <a:prstGeom prst="ellipse">
            <a:avLst/>
          </a:prstGeom>
          <a:solidFill>
            <a:srgbClr val="F26F21"/>
          </a:solidFill>
          <a:ln/>
        </p:spPr>
      </p:sp>
      <p:sp>
        <p:nvSpPr>
          <p:cNvPr id="12" name="Text 10"/>
          <p:cNvSpPr/>
          <p:nvPr/>
        </p:nvSpPr>
        <p:spPr>
          <a:xfrm>
            <a:off x="777240" y="319125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1572768" y="3227832"/>
            <a:ext cx="5760720" cy="512064"/>
          </a:xfrm>
          <a:prstGeom prst="rect">
            <a:avLst/>
          </a:prstGeom>
          <a:noFill/>
          <a:ln/>
        </p:spPr>
        <p:txBody>
          <a:bodyPr wrap="square" lIns="0" tIns="0" rIns="0" bIns="0" rtlCol="0" anchor="ctr"/>
          <a:lstStyle/>
          <a:p>
            <a:pPr indent="0" marL="0">
              <a:buNone/>
            </a:pPr>
            <a:r>
              <a:rPr lang="en-US" sz="1900" b="1" dirty="0">
                <a:solidFill>
                  <a:srgbClr val="13285A"/>
                </a:solidFill>
                <a:latin typeface="Arial" pitchFamily="34" charset="0"/>
                <a:ea typeface="Arial" pitchFamily="34" charset="-122"/>
                <a:cs typeface="Arial" pitchFamily="34" charset="-120"/>
              </a:rPr>
              <a:t>Vấn đề &amp; Ý tưởng giải quyết</a:t>
            </a:r>
            <a:endParaRPr lang="en-US" sz="1900" dirty="0"/>
          </a:p>
        </p:txBody>
      </p:sp>
      <p:sp>
        <p:nvSpPr>
          <p:cNvPr id="14" name="Shape 12"/>
          <p:cNvSpPr/>
          <p:nvPr/>
        </p:nvSpPr>
        <p:spPr>
          <a:xfrm>
            <a:off x="777240" y="4169664"/>
            <a:ext cx="566928" cy="566928"/>
          </a:xfrm>
          <a:prstGeom prst="ellipse">
            <a:avLst/>
          </a:prstGeom>
          <a:solidFill>
            <a:srgbClr val="F26F21"/>
          </a:solidFill>
          <a:ln/>
        </p:spPr>
      </p:sp>
      <p:sp>
        <p:nvSpPr>
          <p:cNvPr id="15" name="Text 13"/>
          <p:cNvSpPr/>
          <p:nvPr/>
        </p:nvSpPr>
        <p:spPr>
          <a:xfrm>
            <a:off x="777240" y="416966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6" name="Text 14"/>
          <p:cNvSpPr/>
          <p:nvPr/>
        </p:nvSpPr>
        <p:spPr>
          <a:xfrm>
            <a:off x="1572768" y="4206240"/>
            <a:ext cx="5760720" cy="512064"/>
          </a:xfrm>
          <a:prstGeom prst="rect">
            <a:avLst/>
          </a:prstGeom>
          <a:noFill/>
          <a:ln/>
        </p:spPr>
        <p:txBody>
          <a:bodyPr wrap="square" lIns="0" tIns="0" rIns="0" bIns="0" rtlCol="0" anchor="ctr"/>
          <a:lstStyle/>
          <a:p>
            <a:pPr indent="0" marL="0">
              <a:buNone/>
            </a:pPr>
            <a:r>
              <a:rPr lang="en-US" sz="1900" b="1" dirty="0">
                <a:solidFill>
                  <a:srgbClr val="13285A"/>
                </a:solidFill>
                <a:latin typeface="Arial" pitchFamily="34" charset="0"/>
                <a:ea typeface="Arial" pitchFamily="34" charset="-122"/>
                <a:cs typeface="Arial" pitchFamily="34" charset="-120"/>
              </a:rPr>
              <a:t>Kiến trúc · Safety Guard · Latency</a:t>
            </a:r>
            <a:endParaRPr lang="en-US" sz="1900" dirty="0"/>
          </a:p>
        </p:txBody>
      </p:sp>
      <p:sp>
        <p:nvSpPr>
          <p:cNvPr id="17" name="Shape 15"/>
          <p:cNvSpPr/>
          <p:nvPr/>
        </p:nvSpPr>
        <p:spPr>
          <a:xfrm>
            <a:off x="777240" y="5148072"/>
            <a:ext cx="566928" cy="566928"/>
          </a:xfrm>
          <a:prstGeom prst="ellipse">
            <a:avLst/>
          </a:prstGeom>
          <a:solidFill>
            <a:srgbClr val="F26F21"/>
          </a:solidFill>
          <a:ln/>
        </p:spPr>
      </p:sp>
      <p:sp>
        <p:nvSpPr>
          <p:cNvPr id="18" name="Text 16"/>
          <p:cNvSpPr/>
          <p:nvPr/>
        </p:nvSpPr>
        <p:spPr>
          <a:xfrm>
            <a:off x="777240" y="5148072"/>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9" name="Text 17"/>
          <p:cNvSpPr/>
          <p:nvPr/>
        </p:nvSpPr>
        <p:spPr>
          <a:xfrm>
            <a:off x="1572768" y="5184648"/>
            <a:ext cx="5760720" cy="512064"/>
          </a:xfrm>
          <a:prstGeom prst="rect">
            <a:avLst/>
          </a:prstGeom>
          <a:noFill/>
          <a:ln/>
        </p:spPr>
        <p:txBody>
          <a:bodyPr wrap="square" lIns="0" tIns="0" rIns="0" bIns="0" rtlCol="0" anchor="ctr"/>
          <a:lstStyle/>
          <a:p>
            <a:pPr indent="0" marL="0">
              <a:buNone/>
            </a:pPr>
            <a:r>
              <a:rPr lang="en-US" sz="1900" b="1" dirty="0">
                <a:solidFill>
                  <a:srgbClr val="13285A"/>
                </a:solidFill>
                <a:latin typeface="Arial" pitchFamily="34" charset="0"/>
                <a:ea typeface="Arial" pitchFamily="34" charset="-122"/>
                <a:cs typeface="Arial" pitchFamily="34" charset="-120"/>
              </a:rPr>
              <a:t>Lộ trình Vòng 2 &amp; Tầm nhìn</a:t>
            </a:r>
            <a:endParaRPr lang="en-US" sz="1900" dirty="0"/>
          </a:p>
        </p:txBody>
      </p:sp>
      <p:sp>
        <p:nvSpPr>
          <p:cNvPr id="20" name="Shape 18"/>
          <p:cNvSpPr/>
          <p:nvPr/>
        </p:nvSpPr>
        <p:spPr>
          <a:xfrm>
            <a:off x="7818120" y="1188720"/>
            <a:ext cx="3867912" cy="4983480"/>
          </a:xfrm>
          <a:prstGeom prst="roundRect">
            <a:avLst>
              <a:gd name="adj" fmla="val 1655"/>
            </a:avLst>
          </a:prstGeom>
          <a:solidFill>
            <a:srgbClr val="13285A"/>
          </a:solidFill>
          <a:ln/>
        </p:spPr>
      </p:sp>
      <p:sp>
        <p:nvSpPr>
          <p:cNvPr id="21" name="Text 19"/>
          <p:cNvSpPr/>
          <p:nvPr/>
        </p:nvSpPr>
        <p:spPr>
          <a:xfrm>
            <a:off x="8138160" y="1463040"/>
            <a:ext cx="3291840" cy="320040"/>
          </a:xfrm>
          <a:prstGeom prst="rect">
            <a:avLst/>
          </a:prstGeom>
          <a:noFill/>
          <a:ln/>
        </p:spPr>
        <p:txBody>
          <a:bodyPr wrap="square" lIns="0" tIns="0" rIns="0" bIns="0" rtlCol="0" anchor="ctr"/>
          <a:lstStyle/>
          <a:p>
            <a:pPr indent="0" marL="0">
              <a:buNone/>
            </a:pPr>
            <a:r>
              <a:rPr lang="en-US" sz="1100" b="1" spc="150" kern="0" dirty="0">
                <a:solidFill>
                  <a:srgbClr val="F26F21"/>
                </a:solidFill>
                <a:latin typeface="Arial" pitchFamily="34" charset="0"/>
                <a:ea typeface="Arial" pitchFamily="34" charset="-122"/>
                <a:cs typeface="Arial" pitchFamily="34" charset="-120"/>
              </a:rPr>
              <a:t>VIVA TRONG MỘT CÂU</a:t>
            </a:r>
            <a:endParaRPr lang="en-US" sz="1100" dirty="0"/>
          </a:p>
        </p:txBody>
      </p:sp>
      <p:sp>
        <p:nvSpPr>
          <p:cNvPr id="22" name="Text 20"/>
          <p:cNvSpPr/>
          <p:nvPr/>
        </p:nvSpPr>
        <p:spPr>
          <a:xfrm>
            <a:off x="8138160" y="1874520"/>
            <a:ext cx="3246120" cy="210312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Arial" pitchFamily="34" charset="0"/>
                <a:ea typeface="Arial" pitchFamily="34" charset="-122"/>
                <a:cs typeface="Arial" pitchFamily="34" charset="-120"/>
              </a:rPr>
              <a:t>Trợ lý giọng nói tiếng Việt cho tài xế van / xe tải giao hàng chặng cuối — điều khiển THẬT cockpit (nhạc, điều hòa, cửa, chẩn đoán, nghiệp vụ giao hàng), phản hồi dưới 1,5 giây, chạy offline, và mọi lệnh đều đi qua tầng an toàn tất định.</a:t>
            </a:r>
            <a:endParaRPr lang="en-US" sz="1250" dirty="0"/>
          </a:p>
        </p:txBody>
      </p:sp>
      <p:sp>
        <p:nvSpPr>
          <p:cNvPr id="23" name="Shape 21"/>
          <p:cNvSpPr/>
          <p:nvPr/>
        </p:nvSpPr>
        <p:spPr>
          <a:xfrm>
            <a:off x="8138160" y="4206240"/>
            <a:ext cx="457200" cy="457200"/>
          </a:xfrm>
          <a:prstGeom prst="ellipse">
            <a:avLst/>
          </a:prstGeom>
          <a:solidFill>
            <a:srgbClr val="F26F21"/>
          </a:solidFill>
          <a:ln/>
        </p:spPr>
      </p:sp>
      <p:pic>
        <p:nvPicPr>
          <p:cNvPr id="24" name="Image 0" descr="preencoded.png">    </p:cNvPr>
          <p:cNvPicPr>
            <a:picLocks noChangeAspect="1"/>
          </p:cNvPicPr>
          <p:nvPr/>
        </p:nvPicPr>
        <p:blipFill>
          <a:blip r:embed="rId1"/>
          <a:stretch>
            <a:fillRect/>
          </a:stretch>
        </p:blipFill>
        <p:spPr>
          <a:xfrm>
            <a:off x="8238744" y="4306824"/>
            <a:ext cx="256032" cy="256032"/>
          </a:xfrm>
          <a:prstGeom prst="rect">
            <a:avLst/>
          </a:prstGeom>
        </p:spPr>
      </p:pic>
      <p:sp>
        <p:nvSpPr>
          <p:cNvPr id="25" name="Text 22"/>
          <p:cNvSpPr/>
          <p:nvPr/>
        </p:nvSpPr>
        <p:spPr>
          <a:xfrm>
            <a:off x="8732520" y="4206240"/>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Voice tiếng Việt</a:t>
            </a:r>
            <a:endParaRPr lang="en-US" sz="1200" dirty="0"/>
          </a:p>
        </p:txBody>
      </p:sp>
      <p:sp>
        <p:nvSpPr>
          <p:cNvPr id="26" name="Shape 23"/>
          <p:cNvSpPr/>
          <p:nvPr/>
        </p:nvSpPr>
        <p:spPr>
          <a:xfrm>
            <a:off x="8138160" y="4828032"/>
            <a:ext cx="457200" cy="457200"/>
          </a:xfrm>
          <a:prstGeom prst="ellipse">
            <a:avLst/>
          </a:prstGeom>
          <a:solidFill>
            <a:srgbClr val="F26F21"/>
          </a:solidFill>
          <a:ln/>
        </p:spPr>
      </p:sp>
      <p:pic>
        <p:nvPicPr>
          <p:cNvPr id="27" name="Image 1" descr="preencoded.png">    </p:cNvPr>
          <p:cNvPicPr>
            <a:picLocks noChangeAspect="1"/>
          </p:cNvPicPr>
          <p:nvPr/>
        </p:nvPicPr>
        <p:blipFill>
          <a:blip r:embed="rId2"/>
          <a:stretch>
            <a:fillRect/>
          </a:stretch>
        </p:blipFill>
        <p:spPr>
          <a:xfrm>
            <a:off x="8238744" y="4928616"/>
            <a:ext cx="256032" cy="256032"/>
          </a:xfrm>
          <a:prstGeom prst="rect">
            <a:avLst/>
          </a:prstGeom>
        </p:spPr>
      </p:pic>
      <p:sp>
        <p:nvSpPr>
          <p:cNvPr id="28" name="Text 24"/>
          <p:cNvSpPr/>
          <p:nvPr/>
        </p:nvSpPr>
        <p:spPr>
          <a:xfrm>
            <a:off x="8732520" y="4828032"/>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Safety Guard</a:t>
            </a:r>
            <a:endParaRPr lang="en-US" sz="1200" dirty="0"/>
          </a:p>
        </p:txBody>
      </p:sp>
      <p:sp>
        <p:nvSpPr>
          <p:cNvPr id="29" name="Shape 25"/>
          <p:cNvSpPr/>
          <p:nvPr/>
        </p:nvSpPr>
        <p:spPr>
          <a:xfrm>
            <a:off x="8138160" y="5449824"/>
            <a:ext cx="457200" cy="457200"/>
          </a:xfrm>
          <a:prstGeom prst="ellipse">
            <a:avLst/>
          </a:prstGeom>
          <a:solidFill>
            <a:srgbClr val="F26F21"/>
          </a:solidFill>
          <a:ln/>
        </p:spPr>
      </p:sp>
      <p:pic>
        <p:nvPicPr>
          <p:cNvPr id="30" name="Image 2" descr="preencoded.png">    </p:cNvPr>
          <p:cNvPicPr>
            <a:picLocks noChangeAspect="1"/>
          </p:cNvPicPr>
          <p:nvPr/>
        </p:nvPicPr>
        <p:blipFill>
          <a:blip r:embed="rId3"/>
          <a:stretch>
            <a:fillRect/>
          </a:stretch>
        </p:blipFill>
        <p:spPr>
          <a:xfrm>
            <a:off x="8238744" y="5550408"/>
            <a:ext cx="256032" cy="256032"/>
          </a:xfrm>
          <a:prstGeom prst="rect">
            <a:avLst/>
          </a:prstGeom>
        </p:spPr>
      </p:pic>
      <p:sp>
        <p:nvSpPr>
          <p:cNvPr id="31" name="Text 26"/>
          <p:cNvSpPr/>
          <p:nvPr/>
        </p:nvSpPr>
        <p:spPr>
          <a:xfrm>
            <a:off x="8732520" y="5449824"/>
            <a:ext cx="265176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&lt; 1,5 giây</a:t>
            </a:r>
            <a:endParaRPr lang="en-US" sz="1200" dirty="0"/>
          </a:p>
        </p:txBody>
      </p:sp>
      <p:sp>
        <p:nvSpPr>
          <p:cNvPr id="32" name="Text 27"/>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33" name="Text 28"/>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THÔNG TIN ĐỘI CHƠI</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Text 3"/>
          <p:cNvSpPr/>
          <p:nvPr/>
        </p:nvSpPr>
        <p:spPr>
          <a:xfrm>
            <a:off x="502920" y="896112"/>
            <a:ext cx="11155680" cy="365760"/>
          </a:xfrm>
          <a:prstGeom prst="rect">
            <a:avLst/>
          </a:prstGeom>
          <a:noFill/>
          <a:ln/>
        </p:spPr>
        <p:txBody>
          <a:bodyPr wrap="square" lIns="0" tIns="0" rIns="0" bIns="0" rtlCol="0" anchor="ctr"/>
          <a:lstStyle/>
          <a:p>
            <a:pPr indent="0" marL="0">
              <a:buNone/>
            </a:pPr>
            <a:r>
              <a:rPr lang="en-US" sz="1400" b="1" dirty="0">
                <a:solidFill>
                  <a:srgbClr val="13285A"/>
                </a:solidFill>
                <a:latin typeface="Arial" pitchFamily="34" charset="0"/>
                <a:ea typeface="Arial" pitchFamily="34" charset="-122"/>
                <a:cs typeface="Arial" pitchFamily="34" charset="-120"/>
              </a:rPr>
              <a:t>Tên đội: </a:t>
            </a:r>
            <a:pPr indent="0" marL="0">
              <a:buNone/>
            </a:pPr>
            <a:r>
              <a:rPr lang="en-US" sz="1400" b="1" dirty="0">
                <a:solidFill>
                  <a:srgbClr val="F26F21"/>
                </a:solidFill>
                <a:latin typeface="Arial" pitchFamily="34" charset="0"/>
                <a:ea typeface="Arial" pitchFamily="34" charset="-122"/>
                <a:cs typeface="Arial" pitchFamily="34" charset="-120"/>
              </a:rPr>
              <a:t>TEAM VIVA</a:t>
            </a:r>
            <a:pPr indent="0" marL="0">
              <a:buNone/>
            </a:pPr>
            <a:r>
              <a:rPr lang="en-US" sz="1400" dirty="0">
                <a:solidFill>
                  <a:srgbClr val="5B6580"/>
                </a:solidFill>
                <a:latin typeface="Arial" pitchFamily="34" charset="0"/>
                <a:ea typeface="Arial" pitchFamily="34" charset="-122"/>
                <a:cs typeface="Arial" pitchFamily="34" charset="-120"/>
              </a:rPr>
              <a:t>   ·   4 thành viên — phân vai phủ trọn các work-stream của kiến trúc</a:t>
            </a:r>
            <a:endParaRPr lang="en-US" sz="1400" dirty="0"/>
          </a:p>
        </p:txBody>
      </p:sp>
      <p:sp>
        <p:nvSpPr>
          <p:cNvPr id="6" name="Shape 4"/>
          <p:cNvSpPr/>
          <p:nvPr/>
        </p:nvSpPr>
        <p:spPr>
          <a:xfrm>
            <a:off x="502920" y="1371600"/>
            <a:ext cx="5440680" cy="2103120"/>
          </a:xfrm>
          <a:prstGeom prst="roundRect">
            <a:avLst>
              <a:gd name="adj" fmla="val 2391"/>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pic>
        <p:nvPicPr>
          <p:cNvPr id="7" name="Image 0" descr="preencoded.png">    </p:cNvPr>
          <p:cNvPicPr>
            <a:picLocks noChangeAspect="1"/>
          </p:cNvPicPr>
          <p:nvPr/>
        </p:nvPicPr>
        <p:blipFill>
          <a:blip r:embed="rId1"/>
          <a:stretch>
            <a:fillRect/>
          </a:stretch>
        </p:blipFill>
        <p:spPr>
          <a:xfrm>
            <a:off x="777240" y="1737360"/>
            <a:ext cx="1371600" cy="1371600"/>
          </a:xfrm>
          <a:prstGeom prst="ellipse">
            <a:avLst/>
          </a:prstGeom>
        </p:spPr>
      </p:pic>
      <p:sp>
        <p:nvSpPr>
          <p:cNvPr id="8" name="Text 5"/>
          <p:cNvSpPr/>
          <p:nvPr/>
        </p:nvSpPr>
        <p:spPr>
          <a:xfrm>
            <a:off x="2377440" y="1609344"/>
            <a:ext cx="2377440" cy="329184"/>
          </a:xfrm>
          <a:prstGeom prst="rect">
            <a:avLst/>
          </a:prstGeom>
          <a:noFill/>
          <a:ln/>
        </p:spPr>
        <p:txBody>
          <a:bodyPr wrap="square" lIns="0" tIns="0" rIns="0" bIns="0" rtlCol="0" anchor="ctr"/>
          <a:lstStyle/>
          <a:p>
            <a:pPr indent="0" marL="0">
              <a:buNone/>
            </a:pPr>
            <a:r>
              <a:rPr lang="en-US" sz="1400" b="1" dirty="0">
                <a:solidFill>
                  <a:srgbClr val="1A2440"/>
                </a:solidFill>
                <a:latin typeface="Arial" pitchFamily="34" charset="0"/>
                <a:ea typeface="Arial" pitchFamily="34" charset="-122"/>
                <a:cs typeface="Arial" pitchFamily="34" charset="-120"/>
              </a:rPr>
              <a:t>Việt Dương</a:t>
            </a:r>
            <a:endParaRPr lang="en-US" sz="1400" dirty="0"/>
          </a:p>
        </p:txBody>
      </p:sp>
      <p:sp>
        <p:nvSpPr>
          <p:cNvPr id="9" name="Text 6"/>
          <p:cNvSpPr/>
          <p:nvPr/>
        </p:nvSpPr>
        <p:spPr>
          <a:xfrm>
            <a:off x="2377440" y="1938528"/>
            <a:ext cx="3383280" cy="274320"/>
          </a:xfrm>
          <a:prstGeom prst="rect">
            <a:avLst/>
          </a:prstGeom>
          <a:noFill/>
          <a:ln/>
        </p:spPr>
        <p:txBody>
          <a:bodyPr wrap="square" lIns="0" tIns="0" rIns="0" bIns="0" rtlCol="0" anchor="ctr"/>
          <a:lstStyle/>
          <a:p>
            <a:pPr indent="0" marL="0">
              <a:buNone/>
            </a:pPr>
            <a:r>
              <a:rPr lang="en-US" sz="1050" b="1" dirty="0">
                <a:solidFill>
                  <a:srgbClr val="F26F21"/>
                </a:solidFill>
                <a:latin typeface="Arial" pitchFamily="34" charset="0"/>
                <a:ea typeface="Arial" pitchFamily="34" charset="-122"/>
                <a:cs typeface="Arial" pitchFamily="34" charset="-120"/>
              </a:rPr>
              <a:t>Fullstack / Android — HMI &amp; Media</a:t>
            </a:r>
            <a:endParaRPr lang="en-US" sz="1050" dirty="0"/>
          </a:p>
        </p:txBody>
      </p:sp>
      <p:sp>
        <p:nvSpPr>
          <p:cNvPr id="10" name="Text 7"/>
          <p:cNvSpPr/>
          <p:nvPr/>
        </p:nvSpPr>
        <p:spPr>
          <a:xfrm>
            <a:off x="2377440" y="2267712"/>
            <a:ext cx="3364992" cy="1133856"/>
          </a:xfrm>
          <a:prstGeom prst="rect">
            <a:avLst/>
          </a:prstGeom>
          <a:noFill/>
          <a:ln/>
        </p:spPr>
        <p:txBody>
          <a:bodyPr wrap="square" lIns="0" tIns="0" rIns="0" bIns="0" rtlCol="0" anchor="ctr"/>
          <a:lstStyle/>
          <a:p>
            <a:pPr indent="0" marL="0">
              <a:lnSpc>
                <a:spcPct val="108000"/>
              </a:lnSpc>
              <a:buNone/>
            </a:pPr>
            <a:r>
              <a:rPr lang="en-US" sz="960" dirty="0">
                <a:solidFill>
                  <a:srgbClr val="5B6580"/>
                </a:solidFill>
                <a:latin typeface="Arial" pitchFamily="34" charset="0"/>
                <a:ea typeface="Arial" pitchFamily="34" charset="-122"/>
                <a:cs typeface="Arial" pitchFamily="34" charset="-120"/>
              </a:rPr>
              <a:t>Kinh nghiệm phát triển Web &amp; Mobile qua các domain Banking, Transportation, E-Commerce; thế mạnh JavaScript, Java, Kotlin. Phụ trách HMI cockpit trên AAOS, MediaBrowserService / MediaSession và đóng gói APK.</a:t>
            </a:r>
            <a:endParaRPr lang="en-US" sz="960" dirty="0"/>
          </a:p>
        </p:txBody>
      </p:sp>
      <p:sp>
        <p:nvSpPr>
          <p:cNvPr id="11" name="Shape 8"/>
          <p:cNvSpPr/>
          <p:nvPr/>
        </p:nvSpPr>
        <p:spPr>
          <a:xfrm>
            <a:off x="6245352" y="1371600"/>
            <a:ext cx="5440680" cy="2103120"/>
          </a:xfrm>
          <a:prstGeom prst="roundRect">
            <a:avLst>
              <a:gd name="adj" fmla="val 2391"/>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pic>
        <p:nvPicPr>
          <p:cNvPr id="12" name="Image 1" descr="preencoded.png">    </p:cNvPr>
          <p:cNvPicPr>
            <a:picLocks noChangeAspect="1"/>
          </p:cNvPicPr>
          <p:nvPr/>
        </p:nvPicPr>
        <p:blipFill>
          <a:blip r:embed="rId2"/>
          <a:stretch>
            <a:fillRect/>
          </a:stretch>
        </p:blipFill>
        <p:spPr>
          <a:xfrm>
            <a:off x="6519672" y="1737360"/>
            <a:ext cx="1371600" cy="1371600"/>
          </a:xfrm>
          <a:prstGeom prst="ellipse">
            <a:avLst/>
          </a:prstGeom>
        </p:spPr>
      </p:pic>
      <p:sp>
        <p:nvSpPr>
          <p:cNvPr id="13" name="Text 9"/>
          <p:cNvSpPr/>
          <p:nvPr/>
        </p:nvSpPr>
        <p:spPr>
          <a:xfrm>
            <a:off x="8119872" y="1609344"/>
            <a:ext cx="2377440" cy="329184"/>
          </a:xfrm>
          <a:prstGeom prst="rect">
            <a:avLst/>
          </a:prstGeom>
          <a:noFill/>
          <a:ln/>
        </p:spPr>
        <p:txBody>
          <a:bodyPr wrap="square" lIns="0" tIns="0" rIns="0" bIns="0" rtlCol="0" anchor="ctr"/>
          <a:lstStyle/>
          <a:p>
            <a:pPr indent="0" marL="0">
              <a:buNone/>
            </a:pPr>
            <a:r>
              <a:rPr lang="en-US" sz="1400" b="1" dirty="0">
                <a:solidFill>
                  <a:srgbClr val="1A2440"/>
                </a:solidFill>
                <a:latin typeface="Arial" pitchFamily="34" charset="0"/>
                <a:ea typeface="Arial" pitchFamily="34" charset="-122"/>
                <a:cs typeface="Arial" pitchFamily="34" charset="-120"/>
              </a:rPr>
              <a:t>Lê Đức Tùng</a:t>
            </a:r>
            <a:endParaRPr lang="en-US" sz="1400" dirty="0"/>
          </a:p>
        </p:txBody>
      </p:sp>
      <p:sp>
        <p:nvSpPr>
          <p:cNvPr id="14" name="Text 10"/>
          <p:cNvSpPr/>
          <p:nvPr/>
        </p:nvSpPr>
        <p:spPr>
          <a:xfrm>
            <a:off x="8119872" y="1938528"/>
            <a:ext cx="3383280" cy="274320"/>
          </a:xfrm>
          <a:prstGeom prst="rect">
            <a:avLst/>
          </a:prstGeom>
          <a:noFill/>
          <a:ln/>
        </p:spPr>
        <p:txBody>
          <a:bodyPr wrap="square" lIns="0" tIns="0" rIns="0" bIns="0" rtlCol="0" anchor="ctr"/>
          <a:lstStyle/>
          <a:p>
            <a:pPr indent="0" marL="0">
              <a:buNone/>
            </a:pPr>
            <a:r>
              <a:rPr lang="en-US" sz="1050" b="1" dirty="0">
                <a:solidFill>
                  <a:srgbClr val="F26F21"/>
                </a:solidFill>
                <a:latin typeface="Arial" pitchFamily="34" charset="0"/>
                <a:ea typeface="Arial" pitchFamily="34" charset="-122"/>
                <a:cs typeface="Arial" pitchFamily="34" charset="-120"/>
              </a:rPr>
              <a:t>Embedded / System — VHAL &amp; DTC</a:t>
            </a:r>
            <a:endParaRPr lang="en-US" sz="1050" dirty="0"/>
          </a:p>
        </p:txBody>
      </p:sp>
      <p:sp>
        <p:nvSpPr>
          <p:cNvPr id="15" name="Text 11"/>
          <p:cNvSpPr/>
          <p:nvPr/>
        </p:nvSpPr>
        <p:spPr>
          <a:xfrm>
            <a:off x="8119872" y="2267712"/>
            <a:ext cx="3364992" cy="1133856"/>
          </a:xfrm>
          <a:prstGeom prst="rect">
            <a:avLst/>
          </a:prstGeom>
          <a:noFill/>
          <a:ln/>
        </p:spPr>
        <p:txBody>
          <a:bodyPr wrap="square" lIns="0" tIns="0" rIns="0" bIns="0" rtlCol="0" anchor="ctr"/>
          <a:lstStyle/>
          <a:p>
            <a:pPr indent="0" marL="0">
              <a:lnSpc>
                <a:spcPct val="108000"/>
              </a:lnSpc>
              <a:buNone/>
            </a:pPr>
            <a:r>
              <a:rPr lang="en-US" sz="960" dirty="0">
                <a:solidFill>
                  <a:srgbClr val="5B6580"/>
                </a:solidFill>
                <a:latin typeface="Arial" pitchFamily="34" charset="0"/>
                <a:ea typeface="Arial" pitchFamily="34" charset="-122"/>
                <a:cs typeface="Arial" pitchFamily="34" charset="-120"/>
              </a:rPr>
              <a:t>Sinh viên năm cuối ngành Điện tử – Viễn thông; kinh nghiệm thực tập trong lĩnh vực điện tử &amp; IoT; sử dụng C/C++, VHDL, Python. Phụ trách tầng tín hiệu xe: CarPropertyManager ↔ VHAL (HVAC, DOOR) và DTC/UDS simulator.</a:t>
            </a:r>
            <a:endParaRPr lang="en-US" sz="960" dirty="0"/>
          </a:p>
        </p:txBody>
      </p:sp>
      <p:sp>
        <p:nvSpPr>
          <p:cNvPr id="16" name="Shape 12"/>
          <p:cNvSpPr/>
          <p:nvPr/>
        </p:nvSpPr>
        <p:spPr>
          <a:xfrm>
            <a:off x="502920" y="3657600"/>
            <a:ext cx="5440680" cy="2103120"/>
          </a:xfrm>
          <a:prstGeom prst="roundRect">
            <a:avLst>
              <a:gd name="adj" fmla="val 2391"/>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pic>
        <p:nvPicPr>
          <p:cNvPr id="17" name="Image 2" descr="preencoded.png">    </p:cNvPr>
          <p:cNvPicPr>
            <a:picLocks noChangeAspect="1"/>
          </p:cNvPicPr>
          <p:nvPr/>
        </p:nvPicPr>
        <p:blipFill>
          <a:blip r:embed="rId3"/>
          <a:stretch>
            <a:fillRect/>
          </a:stretch>
        </p:blipFill>
        <p:spPr>
          <a:xfrm>
            <a:off x="777240" y="4023360"/>
            <a:ext cx="1371600" cy="1371600"/>
          </a:xfrm>
          <a:prstGeom prst="ellipse">
            <a:avLst/>
          </a:prstGeom>
        </p:spPr>
      </p:pic>
      <p:sp>
        <p:nvSpPr>
          <p:cNvPr id="18" name="Text 13"/>
          <p:cNvSpPr/>
          <p:nvPr/>
        </p:nvSpPr>
        <p:spPr>
          <a:xfrm>
            <a:off x="2377440" y="3895344"/>
            <a:ext cx="2377440" cy="329184"/>
          </a:xfrm>
          <a:prstGeom prst="rect">
            <a:avLst/>
          </a:prstGeom>
          <a:noFill/>
          <a:ln/>
        </p:spPr>
        <p:txBody>
          <a:bodyPr wrap="square" lIns="0" tIns="0" rIns="0" bIns="0" rtlCol="0" anchor="ctr"/>
          <a:lstStyle/>
          <a:p>
            <a:pPr indent="0" marL="0">
              <a:buNone/>
            </a:pPr>
            <a:r>
              <a:rPr lang="en-US" sz="1400" b="1" dirty="0">
                <a:solidFill>
                  <a:srgbClr val="1A2440"/>
                </a:solidFill>
                <a:latin typeface="Arial" pitchFamily="34" charset="0"/>
                <a:ea typeface="Arial" pitchFamily="34" charset="-122"/>
                <a:cs typeface="Arial" pitchFamily="34" charset="-120"/>
              </a:rPr>
              <a:t>Lê Công Vĩ</a:t>
            </a:r>
            <a:endParaRPr lang="en-US" sz="1400" dirty="0"/>
          </a:p>
        </p:txBody>
      </p:sp>
      <p:sp>
        <p:nvSpPr>
          <p:cNvPr id="19" name="Text 14"/>
          <p:cNvSpPr/>
          <p:nvPr/>
        </p:nvSpPr>
        <p:spPr>
          <a:xfrm>
            <a:off x="2377440" y="4224528"/>
            <a:ext cx="3383280" cy="274320"/>
          </a:xfrm>
          <a:prstGeom prst="rect">
            <a:avLst/>
          </a:prstGeom>
          <a:noFill/>
          <a:ln/>
        </p:spPr>
        <p:txBody>
          <a:bodyPr wrap="square" lIns="0" tIns="0" rIns="0" bIns="0" rtlCol="0" anchor="ctr"/>
          <a:lstStyle/>
          <a:p>
            <a:pPr indent="0" marL="0">
              <a:buNone/>
            </a:pPr>
            <a:r>
              <a:rPr lang="en-US" sz="1050" b="1" dirty="0">
                <a:solidFill>
                  <a:srgbClr val="F26F21"/>
                </a:solidFill>
                <a:latin typeface="Arial" pitchFamily="34" charset="0"/>
                <a:ea typeface="Arial" pitchFamily="34" charset="-122"/>
                <a:cs typeface="Arial" pitchFamily="34" charset="-120"/>
              </a:rPr>
              <a:t>Senior Backend — Agent &amp; DevOps</a:t>
            </a:r>
            <a:endParaRPr lang="en-US" sz="1050" dirty="0"/>
          </a:p>
        </p:txBody>
      </p:sp>
      <p:sp>
        <p:nvSpPr>
          <p:cNvPr id="20" name="Text 15"/>
          <p:cNvSpPr/>
          <p:nvPr/>
        </p:nvSpPr>
        <p:spPr>
          <a:xfrm>
            <a:off x="2377440" y="4553712"/>
            <a:ext cx="3364992" cy="1133856"/>
          </a:xfrm>
          <a:prstGeom prst="rect">
            <a:avLst/>
          </a:prstGeom>
          <a:noFill/>
          <a:ln/>
        </p:spPr>
        <p:txBody>
          <a:bodyPr wrap="square" lIns="0" tIns="0" rIns="0" bIns="0" rtlCol="0" anchor="ctr"/>
          <a:lstStyle/>
          <a:p>
            <a:pPr indent="0" marL="0">
              <a:lnSpc>
                <a:spcPct val="108000"/>
              </a:lnSpc>
              <a:buNone/>
            </a:pPr>
            <a:r>
              <a:rPr lang="en-US" sz="960" dirty="0">
                <a:solidFill>
                  <a:srgbClr val="5B6580"/>
                </a:solidFill>
                <a:latin typeface="Arial" pitchFamily="34" charset="0"/>
                <a:ea typeface="Arial" pitchFamily="34" charset="-122"/>
                <a:cs typeface="Arial" pitchFamily="34" charset="-120"/>
              </a:rPr>
              <a:t>Senior Backend Engineer với kinh nghiệm cả môi trường tập đoàn lẫn startup; chuyên hệ thống scalable, high-availability, DevOps và AI. Phụ trách intent router, LLM function-calling, delivery simulator &amp; benchmark harness.</a:t>
            </a:r>
            <a:endParaRPr lang="en-US" sz="960" dirty="0"/>
          </a:p>
        </p:txBody>
      </p:sp>
      <p:sp>
        <p:nvSpPr>
          <p:cNvPr id="21" name="Shape 16"/>
          <p:cNvSpPr/>
          <p:nvPr/>
        </p:nvSpPr>
        <p:spPr>
          <a:xfrm>
            <a:off x="6245352" y="3657600"/>
            <a:ext cx="5440680" cy="2103120"/>
          </a:xfrm>
          <a:prstGeom prst="roundRect">
            <a:avLst>
              <a:gd name="adj" fmla="val 2391"/>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pic>
        <p:nvPicPr>
          <p:cNvPr id="22" name="Image 3" descr="preencoded.png">    </p:cNvPr>
          <p:cNvPicPr>
            <a:picLocks noChangeAspect="1"/>
          </p:cNvPicPr>
          <p:nvPr/>
        </p:nvPicPr>
        <p:blipFill>
          <a:blip r:embed="rId4"/>
          <a:stretch>
            <a:fillRect/>
          </a:stretch>
        </p:blipFill>
        <p:spPr>
          <a:xfrm>
            <a:off x="6519672" y="4023360"/>
            <a:ext cx="1371600" cy="1371600"/>
          </a:xfrm>
          <a:prstGeom prst="ellipse">
            <a:avLst/>
          </a:prstGeom>
        </p:spPr>
      </p:pic>
      <p:sp>
        <p:nvSpPr>
          <p:cNvPr id="23" name="Text 17"/>
          <p:cNvSpPr/>
          <p:nvPr/>
        </p:nvSpPr>
        <p:spPr>
          <a:xfrm>
            <a:off x="8119872" y="3895344"/>
            <a:ext cx="2377440" cy="329184"/>
          </a:xfrm>
          <a:prstGeom prst="rect">
            <a:avLst/>
          </a:prstGeom>
          <a:noFill/>
          <a:ln/>
        </p:spPr>
        <p:txBody>
          <a:bodyPr wrap="square" lIns="0" tIns="0" rIns="0" bIns="0" rtlCol="0" anchor="ctr"/>
          <a:lstStyle/>
          <a:p>
            <a:pPr indent="0" marL="0">
              <a:buNone/>
            </a:pPr>
            <a:r>
              <a:rPr lang="en-US" sz="1400" b="1" dirty="0">
                <a:solidFill>
                  <a:srgbClr val="1A2440"/>
                </a:solidFill>
                <a:latin typeface="Arial" pitchFamily="34" charset="0"/>
                <a:ea typeface="Arial" pitchFamily="34" charset="-122"/>
                <a:cs typeface="Arial" pitchFamily="34" charset="-120"/>
              </a:rPr>
              <a:t>Ngô Văn Long</a:t>
            </a:r>
            <a:endParaRPr lang="en-US" sz="1400" dirty="0"/>
          </a:p>
        </p:txBody>
      </p:sp>
      <p:sp>
        <p:nvSpPr>
          <p:cNvPr id="24" name="Text 18"/>
          <p:cNvSpPr/>
          <p:nvPr/>
        </p:nvSpPr>
        <p:spPr>
          <a:xfrm>
            <a:off x="8119872" y="4224528"/>
            <a:ext cx="3383280" cy="274320"/>
          </a:xfrm>
          <a:prstGeom prst="rect">
            <a:avLst/>
          </a:prstGeom>
          <a:noFill/>
          <a:ln/>
        </p:spPr>
        <p:txBody>
          <a:bodyPr wrap="square" lIns="0" tIns="0" rIns="0" bIns="0" rtlCol="0" anchor="ctr"/>
          <a:lstStyle/>
          <a:p>
            <a:pPr indent="0" marL="0">
              <a:buNone/>
            </a:pPr>
            <a:r>
              <a:rPr lang="en-US" sz="1050" b="1" dirty="0">
                <a:solidFill>
                  <a:srgbClr val="F26F21"/>
                </a:solidFill>
                <a:latin typeface="Arial" pitchFamily="34" charset="0"/>
                <a:ea typeface="Arial" pitchFamily="34" charset="-122"/>
                <a:cs typeface="Arial" pitchFamily="34" charset="-120"/>
              </a:rPr>
              <a:t>AI Engineer — Voice AI &amp; Kiến trúc</a:t>
            </a:r>
            <a:endParaRPr lang="en-US" sz="1050" dirty="0"/>
          </a:p>
        </p:txBody>
      </p:sp>
      <p:sp>
        <p:nvSpPr>
          <p:cNvPr id="25" name="Text 19"/>
          <p:cNvSpPr/>
          <p:nvPr/>
        </p:nvSpPr>
        <p:spPr>
          <a:xfrm>
            <a:off x="8119872" y="4553712"/>
            <a:ext cx="3364992" cy="1133856"/>
          </a:xfrm>
          <a:prstGeom prst="rect">
            <a:avLst/>
          </a:prstGeom>
          <a:noFill/>
          <a:ln/>
        </p:spPr>
        <p:txBody>
          <a:bodyPr wrap="square" lIns="0" tIns="0" rIns="0" bIns="0" rtlCol="0" anchor="ctr"/>
          <a:lstStyle/>
          <a:p>
            <a:pPr indent="0" marL="0">
              <a:lnSpc>
                <a:spcPct val="108000"/>
              </a:lnSpc>
              <a:buNone/>
            </a:pPr>
            <a:r>
              <a:rPr lang="en-US" sz="960" dirty="0">
                <a:solidFill>
                  <a:srgbClr val="5B6580"/>
                </a:solidFill>
                <a:latin typeface="Arial" pitchFamily="34" charset="0"/>
                <a:ea typeface="Arial" pitchFamily="34" charset="-122"/>
                <a:cs typeface="Arial" pitchFamily="34" charset="-120"/>
              </a:rPr>
              <a:t>3 năm kinh nghiệm AI tại FPT Software, Samsung SDS và VinSmart Future — các dự án LLM, Computer Vision, Speech-to-Text. Xây pipeline VAD/ASR production đạt WER &lt;5% (Whisper/PhoWhisper, ONNX, Triton). Phụ trách voice pipeline, intent router &amp; kiến trúc tổng.</a:t>
            </a:r>
            <a:endParaRPr lang="en-US" sz="960" dirty="0"/>
          </a:p>
        </p:txBody>
      </p:sp>
      <p:sp>
        <p:nvSpPr>
          <p:cNvPr id="26" name="Shape 20"/>
          <p:cNvSpPr/>
          <p:nvPr/>
        </p:nvSpPr>
        <p:spPr>
          <a:xfrm>
            <a:off x="10469880" y="3895344"/>
            <a:ext cx="1024128" cy="292608"/>
          </a:xfrm>
          <a:prstGeom prst="roundRect">
            <a:avLst>
              <a:gd name="adj" fmla="val 50000"/>
            </a:avLst>
          </a:prstGeom>
          <a:solidFill>
            <a:srgbClr val="F26F21"/>
          </a:solidFill>
          <a:ln/>
        </p:spPr>
      </p:sp>
      <p:sp>
        <p:nvSpPr>
          <p:cNvPr id="27" name="Text 21"/>
          <p:cNvSpPr/>
          <p:nvPr/>
        </p:nvSpPr>
        <p:spPr>
          <a:xfrm>
            <a:off x="10469880" y="3895344"/>
            <a:ext cx="1024128"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ĐỘI TRƯỞNG</a:t>
            </a:r>
            <a:endParaRPr lang="en-US" sz="800" dirty="0"/>
          </a:p>
        </p:txBody>
      </p:sp>
      <p:sp>
        <p:nvSpPr>
          <p:cNvPr id="28" name="Text 22"/>
          <p:cNvSpPr/>
          <p:nvPr/>
        </p:nvSpPr>
        <p:spPr>
          <a:xfrm>
            <a:off x="502920" y="5897880"/>
            <a:ext cx="11155680" cy="310896"/>
          </a:xfrm>
          <a:prstGeom prst="rect">
            <a:avLst/>
          </a:prstGeom>
          <a:noFill/>
          <a:ln/>
        </p:spPr>
        <p:txBody>
          <a:bodyPr wrap="square" lIns="0" tIns="0" rIns="0" bIns="0" rtlCol="0" anchor="ctr"/>
          <a:lstStyle/>
          <a:p>
            <a:pPr indent="0" marL="0">
              <a:buNone/>
            </a:pPr>
            <a:r>
              <a:rPr lang="en-US" sz="1000" i="1" dirty="0">
                <a:solidFill>
                  <a:srgbClr val="5B6580"/>
                </a:solidFill>
                <a:latin typeface="Arial" pitchFamily="34" charset="0"/>
                <a:ea typeface="Arial" pitchFamily="34" charset="-122"/>
                <a:cs typeface="Arial" pitchFamily="34" charset="-120"/>
              </a:rPr>
              <a:t>Kịch bản demo, video &amp; write-up: cả đội cùng thực hiện, đội trưởng điều phối — mỗi thành viên chịu trách nhiệm demo phần mình phụ trách.</a:t>
            </a:r>
            <a:endParaRPr lang="en-US" sz="1000" dirty="0"/>
          </a:p>
        </p:txBody>
      </p:sp>
      <p:sp>
        <p:nvSpPr>
          <p:cNvPr id="30" name="Text 23"/>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31" name="Text 24"/>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BÀI TẬP LỰA CHỌN</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502920" y="987552"/>
            <a:ext cx="11183112" cy="1078992"/>
          </a:xfrm>
          <a:prstGeom prst="roundRect">
            <a:avLst>
              <a:gd name="adj" fmla="val 4661"/>
            </a:avLst>
          </a:prstGeom>
          <a:solidFill>
            <a:srgbClr val="13285A"/>
          </a:solidFill>
          <a:ln w="12700">
            <a:solidFill>
              <a:srgbClr val="13285A"/>
            </a:solidFill>
            <a:prstDash val="solid"/>
          </a:ln>
          <a:effectLst>
            <a:outerShdw sx="100000" sy="100000" kx="0" ky="0" algn="bl" rotWithShape="0" blurRad="88900" dist="25400" dir="5400000">
              <a:srgbClr val="1A2440">
                <a:alpha val="18000"/>
              </a:srgbClr>
            </a:outerShdw>
          </a:effectLst>
        </p:spPr>
      </p:sp>
      <p:sp>
        <p:nvSpPr>
          <p:cNvPr id="6" name="Shape 4"/>
          <p:cNvSpPr/>
          <p:nvPr/>
        </p:nvSpPr>
        <p:spPr>
          <a:xfrm>
            <a:off x="777240" y="1170432"/>
            <a:ext cx="713232" cy="713232"/>
          </a:xfrm>
          <a:prstGeom prst="ellipse">
            <a:avLst/>
          </a:prstGeom>
          <a:solidFill>
            <a:srgbClr val="F26F21"/>
          </a:solidFill>
          <a:ln/>
        </p:spPr>
      </p:sp>
      <p:pic>
        <p:nvPicPr>
          <p:cNvPr id="7" name="Image 0" descr="preencoded.png">    </p:cNvPr>
          <p:cNvPicPr>
            <a:picLocks noChangeAspect="1"/>
          </p:cNvPicPr>
          <p:nvPr/>
        </p:nvPicPr>
        <p:blipFill>
          <a:blip r:embed="rId1"/>
          <a:stretch>
            <a:fillRect/>
          </a:stretch>
        </p:blipFill>
        <p:spPr>
          <a:xfrm>
            <a:off x="948416" y="1341608"/>
            <a:ext cx="370881" cy="370881"/>
          </a:xfrm>
          <a:prstGeom prst="rect">
            <a:avLst/>
          </a:prstGeom>
        </p:spPr>
      </p:pic>
      <p:sp>
        <p:nvSpPr>
          <p:cNvPr id="8" name="Text 5"/>
          <p:cNvSpPr/>
          <p:nvPr/>
        </p:nvSpPr>
        <p:spPr>
          <a:xfrm>
            <a:off x="1691640" y="1097280"/>
            <a:ext cx="978408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CORE · Challenge #3 — VOICE-CONTROLLED ASSISTANT   </a:t>
            </a:r>
            <a:pPr indent="0" marL="0">
              <a:buNone/>
            </a:pPr>
            <a:r>
              <a:rPr lang="en-US" sz="1300" b="1" dirty="0">
                <a:solidFill>
                  <a:srgbClr val="F26F21"/>
                </a:solidFill>
                <a:latin typeface="Arial" pitchFamily="34" charset="0"/>
                <a:ea typeface="Arial" pitchFamily="34" charset="-122"/>
                <a:cs typeface="Arial" pitchFamily="34" charset="-120"/>
              </a:rPr>
              <a:t>★★★☆☆ · Simulation-based</a:t>
            </a:r>
            <a:endParaRPr lang="en-US" sz="1600" dirty="0"/>
          </a:p>
        </p:txBody>
      </p:sp>
      <p:sp>
        <p:nvSpPr>
          <p:cNvPr id="9" name="Text 6"/>
          <p:cNvSpPr/>
          <p:nvPr/>
        </p:nvSpPr>
        <p:spPr>
          <a:xfrm>
            <a:off x="1691640" y="1517904"/>
            <a:ext cx="9784080" cy="384048"/>
          </a:xfrm>
          <a:prstGeom prst="rect">
            <a:avLst/>
          </a:prstGeom>
          <a:noFill/>
          <a:ln/>
        </p:spPr>
        <p:txBody>
          <a:bodyPr wrap="square" lIns="0" tIns="0" rIns="0" bIns="0" rtlCol="0" anchor="ctr"/>
          <a:lstStyle/>
          <a:p>
            <a:pPr indent="0" marL="0">
              <a:buNone/>
            </a:pPr>
            <a:r>
              <a:rPr lang="en-US" sz="1150" dirty="0">
                <a:solidFill>
                  <a:srgbClr val="AEC0E8"/>
                </a:solidFill>
                <a:latin typeface="Arial" pitchFamily="34" charset="0"/>
                <a:ea typeface="Arial" pitchFamily="34" charset="-122"/>
                <a:cs typeface="Arial" pitchFamily="34" charset="-120"/>
              </a:rPr>
              <a:t>Persona duy nhất: TÀI XẾ VAN / XE TẢI GIAO HÀNG CHẶNG CUỐI — thu hẹp câu chuyện để làm sâu, không thu hẹp phạm vi đề.</a:t>
            </a:r>
            <a:endParaRPr lang="en-US" sz="1150" dirty="0"/>
          </a:p>
        </p:txBody>
      </p:sp>
      <p:sp>
        <p:nvSpPr>
          <p:cNvPr id="10" name="Shape 7"/>
          <p:cNvSpPr/>
          <p:nvPr/>
        </p:nvSpPr>
        <p:spPr>
          <a:xfrm>
            <a:off x="502920" y="2267712"/>
            <a:ext cx="3557016" cy="2084832"/>
          </a:xfrm>
          <a:prstGeom prst="roundRect">
            <a:avLst>
              <a:gd name="adj" fmla="val 2412"/>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1" name="Shape 8"/>
          <p:cNvSpPr/>
          <p:nvPr/>
        </p:nvSpPr>
        <p:spPr>
          <a:xfrm>
            <a:off x="731520" y="2487168"/>
            <a:ext cx="603504" cy="603504"/>
          </a:xfrm>
          <a:prstGeom prst="ellipse">
            <a:avLst/>
          </a:prstGeom>
          <a:solidFill>
            <a:srgbClr val="13285A"/>
          </a:solidFill>
          <a:ln/>
        </p:spPr>
      </p:sp>
      <p:pic>
        <p:nvPicPr>
          <p:cNvPr id="12" name="Image 1" descr="preencoded.png">    </p:cNvPr>
          <p:cNvPicPr>
            <a:picLocks noChangeAspect="1"/>
          </p:cNvPicPr>
          <p:nvPr/>
        </p:nvPicPr>
        <p:blipFill>
          <a:blip r:embed="rId2"/>
          <a:stretch>
            <a:fillRect/>
          </a:stretch>
        </p:blipFill>
        <p:spPr>
          <a:xfrm>
            <a:off x="876361" y="2632009"/>
            <a:ext cx="313822" cy="313822"/>
          </a:xfrm>
          <a:prstGeom prst="rect">
            <a:avLst/>
          </a:prstGeom>
        </p:spPr>
      </p:pic>
      <p:sp>
        <p:nvSpPr>
          <p:cNvPr id="13" name="Text 9"/>
          <p:cNvSpPr/>
          <p:nvPr/>
        </p:nvSpPr>
        <p:spPr>
          <a:xfrm>
            <a:off x="1463040" y="2505456"/>
            <a:ext cx="2468880" cy="310896"/>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#1 Media Player</a:t>
            </a:r>
            <a:endParaRPr lang="en-US" sz="1350" dirty="0"/>
          </a:p>
        </p:txBody>
      </p:sp>
      <p:sp>
        <p:nvSpPr>
          <p:cNvPr id="14" name="Text 10"/>
          <p:cNvSpPr/>
          <p:nvPr/>
        </p:nvSpPr>
        <p:spPr>
          <a:xfrm>
            <a:off x="1463040" y="2816352"/>
            <a:ext cx="2468880" cy="256032"/>
          </a:xfrm>
          <a:prstGeom prst="rect">
            <a:avLst/>
          </a:prstGeom>
          <a:noFill/>
          <a:ln/>
        </p:spPr>
        <p:txBody>
          <a:bodyPr wrap="square" lIns="0" tIns="0" rIns="0" bIns="0" rtlCol="0" anchor="ctr"/>
          <a:lstStyle/>
          <a:p>
            <a:pPr indent="0" marL="0">
              <a:buNone/>
            </a:pPr>
            <a:r>
              <a:rPr lang="en-US" sz="1000" b="1" dirty="0">
                <a:solidFill>
                  <a:srgbClr val="F26F21"/>
                </a:solidFill>
                <a:latin typeface="Arial" pitchFamily="34" charset="0"/>
                <a:ea typeface="Arial" pitchFamily="34" charset="-122"/>
                <a:cs typeface="Arial" pitchFamily="34" charset="-120"/>
              </a:rPr>
              <a:t>Skill của trợ lý</a:t>
            </a:r>
            <a:endParaRPr lang="en-US" sz="1000" dirty="0"/>
          </a:p>
        </p:txBody>
      </p:sp>
      <p:sp>
        <p:nvSpPr>
          <p:cNvPr id="15" name="Text 11"/>
          <p:cNvSpPr/>
          <p:nvPr/>
        </p:nvSpPr>
        <p:spPr>
          <a:xfrm>
            <a:off x="731520" y="3200400"/>
            <a:ext cx="3108960" cy="713232"/>
          </a:xfrm>
          <a:prstGeom prst="rect">
            <a:avLst/>
          </a:prstGeom>
          <a:noFill/>
          <a:ln/>
        </p:spPr>
        <p:txBody>
          <a:bodyPr wrap="square" lIns="0" tIns="0" rIns="0" bIns="0" rtlCol="0" anchor="ctr"/>
          <a:lstStyle/>
          <a:p>
            <a:pPr indent="0" marL="0">
              <a:lnSpc>
                <a:spcPct val="108000"/>
              </a:lnSpc>
              <a:buNone/>
            </a:pPr>
            <a:r>
              <a:rPr lang="en-US" sz="1050" dirty="0">
                <a:solidFill>
                  <a:srgbClr val="5B6580"/>
                </a:solidFill>
                <a:latin typeface="Arial" pitchFamily="34" charset="0"/>
                <a:ea typeface="Arial" pitchFamily="34" charset="-122"/>
                <a:cs typeface="Arial" pitchFamily="34" charset="-120"/>
              </a:rPr>
              <a:t>“Phát playlist, chuyển bài” — điều khiển thật qua MediaSession</a:t>
            </a:r>
            <a:endParaRPr lang="en-US" sz="1050" dirty="0"/>
          </a:p>
        </p:txBody>
      </p:sp>
      <p:sp>
        <p:nvSpPr>
          <p:cNvPr id="16" name="Shape 12"/>
          <p:cNvSpPr/>
          <p:nvPr/>
        </p:nvSpPr>
        <p:spPr>
          <a:xfrm>
            <a:off x="731520" y="3931920"/>
            <a:ext cx="3108960" cy="310896"/>
          </a:xfrm>
          <a:prstGeom prst="roundRect">
            <a:avLst>
              <a:gd name="adj" fmla="val 50000"/>
            </a:avLst>
          </a:prstGeom>
          <a:solidFill>
            <a:srgbClr val="13285A"/>
          </a:solidFill>
          <a:ln/>
        </p:spPr>
      </p:sp>
      <p:sp>
        <p:nvSpPr>
          <p:cNvPr id="17" name="Text 13"/>
          <p:cNvSpPr/>
          <p:nvPr/>
        </p:nvSpPr>
        <p:spPr>
          <a:xfrm>
            <a:off x="731520" y="3931920"/>
            <a:ext cx="31089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Starter: Virtual USB device</a:t>
            </a:r>
            <a:endParaRPr lang="en-US" sz="900" dirty="0"/>
          </a:p>
        </p:txBody>
      </p:sp>
      <p:sp>
        <p:nvSpPr>
          <p:cNvPr id="18" name="Shape 14"/>
          <p:cNvSpPr/>
          <p:nvPr/>
        </p:nvSpPr>
        <p:spPr>
          <a:xfrm>
            <a:off x="4315968" y="2267712"/>
            <a:ext cx="3557016" cy="2084832"/>
          </a:xfrm>
          <a:prstGeom prst="roundRect">
            <a:avLst>
              <a:gd name="adj" fmla="val 2412"/>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9" name="Shape 15"/>
          <p:cNvSpPr/>
          <p:nvPr/>
        </p:nvSpPr>
        <p:spPr>
          <a:xfrm>
            <a:off x="4544568" y="2487168"/>
            <a:ext cx="603504" cy="603504"/>
          </a:xfrm>
          <a:prstGeom prst="ellipse">
            <a:avLst/>
          </a:prstGeom>
          <a:solidFill>
            <a:srgbClr val="13285A"/>
          </a:solidFill>
          <a:ln/>
        </p:spPr>
      </p:sp>
      <p:pic>
        <p:nvPicPr>
          <p:cNvPr id="20" name="Image 2" descr="preencoded.png">    </p:cNvPr>
          <p:cNvPicPr>
            <a:picLocks noChangeAspect="1"/>
          </p:cNvPicPr>
          <p:nvPr/>
        </p:nvPicPr>
        <p:blipFill>
          <a:blip r:embed="rId3"/>
          <a:stretch>
            <a:fillRect/>
          </a:stretch>
        </p:blipFill>
        <p:spPr>
          <a:xfrm>
            <a:off x="4689409" y="2632009"/>
            <a:ext cx="313822" cy="313822"/>
          </a:xfrm>
          <a:prstGeom prst="rect">
            <a:avLst/>
          </a:prstGeom>
        </p:spPr>
      </p:pic>
      <p:sp>
        <p:nvSpPr>
          <p:cNvPr id="21" name="Text 16"/>
          <p:cNvSpPr/>
          <p:nvPr/>
        </p:nvSpPr>
        <p:spPr>
          <a:xfrm>
            <a:off x="5276088" y="2505456"/>
            <a:ext cx="2468880" cy="310896"/>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#2 Climate / VHAL</a:t>
            </a:r>
            <a:endParaRPr lang="en-US" sz="1350" dirty="0"/>
          </a:p>
        </p:txBody>
      </p:sp>
      <p:sp>
        <p:nvSpPr>
          <p:cNvPr id="22" name="Text 17"/>
          <p:cNvSpPr/>
          <p:nvPr/>
        </p:nvSpPr>
        <p:spPr>
          <a:xfrm>
            <a:off x="5276088" y="2816352"/>
            <a:ext cx="2468880" cy="256032"/>
          </a:xfrm>
          <a:prstGeom prst="rect">
            <a:avLst/>
          </a:prstGeom>
          <a:noFill/>
          <a:ln/>
        </p:spPr>
        <p:txBody>
          <a:bodyPr wrap="square" lIns="0" tIns="0" rIns="0" bIns="0" rtlCol="0" anchor="ctr"/>
          <a:lstStyle/>
          <a:p>
            <a:pPr indent="0" marL="0">
              <a:buNone/>
            </a:pPr>
            <a:r>
              <a:rPr lang="en-US" sz="1000" b="1" dirty="0">
                <a:solidFill>
                  <a:srgbClr val="F26F21"/>
                </a:solidFill>
                <a:latin typeface="Arial" pitchFamily="34" charset="0"/>
                <a:ea typeface="Arial" pitchFamily="34" charset="-122"/>
                <a:cs typeface="Arial" pitchFamily="34" charset="-120"/>
              </a:rPr>
              <a:t>Skill của trợ lý</a:t>
            </a:r>
            <a:endParaRPr lang="en-US" sz="1000" dirty="0"/>
          </a:p>
        </p:txBody>
      </p:sp>
      <p:sp>
        <p:nvSpPr>
          <p:cNvPr id="23" name="Text 18"/>
          <p:cNvSpPr/>
          <p:nvPr/>
        </p:nvSpPr>
        <p:spPr>
          <a:xfrm>
            <a:off x="4544568" y="3200400"/>
            <a:ext cx="3108960" cy="713232"/>
          </a:xfrm>
          <a:prstGeom prst="rect">
            <a:avLst/>
          </a:prstGeom>
          <a:noFill/>
          <a:ln/>
        </p:spPr>
        <p:txBody>
          <a:bodyPr wrap="square" lIns="0" tIns="0" rIns="0" bIns="0" rtlCol="0" anchor="ctr"/>
          <a:lstStyle/>
          <a:p>
            <a:pPr indent="0" marL="0">
              <a:lnSpc>
                <a:spcPct val="108000"/>
              </a:lnSpc>
              <a:buNone/>
            </a:pPr>
            <a:r>
              <a:rPr lang="en-US" sz="1050" dirty="0">
                <a:solidFill>
                  <a:srgbClr val="5B6580"/>
                </a:solidFill>
                <a:latin typeface="Arial" pitchFamily="34" charset="0"/>
                <a:ea typeface="Arial" pitchFamily="34" charset="-122"/>
                <a:cs typeface="Arial" pitchFamily="34" charset="-120"/>
              </a:rPr>
              <a:t>“Hạ 22 độ, quạt mức 2” — set property thật qua VHAL</a:t>
            </a:r>
            <a:endParaRPr lang="en-US" sz="1050" dirty="0"/>
          </a:p>
        </p:txBody>
      </p:sp>
      <p:sp>
        <p:nvSpPr>
          <p:cNvPr id="24" name="Shape 19"/>
          <p:cNvSpPr/>
          <p:nvPr/>
        </p:nvSpPr>
        <p:spPr>
          <a:xfrm>
            <a:off x="4544568" y="3931920"/>
            <a:ext cx="3108960" cy="310896"/>
          </a:xfrm>
          <a:prstGeom prst="roundRect">
            <a:avLst>
              <a:gd name="adj" fmla="val 50000"/>
            </a:avLst>
          </a:prstGeom>
          <a:solidFill>
            <a:srgbClr val="13285A"/>
          </a:solidFill>
          <a:ln/>
        </p:spPr>
      </p:sp>
      <p:sp>
        <p:nvSpPr>
          <p:cNvPr id="25" name="Text 20"/>
          <p:cNvSpPr/>
          <p:nvPr/>
        </p:nvSpPr>
        <p:spPr>
          <a:xfrm>
            <a:off x="4544568" y="3931920"/>
            <a:ext cx="31089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Starter: Default VHAL trên AAOS</a:t>
            </a:r>
            <a:endParaRPr lang="en-US" sz="900" dirty="0"/>
          </a:p>
        </p:txBody>
      </p:sp>
      <p:sp>
        <p:nvSpPr>
          <p:cNvPr id="26" name="Shape 21"/>
          <p:cNvSpPr/>
          <p:nvPr/>
        </p:nvSpPr>
        <p:spPr>
          <a:xfrm>
            <a:off x="8129016" y="2267712"/>
            <a:ext cx="3557016" cy="2084832"/>
          </a:xfrm>
          <a:prstGeom prst="roundRect">
            <a:avLst>
              <a:gd name="adj" fmla="val 2412"/>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27" name="Shape 22"/>
          <p:cNvSpPr/>
          <p:nvPr/>
        </p:nvSpPr>
        <p:spPr>
          <a:xfrm>
            <a:off x="8357616" y="2487168"/>
            <a:ext cx="603504" cy="603504"/>
          </a:xfrm>
          <a:prstGeom prst="ellipse">
            <a:avLst/>
          </a:prstGeom>
          <a:solidFill>
            <a:srgbClr val="13285A"/>
          </a:solidFill>
          <a:ln/>
        </p:spPr>
      </p:sp>
      <p:pic>
        <p:nvPicPr>
          <p:cNvPr id="28" name="Image 3" descr="preencoded.png">    </p:cNvPr>
          <p:cNvPicPr>
            <a:picLocks noChangeAspect="1"/>
          </p:cNvPicPr>
          <p:nvPr/>
        </p:nvPicPr>
        <p:blipFill>
          <a:blip r:embed="rId4"/>
          <a:stretch>
            <a:fillRect/>
          </a:stretch>
        </p:blipFill>
        <p:spPr>
          <a:xfrm>
            <a:off x="8502457" y="2632009"/>
            <a:ext cx="313822" cy="313822"/>
          </a:xfrm>
          <a:prstGeom prst="rect">
            <a:avLst/>
          </a:prstGeom>
        </p:spPr>
      </p:pic>
      <p:sp>
        <p:nvSpPr>
          <p:cNvPr id="29" name="Text 23"/>
          <p:cNvSpPr/>
          <p:nvPr/>
        </p:nvSpPr>
        <p:spPr>
          <a:xfrm>
            <a:off x="9089136" y="2505456"/>
            <a:ext cx="2468880" cy="310896"/>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#4 DTC Monitor</a:t>
            </a:r>
            <a:endParaRPr lang="en-US" sz="1350" dirty="0"/>
          </a:p>
        </p:txBody>
      </p:sp>
      <p:sp>
        <p:nvSpPr>
          <p:cNvPr id="30" name="Text 24"/>
          <p:cNvSpPr/>
          <p:nvPr/>
        </p:nvSpPr>
        <p:spPr>
          <a:xfrm>
            <a:off x="9089136" y="2816352"/>
            <a:ext cx="2468880" cy="256032"/>
          </a:xfrm>
          <a:prstGeom prst="rect">
            <a:avLst/>
          </a:prstGeom>
          <a:noFill/>
          <a:ln/>
        </p:spPr>
        <p:txBody>
          <a:bodyPr wrap="square" lIns="0" tIns="0" rIns="0" bIns="0" rtlCol="0" anchor="ctr"/>
          <a:lstStyle/>
          <a:p>
            <a:pPr indent="0" marL="0">
              <a:buNone/>
            </a:pPr>
            <a:r>
              <a:rPr lang="en-US" sz="1000" b="1" dirty="0">
                <a:solidFill>
                  <a:srgbClr val="F26F21"/>
                </a:solidFill>
                <a:latin typeface="Arial" pitchFamily="34" charset="0"/>
                <a:ea typeface="Arial" pitchFamily="34" charset="-122"/>
                <a:cs typeface="Arial" pitchFamily="34" charset="-120"/>
              </a:rPr>
              <a:t>Skill của trợ lý</a:t>
            </a:r>
            <a:endParaRPr lang="en-US" sz="1000" dirty="0"/>
          </a:p>
        </p:txBody>
      </p:sp>
      <p:sp>
        <p:nvSpPr>
          <p:cNvPr id="31" name="Text 25"/>
          <p:cNvSpPr/>
          <p:nvPr/>
        </p:nvSpPr>
        <p:spPr>
          <a:xfrm>
            <a:off x="8357616" y="3200400"/>
            <a:ext cx="3108960" cy="713232"/>
          </a:xfrm>
          <a:prstGeom prst="rect">
            <a:avLst/>
          </a:prstGeom>
          <a:noFill/>
          <a:ln/>
        </p:spPr>
        <p:txBody>
          <a:bodyPr wrap="square" lIns="0" tIns="0" rIns="0" bIns="0" rtlCol="0" anchor="ctr"/>
          <a:lstStyle/>
          <a:p>
            <a:pPr indent="0" marL="0">
              <a:lnSpc>
                <a:spcPct val="108000"/>
              </a:lnSpc>
              <a:buNone/>
            </a:pPr>
            <a:r>
              <a:rPr lang="en-US" sz="1050" dirty="0">
                <a:solidFill>
                  <a:srgbClr val="5B6580"/>
                </a:solidFill>
                <a:latin typeface="Arial" pitchFamily="34" charset="0"/>
                <a:ea typeface="Arial" pitchFamily="34" charset="-122"/>
                <a:cs typeface="Arial" pitchFamily="34" charset="-120"/>
              </a:rPr>
              <a:t>“Xe có lỗi gì không?” — đọc &amp; tóm tắt mã lỗi bằng giọng nói</a:t>
            </a:r>
            <a:endParaRPr lang="en-US" sz="1050" dirty="0"/>
          </a:p>
        </p:txBody>
      </p:sp>
      <p:sp>
        <p:nvSpPr>
          <p:cNvPr id="32" name="Shape 26"/>
          <p:cNvSpPr/>
          <p:nvPr/>
        </p:nvSpPr>
        <p:spPr>
          <a:xfrm>
            <a:off x="8357616" y="3931920"/>
            <a:ext cx="3108960" cy="310896"/>
          </a:xfrm>
          <a:prstGeom prst="roundRect">
            <a:avLst>
              <a:gd name="adj" fmla="val 50000"/>
            </a:avLst>
          </a:prstGeom>
          <a:solidFill>
            <a:srgbClr val="13285A"/>
          </a:solidFill>
          <a:ln/>
        </p:spPr>
      </p:sp>
      <p:sp>
        <p:nvSpPr>
          <p:cNvPr id="33" name="Text 27"/>
          <p:cNvSpPr/>
          <p:nvPr/>
        </p:nvSpPr>
        <p:spPr>
          <a:xfrm>
            <a:off x="8357616" y="3931920"/>
            <a:ext cx="31089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Starter: UDS / DTC default</a:t>
            </a:r>
            <a:endParaRPr lang="en-US" sz="900" dirty="0"/>
          </a:p>
        </p:txBody>
      </p:sp>
      <p:sp>
        <p:nvSpPr>
          <p:cNvPr id="34" name="Shape 28"/>
          <p:cNvSpPr/>
          <p:nvPr/>
        </p:nvSpPr>
        <p:spPr>
          <a:xfrm>
            <a:off x="502920" y="4590288"/>
            <a:ext cx="11183112" cy="1481328"/>
          </a:xfrm>
          <a:prstGeom prst="roundRect">
            <a:avLst>
              <a:gd name="adj" fmla="val 3395"/>
            </a:avLst>
          </a:prstGeom>
          <a:solidFill>
            <a:srgbClr val="FDF1E7"/>
          </a:solidFill>
          <a:ln w="12700">
            <a:solidFill>
              <a:srgbClr val="F4C9A4"/>
            </a:solidFill>
            <a:prstDash val="solid"/>
          </a:ln>
          <a:effectLst>
            <a:outerShdw sx="100000" sy="100000" kx="0" ky="0" algn="bl" rotWithShape="0" blurRad="88900" dist="25400" dir="5400000">
              <a:srgbClr val="1A2440">
                <a:alpha val="18000"/>
              </a:srgbClr>
            </a:outerShdw>
          </a:effectLst>
        </p:spPr>
      </p:sp>
      <p:sp>
        <p:nvSpPr>
          <p:cNvPr id="35" name="Text 29"/>
          <p:cNvSpPr/>
          <p:nvPr/>
        </p:nvSpPr>
        <p:spPr>
          <a:xfrm>
            <a:off x="777240" y="4736592"/>
            <a:ext cx="10698480" cy="292608"/>
          </a:xfrm>
          <a:prstGeom prst="rect">
            <a:avLst/>
          </a:prstGeom>
          <a:noFill/>
          <a:ln/>
        </p:spPr>
        <p:txBody>
          <a:bodyPr wrap="square" lIns="0" tIns="0" rIns="0" bIns="0" rtlCol="0" anchor="ctr"/>
          <a:lstStyle/>
          <a:p>
            <a:pPr indent="0" marL="0">
              <a:buNone/>
            </a:pPr>
            <a:r>
              <a:rPr lang="en-US" sz="1250" b="1" dirty="0">
                <a:solidFill>
                  <a:srgbClr val="13285A"/>
                </a:solidFill>
                <a:latin typeface="Arial" pitchFamily="34" charset="0"/>
                <a:ea typeface="Arial" pitchFamily="34" charset="-122"/>
                <a:cs typeface="Arial" pitchFamily="34" charset="-120"/>
              </a:rPr>
              <a:t>Vì sao chọn gói này — đúng đề, đúng starter pack:</a:t>
            </a:r>
            <a:endParaRPr lang="en-US" sz="1250" dirty="0"/>
          </a:p>
        </p:txBody>
      </p:sp>
      <p:sp>
        <p:nvSpPr>
          <p:cNvPr id="36" name="Text 30"/>
          <p:cNvSpPr/>
          <p:nvPr/>
        </p:nvSpPr>
        <p:spPr>
          <a:xfrm>
            <a:off x="777240" y="5047488"/>
            <a:ext cx="10607040" cy="960120"/>
          </a:xfrm>
          <a:prstGeom prst="rect">
            <a:avLst/>
          </a:prstGeom>
          <a:noFill/>
          <a:ln/>
        </p:spPr>
        <p:txBody>
          <a:bodyPr wrap="square" lIns="0" tIns="0" rIns="0" bIns="0" rtlCol="0" anchor="ctr"/>
          <a:lstStyle/>
          <a:p>
            <a:pPr marL="342900" indent="-342900">
              <a:lnSpc>
                <a:spcPct val="105000"/>
              </a:lnSpc>
              <a:spcAft>
                <a:spcPts val="400"/>
              </a:spcAft>
              <a:buSzPct val="100000"/>
              <a:buChar char="•"/>
            </a:pPr>
            <a:r>
              <a:rPr lang="en-US" sz="1100" dirty="0">
                <a:solidFill>
                  <a:srgbClr val="1A2440"/>
                </a:solidFill>
                <a:latin typeface="Arial" pitchFamily="34" charset="0"/>
                <a:ea typeface="Arial" pitchFamily="34" charset="-122"/>
                <a:cs typeface="Arial" pitchFamily="34" charset="-120"/>
              </a:rPr>
              <a:t>Đề chấm Coverage cho CẢ điều khiển xe LẪN kịch bản giao nhận → car control chính là các lệnh shipper dùng trong ca chạy (điều hòa, nhạc, cửa, âm lượng).</a:t>
            </a:r>
            <a:endParaRPr lang="en-US" sz="1100" dirty="0"/>
          </a:p>
          <a:p>
            <a:pPr marL="342900" indent="-342900">
              <a:lnSpc>
                <a:spcPct val="105000"/>
              </a:lnSpc>
              <a:buSzPct val="100000"/>
              <a:buChar char="•"/>
            </a:pPr>
            <a:r>
              <a:rPr lang="en-US" sz="1100" dirty="0">
                <a:solidFill>
                  <a:srgbClr val="1A2440"/>
                </a:solidFill>
                <a:latin typeface="Arial" pitchFamily="34" charset="0"/>
                <a:ea typeface="Arial" pitchFamily="34" charset="-122"/>
                <a:cs typeface="Arial" pitchFamily="34" charset="-120"/>
              </a:rPr>
              <a:t>Không mock UI: hành động đi tới VHAL / MediaSession / UDS thật của starter pack → một demo end-to-end chạm cả 4 bài toán Digital Cockpit.</a:t>
            </a:r>
            <a:endParaRPr lang="en-US" sz="1100" dirty="0"/>
          </a:p>
        </p:txBody>
      </p:sp>
      <p:sp>
        <p:nvSpPr>
          <p:cNvPr id="37" name="Text 31"/>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38" name="Text 32"/>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VẤN ĐỀ CẦN GIẢI QUYẾT</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Text 3"/>
          <p:cNvSpPr/>
          <p:nvPr/>
        </p:nvSpPr>
        <p:spPr>
          <a:xfrm>
            <a:off x="502920" y="914400"/>
            <a:ext cx="11155680" cy="384048"/>
          </a:xfrm>
          <a:prstGeom prst="rect">
            <a:avLst/>
          </a:prstGeom>
          <a:noFill/>
          <a:ln/>
        </p:spPr>
        <p:txBody>
          <a:bodyPr wrap="square" lIns="0" tIns="0" rIns="0" bIns="0" rtlCol="0" anchor="ctr"/>
          <a:lstStyle/>
          <a:p>
            <a:pPr indent="0" marL="0">
              <a:buNone/>
            </a:pPr>
            <a:r>
              <a:rPr lang="en-US" sz="1700" b="1" dirty="0">
                <a:solidFill>
                  <a:srgbClr val="13285A"/>
                </a:solidFill>
                <a:latin typeface="Arial" pitchFamily="34" charset="0"/>
                <a:ea typeface="Arial" pitchFamily="34" charset="-122"/>
                <a:cs typeface="Arial" pitchFamily="34" charset="-120"/>
              </a:rPr>
              <a:t>Tài xế van / xe tải giao hàng chặng cuối — người rời mắt khỏi đường nhiều nhất mỗi ca chạy</a:t>
            </a:r>
            <a:endParaRPr lang="en-US" sz="1700" dirty="0"/>
          </a:p>
        </p:txBody>
      </p:sp>
      <p:sp>
        <p:nvSpPr>
          <p:cNvPr id="6" name="Shape 4"/>
          <p:cNvSpPr/>
          <p:nvPr/>
        </p:nvSpPr>
        <p:spPr>
          <a:xfrm>
            <a:off x="502920" y="1481328"/>
            <a:ext cx="3566160" cy="4526280"/>
          </a:xfrm>
          <a:prstGeom prst="roundRect">
            <a:avLst>
              <a:gd name="adj" fmla="val 1410"/>
            </a:avLst>
          </a:prstGeom>
          <a:solidFill>
            <a:srgbClr val="13285A"/>
          </a:solidFill>
          <a:ln w="12700">
            <a:solidFill>
              <a:srgbClr val="13285A"/>
            </a:solidFill>
            <a:prstDash val="solid"/>
          </a:ln>
          <a:effectLst>
            <a:outerShdw sx="100000" sy="100000" kx="0" ky="0" algn="bl" rotWithShape="0" blurRad="88900" dist="25400" dir="5400000">
              <a:srgbClr val="1A2440">
                <a:alpha val="18000"/>
              </a:srgbClr>
            </a:outerShdw>
          </a:effectLst>
        </p:spPr>
      </p:sp>
      <p:sp>
        <p:nvSpPr>
          <p:cNvPr id="7" name="Shape 5"/>
          <p:cNvSpPr/>
          <p:nvPr/>
        </p:nvSpPr>
        <p:spPr>
          <a:xfrm>
            <a:off x="1920240" y="1755648"/>
            <a:ext cx="731520" cy="731520"/>
          </a:xfrm>
          <a:prstGeom prst="ellipse">
            <a:avLst/>
          </a:prstGeom>
          <a:solidFill>
            <a:srgbClr val="F26F21"/>
          </a:solidFill>
          <a:ln/>
        </p:spPr>
      </p:sp>
      <p:pic>
        <p:nvPicPr>
          <p:cNvPr id="8" name="Image 0" descr="preencoded.png">    </p:cNvPr>
          <p:cNvPicPr>
            <a:picLocks noChangeAspect="1"/>
          </p:cNvPicPr>
          <p:nvPr/>
        </p:nvPicPr>
        <p:blipFill>
          <a:blip r:embed="rId1"/>
          <a:stretch>
            <a:fillRect/>
          </a:stretch>
        </p:blipFill>
        <p:spPr>
          <a:xfrm>
            <a:off x="2095805" y="1931213"/>
            <a:ext cx="380390" cy="380390"/>
          </a:xfrm>
          <a:prstGeom prst="rect">
            <a:avLst/>
          </a:prstGeom>
        </p:spPr>
      </p:pic>
      <p:sp>
        <p:nvSpPr>
          <p:cNvPr id="9" name="Text 6"/>
          <p:cNvSpPr/>
          <p:nvPr/>
        </p:nvSpPr>
        <p:spPr>
          <a:xfrm>
            <a:off x="685800" y="2514600"/>
            <a:ext cx="3200400" cy="1371600"/>
          </a:xfrm>
          <a:prstGeom prst="rect">
            <a:avLst/>
          </a:prstGeom>
          <a:noFill/>
          <a:ln/>
        </p:spPr>
        <p:txBody>
          <a:bodyPr wrap="square" lIns="0" tIns="0" rIns="0" bIns="0" rtlCol="0" anchor="ctr"/>
          <a:lstStyle/>
          <a:p>
            <a:pPr algn="ctr" indent="0" marL="0">
              <a:buNone/>
            </a:pPr>
            <a:r>
              <a:rPr lang="en-US" sz="8400" b="1" dirty="0">
                <a:solidFill>
                  <a:srgbClr val="F26F21"/>
                </a:solidFill>
                <a:latin typeface="Arial" pitchFamily="34" charset="0"/>
                <a:ea typeface="Arial" pitchFamily="34" charset="-122"/>
                <a:cs typeface="Arial" pitchFamily="34" charset="-120"/>
              </a:rPr>
              <a:t>×2</a:t>
            </a:r>
            <a:endParaRPr lang="en-US" sz="8400" dirty="0"/>
          </a:p>
        </p:txBody>
      </p:sp>
      <p:sp>
        <p:nvSpPr>
          <p:cNvPr id="10" name="Text 7"/>
          <p:cNvSpPr/>
          <p:nvPr/>
        </p:nvSpPr>
        <p:spPr>
          <a:xfrm>
            <a:off x="777240" y="3977640"/>
            <a:ext cx="3017520" cy="777240"/>
          </a:xfrm>
          <a:prstGeom prst="rect">
            <a:avLst/>
          </a:prstGeom>
          <a:noFill/>
          <a:ln/>
        </p:spPr>
        <p:txBody>
          <a:bodyPr wrap="square" lIns="0" tIns="0" rIns="0" bIns="0" rtlCol="0" anchor="ctr"/>
          <a:lstStyle/>
          <a:p>
            <a:pPr algn="ctr" indent="0" marL="0">
              <a:lnSpc>
                <a:spcPct val="110000"/>
              </a:lnSpc>
              <a:buNone/>
            </a:pPr>
            <a:r>
              <a:rPr lang="en-US" sz="1250" dirty="0">
                <a:solidFill>
                  <a:srgbClr val="FFFFFF"/>
                </a:solidFill>
                <a:latin typeface="Arial" pitchFamily="34" charset="0"/>
                <a:ea typeface="Arial" pitchFamily="34" charset="-122"/>
                <a:cs typeface="Arial" pitchFamily="34" charset="-120"/>
              </a:rPr>
              <a:t>nguy cơ va chạm khi rời mắt khỏi đường quá 2 giây</a:t>
            </a:r>
            <a:endParaRPr lang="en-US" sz="1250" dirty="0"/>
          </a:p>
        </p:txBody>
      </p:sp>
      <p:sp>
        <p:nvSpPr>
          <p:cNvPr id="11" name="Text 8"/>
          <p:cNvSpPr/>
          <p:nvPr/>
        </p:nvSpPr>
        <p:spPr>
          <a:xfrm>
            <a:off x="777240" y="4846320"/>
            <a:ext cx="3017520" cy="1005840"/>
          </a:xfrm>
          <a:prstGeom prst="rect">
            <a:avLst/>
          </a:prstGeom>
          <a:noFill/>
          <a:ln/>
        </p:spPr>
        <p:txBody>
          <a:bodyPr wrap="square" lIns="0" tIns="0" rIns="0" bIns="0" rtlCol="0" anchor="ctr"/>
          <a:lstStyle/>
          <a:p>
            <a:pPr algn="ctr" indent="0" marL="0">
              <a:lnSpc>
                <a:spcPct val="110000"/>
              </a:lnSpc>
              <a:buNone/>
            </a:pPr>
            <a:r>
              <a:rPr lang="en-US" sz="900" dirty="0">
                <a:solidFill>
                  <a:srgbClr val="8FA3D6"/>
                </a:solidFill>
                <a:latin typeface="Arial" pitchFamily="34" charset="0"/>
                <a:ea typeface="Arial" pitchFamily="34" charset="-122"/>
                <a:cs typeface="Arial" pitchFamily="34" charset="-120"/>
              </a:rPr>
              <a:t>Klauer et al. 2006 · NHTSA / VTTI 100-Car Study. Chính ngưỡng 2 giây này khiến NHTSA khuyến nghị VOICE INTERFACE cho thiết bị trong xe.</a:t>
            </a:r>
            <a:endParaRPr lang="en-US" sz="900" dirty="0"/>
          </a:p>
        </p:txBody>
      </p:sp>
      <p:sp>
        <p:nvSpPr>
          <p:cNvPr id="12" name="Shape 9"/>
          <p:cNvSpPr/>
          <p:nvPr/>
        </p:nvSpPr>
        <p:spPr>
          <a:xfrm>
            <a:off x="4343400" y="1481328"/>
            <a:ext cx="734263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3" name="Shape 10"/>
          <p:cNvSpPr/>
          <p:nvPr/>
        </p:nvSpPr>
        <p:spPr>
          <a:xfrm>
            <a:off x="4572000" y="1700784"/>
            <a:ext cx="475488" cy="475488"/>
          </a:xfrm>
          <a:prstGeom prst="ellipse">
            <a:avLst/>
          </a:prstGeom>
          <a:solidFill>
            <a:srgbClr val="F26F21"/>
          </a:solidFill>
          <a:ln/>
        </p:spPr>
      </p:sp>
      <p:sp>
        <p:nvSpPr>
          <p:cNvPr id="14" name="Text 11"/>
          <p:cNvSpPr/>
          <p:nvPr/>
        </p:nvSpPr>
        <p:spPr>
          <a:xfrm>
            <a:off x="4572000" y="17007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5" name="Text 12"/>
          <p:cNvSpPr/>
          <p:nvPr/>
        </p:nvSpPr>
        <p:spPr>
          <a:xfrm>
            <a:off x="5212080" y="1645920"/>
            <a:ext cx="6309360" cy="329184"/>
          </a:xfrm>
          <a:prstGeom prst="rect">
            <a:avLst/>
          </a:prstGeom>
          <a:noFill/>
          <a:ln/>
        </p:spPr>
        <p:txBody>
          <a:bodyPr wrap="square" lIns="0" tIns="0" rIns="0" bIns="0" rtlCol="0" anchor="ctr"/>
          <a:lstStyle/>
          <a:p>
            <a:pPr indent="0" marL="0">
              <a:buNone/>
            </a:pPr>
            <a:r>
              <a:rPr lang="en-US" sz="1300" b="1" dirty="0">
                <a:solidFill>
                  <a:srgbClr val="13285A"/>
                </a:solidFill>
                <a:latin typeface="Arial" pitchFamily="34" charset="0"/>
                <a:ea typeface="Arial" pitchFamily="34" charset="-122"/>
                <a:cs typeface="Arial" pitchFamily="34" charset="-120"/>
              </a:rPr>
              <a:t>Mỗi điểm giao = hàng loạt cú chạm</a:t>
            </a:r>
            <a:endParaRPr lang="en-US" sz="1300" dirty="0"/>
          </a:p>
        </p:txBody>
      </p:sp>
      <p:sp>
        <p:nvSpPr>
          <p:cNvPr id="16" name="Text 13"/>
          <p:cNvSpPr/>
          <p:nvPr/>
        </p:nvSpPr>
        <p:spPr>
          <a:xfrm>
            <a:off x="5212080" y="1993392"/>
            <a:ext cx="6263640" cy="822960"/>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Check app đơn, tìm địa chỉ, gọi khách, xác nhận giao — tất cả trên màn hình điện thoại trong lúc xe đang lăn bánh.</a:t>
            </a:r>
            <a:endParaRPr lang="en-US" sz="1100" dirty="0"/>
          </a:p>
        </p:txBody>
      </p:sp>
      <p:sp>
        <p:nvSpPr>
          <p:cNvPr id="17" name="Shape 14"/>
          <p:cNvSpPr/>
          <p:nvPr/>
        </p:nvSpPr>
        <p:spPr>
          <a:xfrm>
            <a:off x="4343400" y="3054096"/>
            <a:ext cx="734263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8" name="Shape 15"/>
          <p:cNvSpPr/>
          <p:nvPr/>
        </p:nvSpPr>
        <p:spPr>
          <a:xfrm>
            <a:off x="4572000" y="3273552"/>
            <a:ext cx="475488" cy="475488"/>
          </a:xfrm>
          <a:prstGeom prst="ellipse">
            <a:avLst/>
          </a:prstGeom>
          <a:solidFill>
            <a:srgbClr val="F26F21"/>
          </a:solidFill>
          <a:ln/>
        </p:spPr>
      </p:sp>
      <p:sp>
        <p:nvSpPr>
          <p:cNvPr id="19" name="Text 16"/>
          <p:cNvSpPr/>
          <p:nvPr/>
        </p:nvSpPr>
        <p:spPr>
          <a:xfrm>
            <a:off x="4572000" y="32735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0" name="Text 17"/>
          <p:cNvSpPr/>
          <p:nvPr/>
        </p:nvSpPr>
        <p:spPr>
          <a:xfrm>
            <a:off x="5212080" y="3218688"/>
            <a:ext cx="6309360" cy="329184"/>
          </a:xfrm>
          <a:prstGeom prst="rect">
            <a:avLst/>
          </a:prstGeom>
          <a:noFill/>
          <a:ln/>
        </p:spPr>
        <p:txBody>
          <a:bodyPr wrap="square" lIns="0" tIns="0" rIns="0" bIns="0" rtlCol="0" anchor="ctr"/>
          <a:lstStyle/>
          <a:p>
            <a:pPr indent="0" marL="0">
              <a:buNone/>
            </a:pPr>
            <a:r>
              <a:rPr lang="en-US" sz="1300" b="1" dirty="0">
                <a:solidFill>
                  <a:srgbClr val="13285A"/>
                </a:solidFill>
                <a:latin typeface="Arial" pitchFamily="34" charset="0"/>
                <a:ea typeface="Arial" pitchFamily="34" charset="-122"/>
                <a:cs typeface="Arial" pitchFamily="34" charset="-120"/>
              </a:rPr>
              <a:t>Trợ lý hiện có “nói được, không làm được”</a:t>
            </a:r>
            <a:endParaRPr lang="en-US" sz="1300" dirty="0"/>
          </a:p>
        </p:txBody>
      </p:sp>
      <p:sp>
        <p:nvSpPr>
          <p:cNvPr id="21" name="Text 18"/>
          <p:cNvSpPr/>
          <p:nvPr/>
        </p:nvSpPr>
        <p:spPr>
          <a:xfrm>
            <a:off x="5212080" y="3566160"/>
            <a:ext cx="6263640" cy="822960"/>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Yếu tiếng Việt trong cabin ồn; chỉ trả lời thông tin chứ không điều khiển được phần cứng xe; phụ thuộc cloud — mất mạng là tê liệt.</a:t>
            </a:r>
            <a:endParaRPr lang="en-US" sz="1100" dirty="0"/>
          </a:p>
        </p:txBody>
      </p:sp>
      <p:sp>
        <p:nvSpPr>
          <p:cNvPr id="22" name="Shape 19"/>
          <p:cNvSpPr/>
          <p:nvPr/>
        </p:nvSpPr>
        <p:spPr>
          <a:xfrm>
            <a:off x="4343400" y="4626864"/>
            <a:ext cx="734263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23" name="Shape 20"/>
          <p:cNvSpPr/>
          <p:nvPr/>
        </p:nvSpPr>
        <p:spPr>
          <a:xfrm>
            <a:off x="4572000" y="4846320"/>
            <a:ext cx="475488" cy="475488"/>
          </a:xfrm>
          <a:prstGeom prst="ellipse">
            <a:avLst/>
          </a:prstGeom>
          <a:solidFill>
            <a:srgbClr val="F26F21"/>
          </a:solidFill>
          <a:ln/>
        </p:spPr>
      </p:sp>
      <p:sp>
        <p:nvSpPr>
          <p:cNvPr id="24" name="Text 21"/>
          <p:cNvSpPr/>
          <p:nvPr/>
        </p:nvSpPr>
        <p:spPr>
          <a:xfrm>
            <a:off x="4572000" y="48463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5" name="Text 22"/>
          <p:cNvSpPr/>
          <p:nvPr/>
        </p:nvSpPr>
        <p:spPr>
          <a:xfrm>
            <a:off x="5212080" y="4791456"/>
            <a:ext cx="6309360" cy="329184"/>
          </a:xfrm>
          <a:prstGeom prst="rect">
            <a:avLst/>
          </a:prstGeom>
          <a:noFill/>
          <a:ln/>
        </p:spPr>
        <p:txBody>
          <a:bodyPr wrap="square" lIns="0" tIns="0" rIns="0" bIns="0" rtlCol="0" anchor="ctr"/>
          <a:lstStyle/>
          <a:p>
            <a:pPr indent="0" marL="0">
              <a:buNone/>
            </a:pPr>
            <a:r>
              <a:rPr lang="en-US" sz="1300" b="1" dirty="0">
                <a:solidFill>
                  <a:srgbClr val="13285A"/>
                </a:solidFill>
                <a:latin typeface="Arial" pitchFamily="34" charset="0"/>
                <a:ea typeface="Arial" pitchFamily="34" charset="-122"/>
                <a:cs typeface="Arial" pitchFamily="34" charset="-120"/>
              </a:rPr>
              <a:t>Quy trình giao hàng chưa từng được thiết kế rảnh tay</a:t>
            </a:r>
            <a:endParaRPr lang="en-US" sz="1300" dirty="0"/>
          </a:p>
        </p:txBody>
      </p:sp>
      <p:sp>
        <p:nvSpPr>
          <p:cNvPr id="26" name="Text 23"/>
          <p:cNvSpPr/>
          <p:nvPr/>
        </p:nvSpPr>
        <p:spPr>
          <a:xfrm>
            <a:off x="5212080" y="5138928"/>
            <a:ext cx="6263640" cy="822960"/>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App giao vận sinh ra cho ngón tay, không cho giọng nói — chưa có luồng nghiệp vụ nào cho phép hoàn thành chặng giao mà không cầm máy.</a:t>
            </a:r>
            <a:endParaRPr lang="en-US" sz="1100" dirty="0"/>
          </a:p>
        </p:txBody>
      </p:sp>
      <p:sp>
        <p:nvSpPr>
          <p:cNvPr id="28" name="Text 24"/>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29" name="Text 25"/>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Ý TƯỞNG TRIỂN KHAI</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Text 3"/>
          <p:cNvSpPr/>
          <p:nvPr/>
        </p:nvSpPr>
        <p:spPr>
          <a:xfrm>
            <a:off x="502920" y="914400"/>
            <a:ext cx="11155680" cy="384048"/>
          </a:xfrm>
          <a:prstGeom prst="rect">
            <a:avLst/>
          </a:prstGeom>
          <a:noFill/>
          <a:ln/>
        </p:spPr>
        <p:txBody>
          <a:bodyPr wrap="square" lIns="0" tIns="0" rIns="0" bIns="0" rtlCol="0" anchor="ctr"/>
          <a:lstStyle/>
          <a:p>
            <a:pPr indent="0" marL="0">
              <a:buNone/>
            </a:pPr>
            <a:r>
              <a:rPr lang="en-US" sz="1700" b="1" dirty="0">
                <a:solidFill>
                  <a:srgbClr val="13285A"/>
                </a:solidFill>
                <a:latin typeface="Arial" pitchFamily="34" charset="0"/>
                <a:ea typeface="Arial" pitchFamily="34" charset="-122"/>
                <a:cs typeface="Arial" pitchFamily="34" charset="-120"/>
              </a:rPr>
              <a:t>Cockpit không chờ được chạm — nó nghe tiếng Việt, hiểu, và LÀM ngay (một cách an toàn)</a:t>
            </a:r>
            <a:endParaRPr lang="en-US" sz="1700" dirty="0"/>
          </a:p>
        </p:txBody>
      </p:sp>
      <p:sp>
        <p:nvSpPr>
          <p:cNvPr id="6" name="Shape 4"/>
          <p:cNvSpPr/>
          <p:nvPr/>
        </p:nvSpPr>
        <p:spPr>
          <a:xfrm>
            <a:off x="502920" y="1444752"/>
            <a:ext cx="11183112" cy="1938528"/>
          </a:xfrm>
          <a:prstGeom prst="roundRect">
            <a:avLst>
              <a:gd name="adj" fmla="val 2594"/>
            </a:avLst>
          </a:prstGeom>
          <a:solidFill>
            <a:srgbClr val="13285A"/>
          </a:solidFill>
          <a:ln w="12700">
            <a:solidFill>
              <a:srgbClr val="13285A"/>
            </a:solidFill>
            <a:prstDash val="solid"/>
          </a:ln>
          <a:effectLst>
            <a:outerShdw sx="100000" sy="100000" kx="0" ky="0" algn="bl" rotWithShape="0" blurRad="88900" dist="25400" dir="5400000">
              <a:srgbClr val="1A2440">
                <a:alpha val="18000"/>
              </a:srgbClr>
            </a:outerShdw>
          </a:effectLst>
        </p:spPr>
      </p:sp>
      <p:sp>
        <p:nvSpPr>
          <p:cNvPr id="7" name="Text 5"/>
          <p:cNvSpPr/>
          <p:nvPr/>
        </p:nvSpPr>
        <p:spPr>
          <a:xfrm>
            <a:off x="822960" y="1609344"/>
            <a:ext cx="2743200" cy="274320"/>
          </a:xfrm>
          <a:prstGeom prst="rect">
            <a:avLst/>
          </a:prstGeom>
          <a:noFill/>
          <a:ln/>
        </p:spPr>
        <p:txBody>
          <a:bodyPr wrap="square" lIns="0" tIns="0" rIns="0" bIns="0" rtlCol="0" anchor="ctr"/>
          <a:lstStyle/>
          <a:p>
            <a:pPr indent="0" marL="0">
              <a:buNone/>
            </a:pPr>
            <a:r>
              <a:rPr lang="en-US" sz="1100" b="1" spc="200" kern="0" dirty="0">
                <a:solidFill>
                  <a:srgbClr val="F26F21"/>
                </a:solidFill>
                <a:latin typeface="Arial" pitchFamily="34" charset="0"/>
                <a:ea typeface="Arial" pitchFamily="34" charset="-122"/>
                <a:cs typeface="Arial" pitchFamily="34" charset="-120"/>
              </a:rPr>
              <a:t>ELEVATOR PITCH</a:t>
            </a:r>
            <a:endParaRPr lang="en-US" sz="1100" dirty="0"/>
          </a:p>
        </p:txBody>
      </p:sp>
      <p:sp>
        <p:nvSpPr>
          <p:cNvPr id="8" name="Text 6"/>
          <p:cNvSpPr/>
          <p:nvPr/>
        </p:nvSpPr>
        <p:spPr>
          <a:xfrm>
            <a:off x="822960" y="1901952"/>
            <a:ext cx="10561320" cy="1371600"/>
          </a:xfrm>
          <a:prstGeom prst="rect">
            <a:avLst/>
          </a:prstGeom>
          <a:noFill/>
          <a:ln/>
        </p:spPr>
        <p:txBody>
          <a:bodyPr wrap="square" lIns="0" tIns="0" rIns="0" bIns="0" rtlCol="0" anchor="ctr"/>
          <a:lstStyle/>
          <a:p>
            <a:pPr indent="0" marL="0">
              <a:lnSpc>
                <a:spcPct val="112000"/>
              </a:lnSpc>
              <a:buNone/>
            </a:pPr>
            <a:r>
              <a:rPr lang="en-US" sz="1250" dirty="0">
                <a:solidFill>
                  <a:srgbClr val="FFFFFF"/>
                </a:solidFill>
                <a:latin typeface="Arial" pitchFamily="34" charset="0"/>
                <a:ea typeface="Arial" pitchFamily="34" charset="-122"/>
                <a:cs typeface="Arial" pitchFamily="34" charset="-120"/>
              </a:rPr>
              <a:t>“Vivi ơi, chặng tiếp theo?” — trợ lý đọc địa chỉ và giờ hẹn của khách. “Hạ điều hòa 22 độ, phát nhạc” — nhiệt độ đổi THẬT qua VHAL, nhạc phát THẬT từ USB ảo, HMI cập nhật tức thì. “Xác nhận giao thành công” — trạng thái đơn cập nhật. Tất cả bằng tiếng Việt, dưới 1,5 giây, chạy được offline — và mọi lệnh đều đi qua tầng Safety Guard: xe đang lăn bánh thì cửa không mở, trẻ ngồi một mình thì lệnh nguy hiểm bị khóa.</a:t>
            </a:r>
            <a:endParaRPr lang="en-US" sz="1250" dirty="0"/>
          </a:p>
        </p:txBody>
      </p:sp>
      <p:sp>
        <p:nvSpPr>
          <p:cNvPr id="9" name="Shape 7"/>
          <p:cNvSpPr/>
          <p:nvPr/>
        </p:nvSpPr>
        <p:spPr>
          <a:xfrm>
            <a:off x="502920" y="3611880"/>
            <a:ext cx="11183112" cy="2395728"/>
          </a:xfrm>
          <a:prstGeom prst="roundRect">
            <a:avLst>
              <a:gd name="adj" fmla="val 2099"/>
            </a:avLst>
          </a:prstGeom>
          <a:solidFill>
            <a:srgbClr val="FDF1E7"/>
          </a:solidFill>
          <a:ln w="12700">
            <a:solidFill>
              <a:srgbClr val="F4C9A4"/>
            </a:solidFill>
            <a:prstDash val="solid"/>
          </a:ln>
          <a:effectLst>
            <a:outerShdw sx="100000" sy="100000" kx="0" ky="0" algn="bl" rotWithShape="0" blurRad="88900" dist="25400" dir="5400000">
              <a:srgbClr val="1A2440">
                <a:alpha val="18000"/>
              </a:srgbClr>
            </a:outerShdw>
          </a:effectLst>
        </p:spPr>
      </p:sp>
      <p:sp>
        <p:nvSpPr>
          <p:cNvPr id="10" name="Shape 8"/>
          <p:cNvSpPr/>
          <p:nvPr/>
        </p:nvSpPr>
        <p:spPr>
          <a:xfrm>
            <a:off x="822960" y="3840480"/>
            <a:ext cx="548640" cy="548640"/>
          </a:xfrm>
          <a:prstGeom prst="ellipse">
            <a:avLst/>
          </a:prstGeom>
          <a:solidFill>
            <a:srgbClr val="F26F21"/>
          </a:solidFill>
          <a:ln/>
        </p:spPr>
      </p:sp>
      <p:pic>
        <p:nvPicPr>
          <p:cNvPr id="11" name="Image 0" descr="preencoded.png">    </p:cNvPr>
          <p:cNvPicPr>
            <a:picLocks noChangeAspect="1"/>
          </p:cNvPicPr>
          <p:nvPr/>
        </p:nvPicPr>
        <p:blipFill>
          <a:blip r:embed="rId1"/>
          <a:stretch>
            <a:fillRect/>
          </a:stretch>
        </p:blipFill>
        <p:spPr>
          <a:xfrm>
            <a:off x="954634" y="3972154"/>
            <a:ext cx="285293" cy="285293"/>
          </a:xfrm>
          <a:prstGeom prst="rect">
            <a:avLst/>
          </a:prstGeom>
        </p:spPr>
      </p:pic>
      <p:sp>
        <p:nvSpPr>
          <p:cNvPr id="12" name="Text 9"/>
          <p:cNvSpPr/>
          <p:nvPr/>
        </p:nvSpPr>
        <p:spPr>
          <a:xfrm>
            <a:off x="1508760" y="3950208"/>
            <a:ext cx="3200400" cy="292608"/>
          </a:xfrm>
          <a:prstGeom prst="rect">
            <a:avLst/>
          </a:prstGeom>
          <a:noFill/>
          <a:ln/>
        </p:spPr>
        <p:txBody>
          <a:bodyPr wrap="square" lIns="0" tIns="0" rIns="0" bIns="0" rtlCol="0" anchor="ctr"/>
          <a:lstStyle/>
          <a:p>
            <a:pPr indent="0" marL="0">
              <a:buNone/>
            </a:pPr>
            <a:r>
              <a:rPr lang="en-US" sz="1100" b="1" spc="200" kern="0" dirty="0">
                <a:solidFill>
                  <a:srgbClr val="F26F21"/>
                </a:solidFill>
                <a:latin typeface="Arial" pitchFamily="34" charset="0"/>
                <a:ea typeface="Arial" pitchFamily="34" charset="-122"/>
                <a:cs typeface="Arial" pitchFamily="34" charset="-120"/>
              </a:rPr>
              <a:t>INSIGHT CHÍNH</a:t>
            </a:r>
            <a:endParaRPr lang="en-US" sz="1100" dirty="0"/>
          </a:p>
        </p:txBody>
      </p:sp>
      <p:sp>
        <p:nvSpPr>
          <p:cNvPr id="13" name="Text 10"/>
          <p:cNvSpPr/>
          <p:nvPr/>
        </p:nvSpPr>
        <p:spPr>
          <a:xfrm>
            <a:off x="822960" y="4343400"/>
            <a:ext cx="10561320" cy="1554480"/>
          </a:xfrm>
          <a:prstGeom prst="rect">
            <a:avLst/>
          </a:prstGeom>
          <a:noFill/>
          <a:ln/>
        </p:spPr>
        <p:txBody>
          <a:bodyPr wrap="square" lIns="0" tIns="0" rIns="0" bIns="0" rtlCol="0" anchor="ctr"/>
          <a:lstStyle/>
          <a:p>
            <a:pPr indent="0" marL="0">
              <a:lnSpc>
                <a:spcPct val="112000"/>
              </a:lnSpc>
              <a:buNone/>
            </a:pPr>
            <a:r>
              <a:rPr lang="en-US" sz="1250" dirty="0">
                <a:solidFill>
                  <a:srgbClr val="1A2440"/>
                </a:solidFill>
                <a:latin typeface="Arial" pitchFamily="34" charset="0"/>
                <a:ea typeface="Arial" pitchFamily="34" charset="-122"/>
                <a:cs typeface="Arial" pitchFamily="34" charset="-120"/>
              </a:rPr>
              <a:t>Bốn đề Digital Cockpit được ra như bốn ứng dụng riêng — nhưng tài xế không “mở app”, họ NÓI. </a:t>
            </a:r>
            <a:pPr indent="0" marL="0">
              <a:lnSpc>
                <a:spcPct val="112000"/>
              </a:lnSpc>
              <a:buNone/>
            </a:pPr>
            <a:r>
              <a:rPr lang="en-US" sz="1250" b="1" dirty="0">
                <a:solidFill>
                  <a:srgbClr val="13285A"/>
                </a:solidFill>
                <a:latin typeface="Arial" pitchFamily="34" charset="0"/>
                <a:ea typeface="Arial" pitchFamily="34" charset="-122"/>
                <a:cs typeface="Arial" pitchFamily="34" charset="-120"/>
              </a:rPr>
              <a:t>Voice là lớp điều phối tự nhiên của cả cockpit: một đề làm core, ba đề làm skill thật lấy từ chính starter pack (VHAL, MediaSession, UDS) — không mock UI. </a:t>
            </a:r>
            <a:pPr indent="0" marL="0">
              <a:lnSpc>
                <a:spcPct val="112000"/>
              </a:lnSpc>
              <a:buNone/>
            </a:pPr>
            <a:r>
              <a:rPr lang="en-US" sz="1250" dirty="0">
                <a:solidFill>
                  <a:srgbClr val="1A2440"/>
                </a:solidFill>
                <a:latin typeface="Arial" pitchFamily="34" charset="0"/>
                <a:ea typeface="Arial" pitchFamily="34" charset="-122"/>
                <a:cs typeface="Arial" pitchFamily="34" charset="-120"/>
              </a:rPr>
              <a:t>Và vì đây là ô tô chứ không phải loa thông minh: LLM được quyền hiểu ngôn ngữ, nhưng không bao giờ được quyền trực tiếp chạm vào actuator — quyền thực thi thuộc về tầng Safety Guard tất định, dựa trên trạng thái xe thật.</a:t>
            </a:r>
            <a:endParaRPr lang="en-US" sz="1250" dirty="0"/>
          </a:p>
        </p:txBody>
      </p:sp>
      <p:sp>
        <p:nvSpPr>
          <p:cNvPr id="14" name="Text 11"/>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15" name="Text 12"/>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KIẾN TRÚC &amp; TẬN DỤNG STARTER PACK</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Text 3"/>
          <p:cNvSpPr/>
          <p:nvPr/>
        </p:nvSpPr>
        <p:spPr>
          <a:xfrm>
            <a:off x="502920" y="914400"/>
            <a:ext cx="11155680" cy="347472"/>
          </a:xfrm>
          <a:prstGeom prst="rect">
            <a:avLst/>
          </a:prstGeom>
          <a:noFill/>
          <a:ln/>
        </p:spPr>
        <p:txBody>
          <a:bodyPr wrap="square" lIns="0" tIns="0" rIns="0" bIns="0" rtlCol="0" anchor="ctr"/>
          <a:lstStyle/>
          <a:p>
            <a:pPr indent="0" marL="0">
              <a:buNone/>
            </a:pPr>
            <a:r>
              <a:rPr lang="en-US" sz="1400" b="1" dirty="0">
                <a:solidFill>
                  <a:srgbClr val="13285A"/>
                </a:solidFill>
                <a:latin typeface="Arial" pitchFamily="34" charset="0"/>
                <a:ea typeface="Arial" pitchFamily="34" charset="-122"/>
                <a:cs typeface="Arial" pitchFamily="34" charset="-120"/>
              </a:rPr>
              <a:t>Một luồng end-to-end duy nhất — “tính kết dính” được thiết kế ngay từ Vòng 1:</a:t>
            </a:r>
            <a:endParaRPr lang="en-US" sz="1400" dirty="0"/>
          </a:p>
        </p:txBody>
      </p:sp>
      <p:sp>
        <p:nvSpPr>
          <p:cNvPr id="6" name="Shape 4"/>
          <p:cNvSpPr/>
          <p:nvPr/>
        </p:nvSpPr>
        <p:spPr>
          <a:xfrm>
            <a:off x="502920" y="1417320"/>
            <a:ext cx="1700784" cy="1965960"/>
          </a:xfrm>
          <a:prstGeom prst="roundRect">
            <a:avLst>
              <a:gd name="adj" fmla="val 268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7" name="Shape 5"/>
          <p:cNvSpPr/>
          <p:nvPr/>
        </p:nvSpPr>
        <p:spPr>
          <a:xfrm>
            <a:off x="1097280" y="1563624"/>
            <a:ext cx="512064" cy="512064"/>
          </a:xfrm>
          <a:prstGeom prst="ellipse">
            <a:avLst/>
          </a:prstGeom>
          <a:solidFill>
            <a:srgbClr val="13285A"/>
          </a:solidFill>
          <a:ln/>
        </p:spPr>
      </p:sp>
      <p:pic>
        <p:nvPicPr>
          <p:cNvPr id="8" name="Image 0" descr="preencoded.png">    </p:cNvPr>
          <p:cNvPicPr>
            <a:picLocks noChangeAspect="1"/>
          </p:cNvPicPr>
          <p:nvPr/>
        </p:nvPicPr>
        <p:blipFill>
          <a:blip r:embed="rId1"/>
          <a:stretch>
            <a:fillRect/>
          </a:stretch>
        </p:blipFill>
        <p:spPr>
          <a:xfrm>
            <a:off x="1220175" y="1686519"/>
            <a:ext cx="266273" cy="266273"/>
          </a:xfrm>
          <a:prstGeom prst="rect">
            <a:avLst/>
          </a:prstGeom>
        </p:spPr>
      </p:pic>
      <p:sp>
        <p:nvSpPr>
          <p:cNvPr id="9" name="Text 6"/>
          <p:cNvSpPr/>
          <p:nvPr/>
        </p:nvSpPr>
        <p:spPr>
          <a:xfrm>
            <a:off x="557784"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Mic / Speaker</a:t>
            </a:r>
            <a:endParaRPr lang="en-US" sz="1100" dirty="0"/>
          </a:p>
        </p:txBody>
      </p:sp>
      <p:sp>
        <p:nvSpPr>
          <p:cNvPr id="10" name="Text 7"/>
          <p:cNvSpPr/>
          <p:nvPr/>
        </p:nvSpPr>
        <p:spPr>
          <a:xfrm>
            <a:off x="576072"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audio in-out trên AAOS</a:t>
            </a:r>
            <a:endParaRPr lang="en-US" sz="860" dirty="0"/>
          </a:p>
        </p:txBody>
      </p:sp>
      <p:sp>
        <p:nvSpPr>
          <p:cNvPr id="11" name="Shape 8"/>
          <p:cNvSpPr/>
          <p:nvPr/>
        </p:nvSpPr>
        <p:spPr>
          <a:xfrm>
            <a:off x="621792" y="2971800"/>
            <a:ext cx="1463040" cy="310896"/>
          </a:xfrm>
          <a:prstGeom prst="roundRect">
            <a:avLst>
              <a:gd name="adj" fmla="val 50000"/>
            </a:avLst>
          </a:prstGeom>
          <a:solidFill>
            <a:srgbClr val="13285A"/>
          </a:solidFill>
          <a:ln/>
        </p:spPr>
      </p:sp>
      <p:sp>
        <p:nvSpPr>
          <p:cNvPr id="12" name="Text 9"/>
          <p:cNvSpPr/>
          <p:nvPr/>
        </p:nvSpPr>
        <p:spPr>
          <a:xfrm>
            <a:off x="621792"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STARTER</a:t>
            </a:r>
            <a:endParaRPr lang="en-US" sz="900" dirty="0"/>
          </a:p>
        </p:txBody>
      </p:sp>
      <p:sp>
        <p:nvSpPr>
          <p:cNvPr id="13" name="Shape 10"/>
          <p:cNvSpPr/>
          <p:nvPr/>
        </p:nvSpPr>
        <p:spPr>
          <a:xfrm>
            <a:off x="2185416" y="2194560"/>
            <a:ext cx="246888" cy="384048"/>
          </a:xfrm>
          <a:prstGeom prst="rightArrow">
            <a:avLst/>
          </a:prstGeom>
          <a:solidFill>
            <a:srgbClr val="F26F21"/>
          </a:solidFill>
          <a:ln/>
        </p:spPr>
      </p:sp>
      <p:sp>
        <p:nvSpPr>
          <p:cNvPr id="14" name="Shape 11"/>
          <p:cNvSpPr/>
          <p:nvPr/>
        </p:nvSpPr>
        <p:spPr>
          <a:xfrm>
            <a:off x="2395728" y="1417320"/>
            <a:ext cx="1700784" cy="1965960"/>
          </a:xfrm>
          <a:prstGeom prst="roundRect">
            <a:avLst>
              <a:gd name="adj" fmla="val 268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5" name="Shape 12"/>
          <p:cNvSpPr/>
          <p:nvPr/>
        </p:nvSpPr>
        <p:spPr>
          <a:xfrm>
            <a:off x="2990088" y="1563624"/>
            <a:ext cx="512064" cy="512064"/>
          </a:xfrm>
          <a:prstGeom prst="ellipse">
            <a:avLst/>
          </a:prstGeom>
          <a:solidFill>
            <a:srgbClr val="13285A"/>
          </a:solidFill>
          <a:ln/>
        </p:spPr>
      </p:sp>
      <p:pic>
        <p:nvPicPr>
          <p:cNvPr id="16" name="Image 1" descr="preencoded.png">    </p:cNvPr>
          <p:cNvPicPr>
            <a:picLocks noChangeAspect="1"/>
          </p:cNvPicPr>
          <p:nvPr/>
        </p:nvPicPr>
        <p:blipFill>
          <a:blip r:embed="rId2"/>
          <a:stretch>
            <a:fillRect/>
          </a:stretch>
        </p:blipFill>
        <p:spPr>
          <a:xfrm>
            <a:off x="3112983" y="1686519"/>
            <a:ext cx="266273" cy="266273"/>
          </a:xfrm>
          <a:prstGeom prst="rect">
            <a:avLst/>
          </a:prstGeom>
        </p:spPr>
      </p:pic>
      <p:sp>
        <p:nvSpPr>
          <p:cNvPr id="17" name="Text 13"/>
          <p:cNvSpPr/>
          <p:nvPr/>
        </p:nvSpPr>
        <p:spPr>
          <a:xfrm>
            <a:off x="2450592"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VAD + ASR</a:t>
            </a:r>
            <a:endParaRPr lang="en-US" sz="1100" dirty="0"/>
          </a:p>
        </p:txBody>
      </p:sp>
      <p:sp>
        <p:nvSpPr>
          <p:cNvPr id="18" name="Text 14"/>
          <p:cNvSpPr/>
          <p:nvPr/>
        </p:nvSpPr>
        <p:spPr>
          <a:xfrm>
            <a:off x="2468880"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Silero · PhoWhisper INT8 streaming</a:t>
            </a:r>
            <a:endParaRPr lang="en-US" sz="860" dirty="0"/>
          </a:p>
        </p:txBody>
      </p:sp>
      <p:sp>
        <p:nvSpPr>
          <p:cNvPr id="19" name="Shape 15"/>
          <p:cNvSpPr/>
          <p:nvPr/>
        </p:nvSpPr>
        <p:spPr>
          <a:xfrm>
            <a:off x="2514600" y="2971800"/>
            <a:ext cx="1463040" cy="310896"/>
          </a:xfrm>
          <a:prstGeom prst="roundRect">
            <a:avLst>
              <a:gd name="adj" fmla="val 50000"/>
            </a:avLst>
          </a:prstGeom>
          <a:solidFill>
            <a:srgbClr val="F26F21"/>
          </a:solidFill>
          <a:ln/>
        </p:spPr>
      </p:sp>
      <p:sp>
        <p:nvSpPr>
          <p:cNvPr id="20" name="Text 16"/>
          <p:cNvSpPr/>
          <p:nvPr/>
        </p:nvSpPr>
        <p:spPr>
          <a:xfrm>
            <a:off x="2514600"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TỰ XÂY</a:t>
            </a:r>
            <a:endParaRPr lang="en-US" sz="900" dirty="0"/>
          </a:p>
        </p:txBody>
      </p:sp>
      <p:sp>
        <p:nvSpPr>
          <p:cNvPr id="21" name="Shape 17"/>
          <p:cNvSpPr/>
          <p:nvPr/>
        </p:nvSpPr>
        <p:spPr>
          <a:xfrm>
            <a:off x="4078224" y="2194560"/>
            <a:ext cx="246888" cy="384048"/>
          </a:xfrm>
          <a:prstGeom prst="rightArrow">
            <a:avLst/>
          </a:prstGeom>
          <a:solidFill>
            <a:srgbClr val="F26F21"/>
          </a:solidFill>
          <a:ln/>
        </p:spPr>
      </p:sp>
      <p:sp>
        <p:nvSpPr>
          <p:cNvPr id="22" name="Shape 18"/>
          <p:cNvSpPr/>
          <p:nvPr/>
        </p:nvSpPr>
        <p:spPr>
          <a:xfrm>
            <a:off x="4288536" y="1417320"/>
            <a:ext cx="1700784" cy="1965960"/>
          </a:xfrm>
          <a:prstGeom prst="roundRect">
            <a:avLst>
              <a:gd name="adj" fmla="val 268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23" name="Shape 19"/>
          <p:cNvSpPr/>
          <p:nvPr/>
        </p:nvSpPr>
        <p:spPr>
          <a:xfrm>
            <a:off x="4882896" y="1563624"/>
            <a:ext cx="512064" cy="512064"/>
          </a:xfrm>
          <a:prstGeom prst="ellipse">
            <a:avLst/>
          </a:prstGeom>
          <a:solidFill>
            <a:srgbClr val="13285A"/>
          </a:solidFill>
          <a:ln/>
        </p:spPr>
      </p:sp>
      <p:pic>
        <p:nvPicPr>
          <p:cNvPr id="24" name="Image 2" descr="preencoded.png">    </p:cNvPr>
          <p:cNvPicPr>
            <a:picLocks noChangeAspect="1"/>
          </p:cNvPicPr>
          <p:nvPr/>
        </p:nvPicPr>
        <p:blipFill>
          <a:blip r:embed="rId3"/>
          <a:stretch>
            <a:fillRect/>
          </a:stretch>
        </p:blipFill>
        <p:spPr>
          <a:xfrm>
            <a:off x="5005791" y="1686519"/>
            <a:ext cx="266273" cy="266273"/>
          </a:xfrm>
          <a:prstGeom prst="rect">
            <a:avLst/>
          </a:prstGeom>
        </p:spPr>
      </p:pic>
      <p:sp>
        <p:nvSpPr>
          <p:cNvPr id="25" name="Text 20"/>
          <p:cNvSpPr/>
          <p:nvPr/>
        </p:nvSpPr>
        <p:spPr>
          <a:xfrm>
            <a:off x="4343400"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Intent Router</a:t>
            </a:r>
            <a:endParaRPr lang="en-US" sz="1100" dirty="0"/>
          </a:p>
        </p:txBody>
      </p:sp>
      <p:sp>
        <p:nvSpPr>
          <p:cNvPr id="26" name="Text 21"/>
          <p:cNvSpPr/>
          <p:nvPr/>
        </p:nvSpPr>
        <p:spPr>
          <a:xfrm>
            <a:off x="4361688"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3 tầng: T0 · T1 · T2</a:t>
            </a:r>
            <a:endParaRPr lang="en-US" sz="860" dirty="0"/>
          </a:p>
        </p:txBody>
      </p:sp>
      <p:sp>
        <p:nvSpPr>
          <p:cNvPr id="27" name="Shape 22"/>
          <p:cNvSpPr/>
          <p:nvPr/>
        </p:nvSpPr>
        <p:spPr>
          <a:xfrm>
            <a:off x="4407408" y="2971800"/>
            <a:ext cx="1463040" cy="310896"/>
          </a:xfrm>
          <a:prstGeom prst="roundRect">
            <a:avLst>
              <a:gd name="adj" fmla="val 50000"/>
            </a:avLst>
          </a:prstGeom>
          <a:solidFill>
            <a:srgbClr val="F26F21"/>
          </a:solidFill>
          <a:ln/>
        </p:spPr>
      </p:sp>
      <p:sp>
        <p:nvSpPr>
          <p:cNvPr id="28" name="Text 23"/>
          <p:cNvSpPr/>
          <p:nvPr/>
        </p:nvSpPr>
        <p:spPr>
          <a:xfrm>
            <a:off x="4407408"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TỰ XÂY</a:t>
            </a:r>
            <a:endParaRPr lang="en-US" sz="900" dirty="0"/>
          </a:p>
        </p:txBody>
      </p:sp>
      <p:sp>
        <p:nvSpPr>
          <p:cNvPr id="29" name="Shape 24"/>
          <p:cNvSpPr/>
          <p:nvPr/>
        </p:nvSpPr>
        <p:spPr>
          <a:xfrm>
            <a:off x="5971032" y="2194560"/>
            <a:ext cx="246888" cy="384048"/>
          </a:xfrm>
          <a:prstGeom prst="rightArrow">
            <a:avLst/>
          </a:prstGeom>
          <a:solidFill>
            <a:srgbClr val="F26F21"/>
          </a:solidFill>
          <a:ln/>
        </p:spPr>
      </p:sp>
      <p:sp>
        <p:nvSpPr>
          <p:cNvPr id="30" name="Shape 25"/>
          <p:cNvSpPr/>
          <p:nvPr/>
        </p:nvSpPr>
        <p:spPr>
          <a:xfrm>
            <a:off x="6181344" y="1417320"/>
            <a:ext cx="1700784" cy="1965960"/>
          </a:xfrm>
          <a:prstGeom prst="roundRect">
            <a:avLst>
              <a:gd name="adj" fmla="val 2688"/>
            </a:avLst>
          </a:prstGeom>
          <a:solidFill>
            <a:srgbClr val="FDF1E7"/>
          </a:solidFill>
          <a:ln w="25400">
            <a:solidFill>
              <a:srgbClr val="F26F21"/>
            </a:solidFill>
            <a:prstDash val="solid"/>
          </a:ln>
          <a:effectLst>
            <a:outerShdw sx="100000" sy="100000" kx="0" ky="0" algn="bl" rotWithShape="0" blurRad="88900" dist="25400" dir="5400000">
              <a:srgbClr val="1A2440">
                <a:alpha val="18000"/>
              </a:srgbClr>
            </a:outerShdw>
          </a:effectLst>
        </p:spPr>
      </p:sp>
      <p:sp>
        <p:nvSpPr>
          <p:cNvPr id="31" name="Shape 26"/>
          <p:cNvSpPr/>
          <p:nvPr/>
        </p:nvSpPr>
        <p:spPr>
          <a:xfrm>
            <a:off x="6775704" y="1563624"/>
            <a:ext cx="512064" cy="512064"/>
          </a:xfrm>
          <a:prstGeom prst="ellipse">
            <a:avLst/>
          </a:prstGeom>
          <a:solidFill>
            <a:srgbClr val="F26F21"/>
          </a:solidFill>
          <a:ln/>
        </p:spPr>
      </p:sp>
      <p:pic>
        <p:nvPicPr>
          <p:cNvPr id="32" name="Image 3" descr="preencoded.png">    </p:cNvPr>
          <p:cNvPicPr>
            <a:picLocks noChangeAspect="1"/>
          </p:cNvPicPr>
          <p:nvPr/>
        </p:nvPicPr>
        <p:blipFill>
          <a:blip r:embed="rId4"/>
          <a:stretch>
            <a:fillRect/>
          </a:stretch>
        </p:blipFill>
        <p:spPr>
          <a:xfrm>
            <a:off x="6898599" y="1686519"/>
            <a:ext cx="266273" cy="266273"/>
          </a:xfrm>
          <a:prstGeom prst="rect">
            <a:avLst/>
          </a:prstGeom>
        </p:spPr>
      </p:pic>
      <p:sp>
        <p:nvSpPr>
          <p:cNvPr id="33" name="Text 27"/>
          <p:cNvSpPr/>
          <p:nvPr/>
        </p:nvSpPr>
        <p:spPr>
          <a:xfrm>
            <a:off x="6236208"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SAFETY GUARD</a:t>
            </a:r>
            <a:endParaRPr lang="en-US" sz="1100" dirty="0"/>
          </a:p>
        </p:txBody>
      </p:sp>
      <p:sp>
        <p:nvSpPr>
          <p:cNvPr id="34" name="Text 28"/>
          <p:cNvSpPr/>
          <p:nvPr/>
        </p:nvSpPr>
        <p:spPr>
          <a:xfrm>
            <a:off x="6254496"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policy engine tất định</a:t>
            </a:r>
            <a:endParaRPr lang="en-US" sz="860" dirty="0"/>
          </a:p>
        </p:txBody>
      </p:sp>
      <p:sp>
        <p:nvSpPr>
          <p:cNvPr id="35" name="Shape 29"/>
          <p:cNvSpPr/>
          <p:nvPr/>
        </p:nvSpPr>
        <p:spPr>
          <a:xfrm>
            <a:off x="6300216" y="2971800"/>
            <a:ext cx="1463040" cy="310896"/>
          </a:xfrm>
          <a:prstGeom prst="roundRect">
            <a:avLst>
              <a:gd name="adj" fmla="val 50000"/>
            </a:avLst>
          </a:prstGeom>
          <a:solidFill>
            <a:srgbClr val="F26F21"/>
          </a:solidFill>
          <a:ln/>
        </p:spPr>
      </p:sp>
      <p:sp>
        <p:nvSpPr>
          <p:cNvPr id="36" name="Text 30"/>
          <p:cNvSpPr/>
          <p:nvPr/>
        </p:nvSpPr>
        <p:spPr>
          <a:xfrm>
            <a:off x="6300216"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TỰ XÂY</a:t>
            </a:r>
            <a:endParaRPr lang="en-US" sz="900" dirty="0"/>
          </a:p>
        </p:txBody>
      </p:sp>
      <p:sp>
        <p:nvSpPr>
          <p:cNvPr id="37" name="Shape 31"/>
          <p:cNvSpPr/>
          <p:nvPr/>
        </p:nvSpPr>
        <p:spPr>
          <a:xfrm>
            <a:off x="7863840" y="2194560"/>
            <a:ext cx="246888" cy="384048"/>
          </a:xfrm>
          <a:prstGeom prst="rightArrow">
            <a:avLst/>
          </a:prstGeom>
          <a:solidFill>
            <a:srgbClr val="F26F21"/>
          </a:solidFill>
          <a:ln/>
        </p:spPr>
      </p:sp>
      <p:sp>
        <p:nvSpPr>
          <p:cNvPr id="38" name="Shape 32"/>
          <p:cNvSpPr/>
          <p:nvPr/>
        </p:nvSpPr>
        <p:spPr>
          <a:xfrm>
            <a:off x="8074152" y="1417320"/>
            <a:ext cx="1700784" cy="1965960"/>
          </a:xfrm>
          <a:prstGeom prst="roundRect">
            <a:avLst>
              <a:gd name="adj" fmla="val 268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39" name="Shape 33"/>
          <p:cNvSpPr/>
          <p:nvPr/>
        </p:nvSpPr>
        <p:spPr>
          <a:xfrm>
            <a:off x="8668512" y="1563624"/>
            <a:ext cx="512064" cy="512064"/>
          </a:xfrm>
          <a:prstGeom prst="ellipse">
            <a:avLst/>
          </a:prstGeom>
          <a:solidFill>
            <a:srgbClr val="13285A"/>
          </a:solidFill>
          <a:ln/>
        </p:spPr>
      </p:sp>
      <p:pic>
        <p:nvPicPr>
          <p:cNvPr id="40" name="Image 4" descr="preencoded.png">    </p:cNvPr>
          <p:cNvPicPr>
            <a:picLocks noChangeAspect="1"/>
          </p:cNvPicPr>
          <p:nvPr/>
        </p:nvPicPr>
        <p:blipFill>
          <a:blip r:embed="rId5"/>
          <a:stretch>
            <a:fillRect/>
          </a:stretch>
        </p:blipFill>
        <p:spPr>
          <a:xfrm>
            <a:off x="8791407" y="1686519"/>
            <a:ext cx="266273" cy="266273"/>
          </a:xfrm>
          <a:prstGeom prst="rect">
            <a:avLst/>
          </a:prstGeom>
        </p:spPr>
      </p:pic>
      <p:sp>
        <p:nvSpPr>
          <p:cNvPr id="41" name="Text 34"/>
          <p:cNvSpPr/>
          <p:nvPr/>
        </p:nvSpPr>
        <p:spPr>
          <a:xfrm>
            <a:off x="8129016"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Skills ×4</a:t>
            </a:r>
            <a:endParaRPr lang="en-US" sz="1100" dirty="0"/>
          </a:p>
        </p:txBody>
      </p:sp>
      <p:sp>
        <p:nvSpPr>
          <p:cNvPr id="42" name="Text 35"/>
          <p:cNvSpPr/>
          <p:nvPr/>
        </p:nvSpPr>
        <p:spPr>
          <a:xfrm>
            <a:off x="8147304"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Media · HVAC · DTC · Delivery</a:t>
            </a:r>
            <a:endParaRPr lang="en-US" sz="860" dirty="0"/>
          </a:p>
        </p:txBody>
      </p:sp>
      <p:sp>
        <p:nvSpPr>
          <p:cNvPr id="43" name="Shape 36"/>
          <p:cNvSpPr/>
          <p:nvPr/>
        </p:nvSpPr>
        <p:spPr>
          <a:xfrm>
            <a:off x="8193024" y="2971800"/>
            <a:ext cx="1463040" cy="310896"/>
          </a:xfrm>
          <a:prstGeom prst="roundRect">
            <a:avLst>
              <a:gd name="adj" fmla="val 50000"/>
            </a:avLst>
          </a:prstGeom>
          <a:solidFill>
            <a:srgbClr val="13285A"/>
          </a:solidFill>
          <a:ln/>
        </p:spPr>
      </p:sp>
      <p:sp>
        <p:nvSpPr>
          <p:cNvPr id="44" name="Text 37"/>
          <p:cNvSpPr/>
          <p:nvPr/>
        </p:nvSpPr>
        <p:spPr>
          <a:xfrm>
            <a:off x="8193024"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STARTER LÀM NỀN</a:t>
            </a:r>
            <a:endParaRPr lang="en-US" sz="900" dirty="0"/>
          </a:p>
        </p:txBody>
      </p:sp>
      <p:sp>
        <p:nvSpPr>
          <p:cNvPr id="45" name="Shape 38"/>
          <p:cNvSpPr/>
          <p:nvPr/>
        </p:nvSpPr>
        <p:spPr>
          <a:xfrm>
            <a:off x="9756648" y="2194560"/>
            <a:ext cx="246888" cy="384048"/>
          </a:xfrm>
          <a:prstGeom prst="rightArrow">
            <a:avLst/>
          </a:prstGeom>
          <a:solidFill>
            <a:srgbClr val="F26F21"/>
          </a:solidFill>
          <a:ln/>
        </p:spPr>
      </p:sp>
      <p:sp>
        <p:nvSpPr>
          <p:cNvPr id="46" name="Shape 39"/>
          <p:cNvSpPr/>
          <p:nvPr/>
        </p:nvSpPr>
        <p:spPr>
          <a:xfrm>
            <a:off x="9966960" y="1417320"/>
            <a:ext cx="1700784" cy="1965960"/>
          </a:xfrm>
          <a:prstGeom prst="roundRect">
            <a:avLst>
              <a:gd name="adj" fmla="val 268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47" name="Shape 40"/>
          <p:cNvSpPr/>
          <p:nvPr/>
        </p:nvSpPr>
        <p:spPr>
          <a:xfrm>
            <a:off x="10561320" y="1563624"/>
            <a:ext cx="512064" cy="512064"/>
          </a:xfrm>
          <a:prstGeom prst="ellipse">
            <a:avLst/>
          </a:prstGeom>
          <a:solidFill>
            <a:srgbClr val="13285A"/>
          </a:solidFill>
          <a:ln/>
        </p:spPr>
      </p:sp>
      <p:pic>
        <p:nvPicPr>
          <p:cNvPr id="48" name="Image 5" descr="preencoded.png">    </p:cNvPr>
          <p:cNvPicPr>
            <a:picLocks noChangeAspect="1"/>
          </p:cNvPicPr>
          <p:nvPr/>
        </p:nvPicPr>
        <p:blipFill>
          <a:blip r:embed="rId6"/>
          <a:stretch>
            <a:fillRect/>
          </a:stretch>
        </p:blipFill>
        <p:spPr>
          <a:xfrm>
            <a:off x="10684215" y="1686519"/>
            <a:ext cx="266273" cy="266273"/>
          </a:xfrm>
          <a:prstGeom prst="rect">
            <a:avLst/>
          </a:prstGeom>
        </p:spPr>
      </p:pic>
      <p:sp>
        <p:nvSpPr>
          <p:cNvPr id="49" name="Text 41"/>
          <p:cNvSpPr/>
          <p:nvPr/>
        </p:nvSpPr>
        <p:spPr>
          <a:xfrm>
            <a:off x="10021824" y="2148840"/>
            <a:ext cx="1591056" cy="292608"/>
          </a:xfrm>
          <a:prstGeom prst="rect">
            <a:avLst/>
          </a:prstGeom>
          <a:noFill/>
          <a:ln/>
        </p:spPr>
        <p:txBody>
          <a:bodyPr wrap="square" lIns="0" tIns="0" rIns="0" bIns="0" rtlCol="0" anchor="ctr"/>
          <a:lstStyle/>
          <a:p>
            <a:pPr algn="ctr" indent="0" marL="0">
              <a:buNone/>
            </a:pPr>
            <a:r>
              <a:rPr lang="en-US" sz="1100" b="1" dirty="0">
                <a:solidFill>
                  <a:srgbClr val="13285A"/>
                </a:solidFill>
                <a:latin typeface="Arial" pitchFamily="34" charset="0"/>
                <a:ea typeface="Arial" pitchFamily="34" charset="-122"/>
                <a:cs typeface="Arial" pitchFamily="34" charset="-120"/>
              </a:rPr>
              <a:t>TTS + HMI</a:t>
            </a:r>
            <a:endParaRPr lang="en-US" sz="1100" dirty="0"/>
          </a:p>
        </p:txBody>
      </p:sp>
      <p:sp>
        <p:nvSpPr>
          <p:cNvPr id="50" name="Text 42"/>
          <p:cNvSpPr/>
          <p:nvPr/>
        </p:nvSpPr>
        <p:spPr>
          <a:xfrm>
            <a:off x="10040112" y="2441448"/>
            <a:ext cx="1554480" cy="530352"/>
          </a:xfrm>
          <a:prstGeom prst="rect">
            <a:avLst/>
          </a:prstGeom>
          <a:noFill/>
          <a:ln/>
        </p:spPr>
        <p:txBody>
          <a:bodyPr wrap="square" lIns="0" tIns="0" rIns="0" bIns="0" rtlCol="0" anchor="ctr"/>
          <a:lstStyle/>
          <a:p>
            <a:pPr algn="ctr" indent="0" marL="0">
              <a:lnSpc>
                <a:spcPct val="102000"/>
              </a:lnSpc>
              <a:buNone/>
            </a:pPr>
            <a:r>
              <a:rPr lang="en-US" sz="860" dirty="0">
                <a:solidFill>
                  <a:srgbClr val="5B6580"/>
                </a:solidFill>
                <a:latin typeface="Arial" pitchFamily="34" charset="0"/>
                <a:ea typeface="Arial" pitchFamily="34" charset="-122"/>
                <a:cs typeface="Arial" pitchFamily="34" charset="-120"/>
              </a:rPr>
              <a:t>phản hồi giọng + UI AAOS</a:t>
            </a:r>
            <a:endParaRPr lang="en-US" sz="860" dirty="0"/>
          </a:p>
        </p:txBody>
      </p:sp>
      <p:sp>
        <p:nvSpPr>
          <p:cNvPr id="51" name="Shape 43"/>
          <p:cNvSpPr/>
          <p:nvPr/>
        </p:nvSpPr>
        <p:spPr>
          <a:xfrm>
            <a:off x="10085832" y="2971800"/>
            <a:ext cx="1463040" cy="310896"/>
          </a:xfrm>
          <a:prstGeom prst="roundRect">
            <a:avLst>
              <a:gd name="adj" fmla="val 50000"/>
            </a:avLst>
          </a:prstGeom>
          <a:solidFill>
            <a:srgbClr val="F26F21"/>
          </a:solidFill>
          <a:ln/>
        </p:spPr>
      </p:sp>
      <p:sp>
        <p:nvSpPr>
          <p:cNvPr id="52" name="Text 44"/>
          <p:cNvSpPr/>
          <p:nvPr/>
        </p:nvSpPr>
        <p:spPr>
          <a:xfrm>
            <a:off x="10085832" y="2971800"/>
            <a:ext cx="14630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TỰ XÂY</a:t>
            </a:r>
            <a:endParaRPr lang="en-US" sz="900" dirty="0"/>
          </a:p>
        </p:txBody>
      </p:sp>
      <p:sp>
        <p:nvSpPr>
          <p:cNvPr id="53" name="Shape 45"/>
          <p:cNvSpPr/>
          <p:nvPr/>
        </p:nvSpPr>
        <p:spPr>
          <a:xfrm>
            <a:off x="502920" y="3657600"/>
            <a:ext cx="11183112" cy="1024128"/>
          </a:xfrm>
          <a:prstGeom prst="roundRect">
            <a:avLst>
              <a:gd name="adj" fmla="val 4911"/>
            </a:avLst>
          </a:prstGeom>
          <a:solidFill>
            <a:srgbClr val="F3F6FC"/>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54" name="Text 46"/>
          <p:cNvSpPr/>
          <p:nvPr/>
        </p:nvSpPr>
        <p:spPr>
          <a:xfrm>
            <a:off x="777240" y="3803904"/>
            <a:ext cx="10652760" cy="749808"/>
          </a:xfrm>
          <a:prstGeom prst="rect">
            <a:avLst/>
          </a:prstGeom>
          <a:noFill/>
          <a:ln/>
        </p:spPr>
        <p:txBody>
          <a:bodyPr wrap="square" lIns="0" tIns="0" rIns="0" bIns="0" rtlCol="0" anchor="ctr"/>
          <a:lstStyle/>
          <a:p>
            <a:pPr indent="0" marL="0">
              <a:lnSpc>
                <a:spcPct val="110000"/>
              </a:lnSpc>
              <a:buNone/>
            </a:pPr>
            <a:r>
              <a:rPr lang="en-US" sz="1150" b="1" dirty="0">
                <a:solidFill>
                  <a:srgbClr val="13285A"/>
                </a:solidFill>
                <a:latin typeface="Arial" pitchFamily="34" charset="0"/>
                <a:ea typeface="Arial" pitchFamily="34" charset="-122"/>
                <a:cs typeface="Arial" pitchFamily="34" charset="-120"/>
              </a:rPr>
              <a:t>Intent Router 3 tầng:  </a:t>
            </a:r>
            <a:pPr indent="0" marL="0">
              <a:lnSpc>
                <a:spcPct val="110000"/>
              </a:lnSpc>
              <a:buNone/>
            </a:pPr>
            <a:r>
              <a:rPr lang="en-US" sz="1150" dirty="0">
                <a:solidFill>
                  <a:srgbClr val="1A2440"/>
                </a:solidFill>
                <a:latin typeface="Arial" pitchFamily="34" charset="0"/>
                <a:ea typeface="Arial" pitchFamily="34" charset="-122"/>
                <a:cs typeface="Arial" pitchFamily="34" charset="-120"/>
              </a:rPr>
              <a:t>T0 grammar on-device (~20 lệnh cốt lõi, tức thì)  ·  T1 classifier ONNX INT8 (câu nói tự nhiên)  ·  T2 LLM cloud function-calling (câu tự do).  Mất mạng: T0/T1 vẫn chạy trọn kịch bản giao hàng — cloud chỉ là phần mở rộng, không phải điểm chết.</a:t>
            </a:r>
            <a:endParaRPr lang="en-US" sz="1150" dirty="0"/>
          </a:p>
        </p:txBody>
      </p:sp>
      <p:sp>
        <p:nvSpPr>
          <p:cNvPr id="55" name="Text 47"/>
          <p:cNvSpPr/>
          <p:nvPr/>
        </p:nvSpPr>
        <p:spPr>
          <a:xfrm>
            <a:off x="502920" y="4864608"/>
            <a:ext cx="11155680" cy="310896"/>
          </a:xfrm>
          <a:prstGeom prst="rect">
            <a:avLst/>
          </a:prstGeom>
          <a:noFill/>
          <a:ln/>
        </p:spPr>
        <p:txBody>
          <a:bodyPr wrap="square" lIns="0" tIns="0" rIns="0" bIns="0" rtlCol="0" anchor="ctr"/>
          <a:lstStyle/>
          <a:p>
            <a:pPr indent="0" marL="0">
              <a:buNone/>
            </a:pPr>
            <a:r>
              <a:rPr lang="en-US" sz="1250" b="1" dirty="0">
                <a:solidFill>
                  <a:srgbClr val="13285A"/>
                </a:solidFill>
                <a:latin typeface="Arial" pitchFamily="34" charset="0"/>
                <a:ea typeface="Arial" pitchFamily="34" charset="-122"/>
                <a:cs typeface="Arial" pitchFamily="34" charset="-120"/>
              </a:rPr>
              <a:t>Tận dụng 5/5 tài nguyên starter pack của vertical Digital Cockpit:</a:t>
            </a:r>
            <a:endParaRPr lang="en-US" sz="1250" dirty="0"/>
          </a:p>
        </p:txBody>
      </p:sp>
      <p:sp>
        <p:nvSpPr>
          <p:cNvPr id="56" name="Shape 48"/>
          <p:cNvSpPr/>
          <p:nvPr/>
        </p:nvSpPr>
        <p:spPr>
          <a:xfrm>
            <a:off x="502920" y="5248656"/>
            <a:ext cx="2880360" cy="310896"/>
          </a:xfrm>
          <a:prstGeom prst="roundRect">
            <a:avLst>
              <a:gd name="adj" fmla="val 50000"/>
            </a:avLst>
          </a:prstGeom>
          <a:solidFill>
            <a:srgbClr val="13285A"/>
          </a:solidFill>
          <a:ln/>
        </p:spPr>
      </p:sp>
      <p:sp>
        <p:nvSpPr>
          <p:cNvPr id="57" name="Text 49"/>
          <p:cNvSpPr/>
          <p:nvPr/>
        </p:nvSpPr>
        <p:spPr>
          <a:xfrm>
            <a:off x="502920" y="5248656"/>
            <a:ext cx="28803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AAOS14 google trout (nền tảng ảo hóa FPT)</a:t>
            </a:r>
            <a:endParaRPr lang="en-US" sz="900" dirty="0"/>
          </a:p>
        </p:txBody>
      </p:sp>
      <p:sp>
        <p:nvSpPr>
          <p:cNvPr id="58" name="Shape 50"/>
          <p:cNvSpPr/>
          <p:nvPr/>
        </p:nvSpPr>
        <p:spPr>
          <a:xfrm>
            <a:off x="3529584" y="5248656"/>
            <a:ext cx="2148840" cy="310896"/>
          </a:xfrm>
          <a:prstGeom prst="roundRect">
            <a:avLst>
              <a:gd name="adj" fmla="val 50000"/>
            </a:avLst>
          </a:prstGeom>
          <a:solidFill>
            <a:srgbClr val="13285A"/>
          </a:solidFill>
          <a:ln/>
        </p:spPr>
      </p:sp>
      <p:sp>
        <p:nvSpPr>
          <p:cNvPr id="59" name="Text 51"/>
          <p:cNvSpPr/>
          <p:nvPr/>
        </p:nvSpPr>
        <p:spPr>
          <a:xfrm>
            <a:off x="3529584" y="5248656"/>
            <a:ext cx="21488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Audio mic/speaker pipeline</a:t>
            </a:r>
            <a:endParaRPr lang="en-US" sz="900" dirty="0"/>
          </a:p>
        </p:txBody>
      </p:sp>
      <p:sp>
        <p:nvSpPr>
          <p:cNvPr id="60" name="Shape 52"/>
          <p:cNvSpPr/>
          <p:nvPr/>
        </p:nvSpPr>
        <p:spPr>
          <a:xfrm>
            <a:off x="5824728" y="5248656"/>
            <a:ext cx="2011680" cy="310896"/>
          </a:xfrm>
          <a:prstGeom prst="roundRect">
            <a:avLst>
              <a:gd name="adj" fmla="val 50000"/>
            </a:avLst>
          </a:prstGeom>
          <a:solidFill>
            <a:srgbClr val="13285A"/>
          </a:solidFill>
          <a:ln/>
        </p:spPr>
      </p:sp>
      <p:sp>
        <p:nvSpPr>
          <p:cNvPr id="61" name="Text 53"/>
          <p:cNvSpPr/>
          <p:nvPr/>
        </p:nvSpPr>
        <p:spPr>
          <a:xfrm>
            <a:off x="5824728" y="5248656"/>
            <a:ext cx="201168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Default VHAL trên AAOS</a:t>
            </a:r>
            <a:endParaRPr lang="en-US" sz="900" dirty="0"/>
          </a:p>
        </p:txBody>
      </p:sp>
      <p:sp>
        <p:nvSpPr>
          <p:cNvPr id="62" name="Shape 54"/>
          <p:cNvSpPr/>
          <p:nvPr/>
        </p:nvSpPr>
        <p:spPr>
          <a:xfrm>
            <a:off x="7982712" y="5248656"/>
            <a:ext cx="1874520" cy="310896"/>
          </a:xfrm>
          <a:prstGeom prst="roundRect">
            <a:avLst>
              <a:gd name="adj" fmla="val 50000"/>
            </a:avLst>
          </a:prstGeom>
          <a:solidFill>
            <a:srgbClr val="13285A"/>
          </a:solidFill>
          <a:ln/>
        </p:spPr>
      </p:sp>
      <p:sp>
        <p:nvSpPr>
          <p:cNvPr id="63" name="Text 55"/>
          <p:cNvSpPr/>
          <p:nvPr/>
        </p:nvSpPr>
        <p:spPr>
          <a:xfrm>
            <a:off x="7982712" y="5248656"/>
            <a:ext cx="18745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Virtual USB device</a:t>
            </a:r>
            <a:endParaRPr lang="en-US" sz="900" dirty="0"/>
          </a:p>
        </p:txBody>
      </p:sp>
      <p:sp>
        <p:nvSpPr>
          <p:cNvPr id="64" name="Shape 56"/>
          <p:cNvSpPr/>
          <p:nvPr/>
        </p:nvSpPr>
        <p:spPr>
          <a:xfrm>
            <a:off x="10003536" y="5248656"/>
            <a:ext cx="1719072" cy="310896"/>
          </a:xfrm>
          <a:prstGeom prst="roundRect">
            <a:avLst>
              <a:gd name="adj" fmla="val 50000"/>
            </a:avLst>
          </a:prstGeom>
          <a:solidFill>
            <a:srgbClr val="13285A"/>
          </a:solidFill>
          <a:ln/>
        </p:spPr>
      </p:sp>
      <p:sp>
        <p:nvSpPr>
          <p:cNvPr id="65" name="Text 57"/>
          <p:cNvSpPr/>
          <p:nvPr/>
        </p:nvSpPr>
        <p:spPr>
          <a:xfrm>
            <a:off x="10003536" y="5248656"/>
            <a:ext cx="171907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UDS / DTC default</a:t>
            </a:r>
            <a:endParaRPr lang="en-US" sz="900" dirty="0"/>
          </a:p>
        </p:txBody>
      </p:sp>
      <p:sp>
        <p:nvSpPr>
          <p:cNvPr id="66" name="Text 58"/>
          <p:cNvSpPr/>
          <p:nvPr/>
        </p:nvSpPr>
        <p:spPr>
          <a:xfrm>
            <a:off x="502920" y="5742432"/>
            <a:ext cx="11155680" cy="310896"/>
          </a:xfrm>
          <a:prstGeom prst="rect">
            <a:avLst/>
          </a:prstGeom>
          <a:noFill/>
          <a:ln/>
        </p:spPr>
        <p:txBody>
          <a:bodyPr wrap="square" lIns="0" tIns="0" rIns="0" bIns="0" rtlCol="0" anchor="ctr"/>
          <a:lstStyle/>
          <a:p>
            <a:pPr indent="0" marL="0">
              <a:buNone/>
            </a:pPr>
            <a:r>
              <a:rPr lang="en-US" sz="1000" i="1" dirty="0">
                <a:solidFill>
                  <a:srgbClr val="5B6580"/>
                </a:solidFill>
                <a:latin typeface="Arial" pitchFamily="34" charset="0"/>
                <a:ea typeface="Arial" pitchFamily="34" charset="-122"/>
                <a:cs typeface="Arial" pitchFamily="34" charset="-120"/>
              </a:rPr>
              <a:t>Emulator + repo cdc-starter theo đúng hướng dẫn BTC — đội không xây lại hạ tầng, tập trung vào giá trị mới.</a:t>
            </a:r>
            <a:endParaRPr lang="en-US" sz="1000" dirty="0"/>
          </a:p>
        </p:txBody>
      </p:sp>
      <p:sp>
        <p:nvSpPr>
          <p:cNvPr id="67" name="Text 59"/>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68" name="Text 60"/>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AI SAFETY GUARD — ĐIỂM KHÁC BIỆT CỦA VIVA</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Text 3"/>
          <p:cNvSpPr/>
          <p:nvPr/>
        </p:nvSpPr>
        <p:spPr>
          <a:xfrm>
            <a:off x="502920" y="914400"/>
            <a:ext cx="11155680" cy="384048"/>
          </a:xfrm>
          <a:prstGeom prst="rect">
            <a:avLst/>
          </a:prstGeom>
          <a:noFill/>
          <a:ln/>
        </p:spPr>
        <p:txBody>
          <a:bodyPr wrap="square" lIns="0" tIns="0" rIns="0" bIns="0" rtlCol="0" anchor="ctr"/>
          <a:lstStyle/>
          <a:p>
            <a:pPr indent="0" marL="0">
              <a:buNone/>
            </a:pPr>
            <a:r>
              <a:rPr lang="en-US" sz="1550" b="1" dirty="0">
                <a:solidFill>
                  <a:srgbClr val="13285A"/>
                </a:solidFill>
                <a:latin typeface="Arial" pitchFamily="34" charset="0"/>
                <a:ea typeface="Arial" pitchFamily="34" charset="-122"/>
                <a:cs typeface="Arial" pitchFamily="34" charset="-120"/>
              </a:rPr>
              <a:t>“Hiểu ngôn ngữ có thể xác suất — THỰC THI phải tất định.”  LLM không bao giờ chạm trực tiếp vào actuator.</a:t>
            </a:r>
            <a:endParaRPr lang="en-US" sz="1550" dirty="0"/>
          </a:p>
        </p:txBody>
      </p:sp>
      <p:sp>
        <p:nvSpPr>
          <p:cNvPr id="6" name="Shape 4"/>
          <p:cNvSpPr/>
          <p:nvPr/>
        </p:nvSpPr>
        <p:spPr>
          <a:xfrm>
            <a:off x="502920" y="1481328"/>
            <a:ext cx="3557016" cy="3127248"/>
          </a:xfrm>
          <a:prstGeom prst="roundRect">
            <a:avLst>
              <a:gd name="adj" fmla="val 160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7" name="Shape 5"/>
          <p:cNvSpPr/>
          <p:nvPr/>
        </p:nvSpPr>
        <p:spPr>
          <a:xfrm>
            <a:off x="731520" y="1700784"/>
            <a:ext cx="603504" cy="603504"/>
          </a:xfrm>
          <a:prstGeom prst="ellipse">
            <a:avLst/>
          </a:prstGeom>
          <a:solidFill>
            <a:srgbClr val="13285A"/>
          </a:solidFill>
          <a:ln/>
        </p:spPr>
      </p:sp>
      <p:pic>
        <p:nvPicPr>
          <p:cNvPr id="8" name="Image 0" descr="preencoded.png">    </p:cNvPr>
          <p:cNvPicPr>
            <a:picLocks noChangeAspect="1"/>
          </p:cNvPicPr>
          <p:nvPr/>
        </p:nvPicPr>
        <p:blipFill>
          <a:blip r:embed="rId1"/>
          <a:stretch>
            <a:fillRect/>
          </a:stretch>
        </p:blipFill>
        <p:spPr>
          <a:xfrm>
            <a:off x="876361" y="1845625"/>
            <a:ext cx="313822" cy="313822"/>
          </a:xfrm>
          <a:prstGeom prst="rect">
            <a:avLst/>
          </a:prstGeom>
        </p:spPr>
      </p:pic>
      <p:sp>
        <p:nvSpPr>
          <p:cNvPr id="9" name="Text 6"/>
          <p:cNvSpPr/>
          <p:nvPr/>
        </p:nvSpPr>
        <p:spPr>
          <a:xfrm>
            <a:off x="1463040" y="1755648"/>
            <a:ext cx="2487168" cy="566928"/>
          </a:xfrm>
          <a:prstGeom prst="rect">
            <a:avLst/>
          </a:prstGeom>
          <a:noFill/>
          <a:ln/>
        </p:spPr>
        <p:txBody>
          <a:bodyPr wrap="square" lIns="0" tIns="0" rIns="0" bIns="0" rtlCol="0" anchor="ctr"/>
          <a:lstStyle/>
          <a:p>
            <a:pPr indent="0" marL="0">
              <a:lnSpc>
                <a:spcPct val="100000"/>
              </a:lnSpc>
              <a:buNone/>
            </a:pPr>
            <a:r>
              <a:rPr lang="en-US" sz="1200" b="1" dirty="0">
                <a:solidFill>
                  <a:srgbClr val="13285A"/>
                </a:solidFill>
                <a:latin typeface="Arial" pitchFamily="34" charset="0"/>
                <a:ea typeface="Arial" pitchFamily="34" charset="-122"/>
                <a:cs typeface="Arial" pitchFamily="34" charset="-120"/>
              </a:rPr>
              <a:t>G1 · Khóa theo trạng thái xe</a:t>
            </a:r>
            <a:endParaRPr lang="en-US" sz="1200" dirty="0"/>
          </a:p>
        </p:txBody>
      </p:sp>
      <p:sp>
        <p:nvSpPr>
          <p:cNvPr id="10" name="Text 7"/>
          <p:cNvSpPr/>
          <p:nvPr/>
        </p:nvSpPr>
        <p:spPr>
          <a:xfrm>
            <a:off x="731520" y="2468880"/>
            <a:ext cx="3108960" cy="868680"/>
          </a:xfrm>
          <a:prstGeom prst="rect">
            <a:avLst/>
          </a:prstGeom>
          <a:noFill/>
          <a:ln/>
        </p:spPr>
        <p:txBody>
          <a:bodyPr wrap="square" lIns="0" tIns="0" rIns="0" bIns="0" rtlCol="0" anchor="ctr"/>
          <a:lstStyle/>
          <a:p>
            <a:pPr indent="0" marL="0">
              <a:lnSpc>
                <a:spcPct val="108000"/>
              </a:lnSpc>
              <a:buNone/>
            </a:pPr>
            <a:r>
              <a:rPr lang="en-US" sz="1050" dirty="0">
                <a:solidFill>
                  <a:srgbClr val="1A2440"/>
                </a:solidFill>
                <a:latin typeface="Arial" pitchFamily="34" charset="0"/>
                <a:ea typeface="Arial" pitchFamily="34" charset="-122"/>
                <a:cs typeface="Arial" pitchFamily="34" charset="-120"/>
              </a:rPr>
              <a:t>Mọi lệnh được đối chiếu với trạng thái THẬT từ VHAL (tốc độ, số, dây an toàn) trước khi thực thi.</a:t>
            </a:r>
            <a:endParaRPr lang="en-US" sz="1050" dirty="0"/>
          </a:p>
        </p:txBody>
      </p:sp>
      <p:sp>
        <p:nvSpPr>
          <p:cNvPr id="11" name="Text 8"/>
          <p:cNvSpPr/>
          <p:nvPr/>
        </p:nvSpPr>
        <p:spPr>
          <a:xfrm>
            <a:off x="731520" y="3383280"/>
            <a:ext cx="3108960" cy="1097280"/>
          </a:xfrm>
          <a:prstGeom prst="rect">
            <a:avLst/>
          </a:prstGeom>
          <a:noFill/>
          <a:ln/>
        </p:spPr>
        <p:txBody>
          <a:bodyPr wrap="square" lIns="0" tIns="0" rIns="0" bIns="0" rtlCol="0" anchor="ctr"/>
          <a:lstStyle/>
          <a:p>
            <a:pPr indent="0" marL="0">
              <a:lnSpc>
                <a:spcPct val="108000"/>
              </a:lnSpc>
              <a:buNone/>
            </a:pPr>
            <a:r>
              <a:rPr lang="en-US" sz="1000" i="1" dirty="0">
                <a:solidFill>
                  <a:srgbClr val="5B6580"/>
                </a:solidFill>
                <a:latin typeface="Arial" pitchFamily="34" charset="0"/>
                <a:ea typeface="Arial" pitchFamily="34" charset="-122"/>
                <a:cs typeface="Arial" pitchFamily="34" charset="-120"/>
              </a:rPr>
              <a:t>Ví dụ: “mở cửa” khi xe đang lăn bánh → từ chối, giải thích lý do, đề nghị thực hiện khi xe dừng hẳn.</a:t>
            </a:r>
            <a:endParaRPr lang="en-US" sz="1000" dirty="0"/>
          </a:p>
        </p:txBody>
      </p:sp>
      <p:sp>
        <p:nvSpPr>
          <p:cNvPr id="12" name="Shape 9"/>
          <p:cNvSpPr/>
          <p:nvPr/>
        </p:nvSpPr>
        <p:spPr>
          <a:xfrm>
            <a:off x="4315968" y="1481328"/>
            <a:ext cx="3557016" cy="3127248"/>
          </a:xfrm>
          <a:prstGeom prst="roundRect">
            <a:avLst>
              <a:gd name="adj" fmla="val 160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3" name="Shape 10"/>
          <p:cNvSpPr/>
          <p:nvPr/>
        </p:nvSpPr>
        <p:spPr>
          <a:xfrm>
            <a:off x="4544568" y="1700784"/>
            <a:ext cx="603504" cy="603504"/>
          </a:xfrm>
          <a:prstGeom prst="ellipse">
            <a:avLst/>
          </a:prstGeom>
          <a:solidFill>
            <a:srgbClr val="13285A"/>
          </a:solidFill>
          <a:ln/>
        </p:spPr>
      </p:sp>
      <p:pic>
        <p:nvPicPr>
          <p:cNvPr id="14" name="Image 1" descr="preencoded.png">    </p:cNvPr>
          <p:cNvPicPr>
            <a:picLocks noChangeAspect="1"/>
          </p:cNvPicPr>
          <p:nvPr/>
        </p:nvPicPr>
        <p:blipFill>
          <a:blip r:embed="rId2"/>
          <a:stretch>
            <a:fillRect/>
          </a:stretch>
        </p:blipFill>
        <p:spPr>
          <a:xfrm>
            <a:off x="4689409" y="1845625"/>
            <a:ext cx="313822" cy="313822"/>
          </a:xfrm>
          <a:prstGeom prst="rect">
            <a:avLst/>
          </a:prstGeom>
        </p:spPr>
      </p:pic>
      <p:sp>
        <p:nvSpPr>
          <p:cNvPr id="15" name="Text 11"/>
          <p:cNvSpPr/>
          <p:nvPr/>
        </p:nvSpPr>
        <p:spPr>
          <a:xfrm>
            <a:off x="5276088" y="1755648"/>
            <a:ext cx="2487168" cy="566928"/>
          </a:xfrm>
          <a:prstGeom prst="rect">
            <a:avLst/>
          </a:prstGeom>
          <a:noFill/>
          <a:ln/>
        </p:spPr>
        <p:txBody>
          <a:bodyPr wrap="square" lIns="0" tIns="0" rIns="0" bIns="0" rtlCol="0" anchor="ctr"/>
          <a:lstStyle/>
          <a:p>
            <a:pPr indent="0" marL="0">
              <a:lnSpc>
                <a:spcPct val="100000"/>
              </a:lnSpc>
              <a:buNone/>
            </a:pPr>
            <a:r>
              <a:rPr lang="en-US" sz="1200" b="1" dirty="0">
                <a:solidFill>
                  <a:srgbClr val="13285A"/>
                </a:solidFill>
                <a:latin typeface="Arial" pitchFamily="34" charset="0"/>
                <a:ea typeface="Arial" pitchFamily="34" charset="-122"/>
                <a:cs typeface="Arial" pitchFamily="34" charset="-120"/>
              </a:rPr>
              <a:t>G2 · Xác nhận &amp; tình huống đặc biệt</a:t>
            </a:r>
            <a:endParaRPr lang="en-US" sz="1200" dirty="0"/>
          </a:p>
        </p:txBody>
      </p:sp>
      <p:sp>
        <p:nvSpPr>
          <p:cNvPr id="16" name="Text 12"/>
          <p:cNvSpPr/>
          <p:nvPr/>
        </p:nvSpPr>
        <p:spPr>
          <a:xfrm>
            <a:off x="4544568" y="2468880"/>
            <a:ext cx="3108960" cy="868680"/>
          </a:xfrm>
          <a:prstGeom prst="rect">
            <a:avLst/>
          </a:prstGeom>
          <a:noFill/>
          <a:ln/>
        </p:spPr>
        <p:txBody>
          <a:bodyPr wrap="square" lIns="0" tIns="0" rIns="0" bIns="0" rtlCol="0" anchor="ctr"/>
          <a:lstStyle/>
          <a:p>
            <a:pPr indent="0" marL="0">
              <a:lnSpc>
                <a:spcPct val="108000"/>
              </a:lnSpc>
              <a:buNone/>
            </a:pPr>
            <a:r>
              <a:rPr lang="en-US" sz="1050" dirty="0">
                <a:solidFill>
                  <a:srgbClr val="1A2440"/>
                </a:solidFill>
                <a:latin typeface="Arial" pitchFamily="34" charset="0"/>
                <a:ea typeface="Arial" pitchFamily="34" charset="-122"/>
                <a:cs typeface="Arial" pitchFamily="34" charset="-120"/>
              </a:rPr>
              <a:t>Hành động nhạy cảm yêu cầu xác nhận bằng giọng nói trước khi chạy.</a:t>
            </a:r>
            <a:endParaRPr lang="en-US" sz="1050" dirty="0"/>
          </a:p>
        </p:txBody>
      </p:sp>
      <p:sp>
        <p:nvSpPr>
          <p:cNvPr id="17" name="Text 13"/>
          <p:cNvSpPr/>
          <p:nvPr/>
        </p:nvSpPr>
        <p:spPr>
          <a:xfrm>
            <a:off x="4544568" y="3383280"/>
            <a:ext cx="3108960" cy="1097280"/>
          </a:xfrm>
          <a:prstGeom prst="rect">
            <a:avLst/>
          </a:prstGeom>
          <a:noFill/>
          <a:ln/>
        </p:spPr>
        <p:txBody>
          <a:bodyPr wrap="square" lIns="0" tIns="0" rIns="0" bIns="0" rtlCol="0" anchor="ctr"/>
          <a:lstStyle/>
          <a:p>
            <a:pPr indent="0" marL="0">
              <a:lnSpc>
                <a:spcPct val="108000"/>
              </a:lnSpc>
              <a:buNone/>
            </a:pPr>
            <a:r>
              <a:rPr lang="en-US" sz="1000" i="1" dirty="0">
                <a:solidFill>
                  <a:srgbClr val="5B6580"/>
                </a:solidFill>
                <a:latin typeface="Arial" pitchFamily="34" charset="0"/>
                <a:ea typeface="Arial" pitchFamily="34" charset="-122"/>
                <a:cs typeface="Arial" pitchFamily="34" charset="-120"/>
              </a:rPr>
              <a:t>Kịch bản trẻ em một mình trên xe: khóa các lệnh nguy hiểm từ giọng chưa xác thực, duy trì thông gió, đẩy cảnh báo tới tài xế.</a:t>
            </a:r>
            <a:endParaRPr lang="en-US" sz="1000" dirty="0"/>
          </a:p>
        </p:txBody>
      </p:sp>
      <p:sp>
        <p:nvSpPr>
          <p:cNvPr id="18" name="Shape 14"/>
          <p:cNvSpPr/>
          <p:nvPr/>
        </p:nvSpPr>
        <p:spPr>
          <a:xfrm>
            <a:off x="8129016" y="1481328"/>
            <a:ext cx="3557016" cy="3127248"/>
          </a:xfrm>
          <a:prstGeom prst="roundRect">
            <a:avLst>
              <a:gd name="adj" fmla="val 1608"/>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9" name="Shape 15"/>
          <p:cNvSpPr/>
          <p:nvPr/>
        </p:nvSpPr>
        <p:spPr>
          <a:xfrm>
            <a:off x="8357616" y="1700784"/>
            <a:ext cx="603504" cy="603504"/>
          </a:xfrm>
          <a:prstGeom prst="ellipse">
            <a:avLst/>
          </a:prstGeom>
          <a:solidFill>
            <a:srgbClr val="13285A"/>
          </a:solidFill>
          <a:ln/>
        </p:spPr>
      </p:sp>
      <p:pic>
        <p:nvPicPr>
          <p:cNvPr id="20" name="Image 2" descr="preencoded.png">    </p:cNvPr>
          <p:cNvPicPr>
            <a:picLocks noChangeAspect="1"/>
          </p:cNvPicPr>
          <p:nvPr/>
        </p:nvPicPr>
        <p:blipFill>
          <a:blip r:embed="rId3"/>
          <a:stretch>
            <a:fillRect/>
          </a:stretch>
        </p:blipFill>
        <p:spPr>
          <a:xfrm>
            <a:off x="8502457" y="1845625"/>
            <a:ext cx="313822" cy="313822"/>
          </a:xfrm>
          <a:prstGeom prst="rect">
            <a:avLst/>
          </a:prstGeom>
        </p:spPr>
      </p:pic>
      <p:sp>
        <p:nvSpPr>
          <p:cNvPr id="21" name="Text 16"/>
          <p:cNvSpPr/>
          <p:nvPr/>
        </p:nvSpPr>
        <p:spPr>
          <a:xfrm>
            <a:off x="9089136" y="1755648"/>
            <a:ext cx="2487168" cy="566928"/>
          </a:xfrm>
          <a:prstGeom prst="rect">
            <a:avLst/>
          </a:prstGeom>
          <a:noFill/>
          <a:ln/>
        </p:spPr>
        <p:txBody>
          <a:bodyPr wrap="square" lIns="0" tIns="0" rIns="0" bIns="0" rtlCol="0" anchor="ctr"/>
          <a:lstStyle/>
          <a:p>
            <a:pPr indent="0" marL="0">
              <a:lnSpc>
                <a:spcPct val="100000"/>
              </a:lnSpc>
              <a:buNone/>
            </a:pPr>
            <a:r>
              <a:rPr lang="en-US" sz="1200" b="1" dirty="0">
                <a:solidFill>
                  <a:srgbClr val="13285A"/>
                </a:solidFill>
                <a:latin typeface="Arial" pitchFamily="34" charset="0"/>
                <a:ea typeface="Arial" pitchFamily="34" charset="-122"/>
                <a:cs typeface="Arial" pitchFamily="34" charset="-120"/>
              </a:rPr>
              <a:t>G3 · Rào chắn cho LLM (tầng T2)</a:t>
            </a:r>
            <a:endParaRPr lang="en-US" sz="1200" dirty="0"/>
          </a:p>
        </p:txBody>
      </p:sp>
      <p:sp>
        <p:nvSpPr>
          <p:cNvPr id="22" name="Text 17"/>
          <p:cNvSpPr/>
          <p:nvPr/>
        </p:nvSpPr>
        <p:spPr>
          <a:xfrm>
            <a:off x="8357616" y="2468880"/>
            <a:ext cx="3108960" cy="868680"/>
          </a:xfrm>
          <a:prstGeom prst="rect">
            <a:avLst/>
          </a:prstGeom>
          <a:noFill/>
          <a:ln/>
        </p:spPr>
        <p:txBody>
          <a:bodyPr wrap="square" lIns="0" tIns="0" rIns="0" bIns="0" rtlCol="0" anchor="ctr"/>
          <a:lstStyle/>
          <a:p>
            <a:pPr indent="0" marL="0">
              <a:lnSpc>
                <a:spcPct val="108000"/>
              </a:lnSpc>
              <a:buNone/>
            </a:pPr>
            <a:r>
              <a:rPr lang="en-US" sz="1050" dirty="0">
                <a:solidFill>
                  <a:srgbClr val="1A2440"/>
                </a:solidFill>
                <a:latin typeface="Arial" pitchFamily="34" charset="0"/>
                <a:ea typeface="Arial" pitchFamily="34" charset="-122"/>
                <a:cs typeface="Arial" pitchFamily="34" charset="-120"/>
              </a:rPr>
              <a:t>Function whitelist + schema validation + lọc prompt-injection cho mọi câu đi qua cloud.</a:t>
            </a:r>
            <a:endParaRPr lang="en-US" sz="1050" dirty="0"/>
          </a:p>
        </p:txBody>
      </p:sp>
      <p:sp>
        <p:nvSpPr>
          <p:cNvPr id="23" name="Text 18"/>
          <p:cNvSpPr/>
          <p:nvPr/>
        </p:nvSpPr>
        <p:spPr>
          <a:xfrm>
            <a:off x="8357616" y="3383280"/>
            <a:ext cx="3108960" cy="1097280"/>
          </a:xfrm>
          <a:prstGeom prst="rect">
            <a:avLst/>
          </a:prstGeom>
          <a:noFill/>
          <a:ln/>
        </p:spPr>
        <p:txBody>
          <a:bodyPr wrap="square" lIns="0" tIns="0" rIns="0" bIns="0" rtlCol="0" anchor="ctr"/>
          <a:lstStyle/>
          <a:p>
            <a:pPr indent="0" marL="0">
              <a:lnSpc>
                <a:spcPct val="108000"/>
              </a:lnSpc>
              <a:buNone/>
            </a:pPr>
            <a:r>
              <a:rPr lang="en-US" sz="1000" i="1" dirty="0">
                <a:solidFill>
                  <a:srgbClr val="5B6580"/>
                </a:solidFill>
                <a:latin typeface="Arial" pitchFamily="34" charset="0"/>
                <a:ea typeface="Arial" pitchFamily="34" charset="-122"/>
                <a:cs typeface="Arial" pitchFamily="34" charset="-120"/>
              </a:rPr>
              <a:t>LLM chỉ được ĐỀ XUẤT intent — Policy Engine tất định mới là bên quyết định thực thi.</a:t>
            </a:r>
            <a:endParaRPr lang="en-US" sz="1000" dirty="0"/>
          </a:p>
        </p:txBody>
      </p:sp>
      <p:sp>
        <p:nvSpPr>
          <p:cNvPr id="24" name="Shape 19"/>
          <p:cNvSpPr/>
          <p:nvPr/>
        </p:nvSpPr>
        <p:spPr>
          <a:xfrm>
            <a:off x="502920" y="4846320"/>
            <a:ext cx="11183112" cy="1207008"/>
          </a:xfrm>
          <a:prstGeom prst="roundRect">
            <a:avLst>
              <a:gd name="adj" fmla="val 4167"/>
            </a:avLst>
          </a:prstGeom>
          <a:solidFill>
            <a:srgbClr val="FDF1E7"/>
          </a:solidFill>
          <a:ln w="12700">
            <a:solidFill>
              <a:srgbClr val="F4C9A4"/>
            </a:solidFill>
            <a:prstDash val="solid"/>
          </a:ln>
          <a:effectLst>
            <a:outerShdw sx="100000" sy="100000" kx="0" ky="0" algn="bl" rotWithShape="0" blurRad="88900" dist="25400" dir="5400000">
              <a:srgbClr val="1A2440">
                <a:alpha val="18000"/>
              </a:srgbClr>
            </a:outerShdw>
          </a:effectLst>
        </p:spPr>
      </p:sp>
      <p:sp>
        <p:nvSpPr>
          <p:cNvPr id="25" name="Text 20"/>
          <p:cNvSpPr/>
          <p:nvPr/>
        </p:nvSpPr>
        <p:spPr>
          <a:xfrm>
            <a:off x="777240" y="5029200"/>
            <a:ext cx="10652760" cy="868680"/>
          </a:xfrm>
          <a:prstGeom prst="rect">
            <a:avLst/>
          </a:prstGeom>
          <a:noFill/>
          <a:ln/>
        </p:spPr>
        <p:txBody>
          <a:bodyPr wrap="square" lIns="0" tIns="0" rIns="0" bIns="0" rtlCol="0" anchor="ctr"/>
          <a:lstStyle/>
          <a:p>
            <a:pPr indent="0" marL="0">
              <a:lnSpc>
                <a:spcPct val="112000"/>
              </a:lnSpc>
              <a:buNone/>
            </a:pPr>
            <a:r>
              <a:rPr lang="en-US" sz="1200" b="1" dirty="0">
                <a:solidFill>
                  <a:srgbClr val="13285A"/>
                </a:solidFill>
                <a:latin typeface="Arial" pitchFamily="34" charset="0"/>
                <a:ea typeface="Arial" pitchFamily="34" charset="-122"/>
                <a:cs typeface="Arial" pitchFamily="34" charset="-120"/>
              </a:rPr>
              <a:t>Safety scenario pack = bộ test case CHẤM ĐƯỢC ở Vòng 2. </a:t>
            </a:r>
            <a:pPr indent="0" marL="0">
              <a:lnSpc>
                <a:spcPct val="112000"/>
              </a:lnSpc>
              <a:buNone/>
            </a:pPr>
            <a:r>
              <a:rPr lang="en-US" sz="1200" dirty="0">
                <a:solidFill>
                  <a:srgbClr val="1A2440"/>
                </a:solidFill>
                <a:latin typeface="Arial" pitchFamily="34" charset="0"/>
                <a:ea typeface="Arial" pitchFamily="34" charset="-122"/>
                <a:cs typeface="Arial" pitchFamily="34" charset="-120"/>
              </a:rPr>
              <a:t>Demo trực tiếp: ra lệnh “mở cửa” khi mô phỏng xe đang chạy → hệ thống chặn đúng và giải thích đúng. An toàn là tính năng demo được, không phải lời hứa trên slide.</a:t>
            </a:r>
            <a:endParaRPr lang="en-US" sz="1200" dirty="0"/>
          </a:p>
        </p:txBody>
      </p:sp>
      <p:sp>
        <p:nvSpPr>
          <p:cNvPr id="26" name="Text 21"/>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27" name="Text 22"/>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LATENCY BUDGET — CHỨNG MINH CON SỐ &lt; 1,5 GIÂY</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502920" y="960120"/>
            <a:ext cx="11183112" cy="896112"/>
          </a:xfrm>
          <a:prstGeom prst="roundRect">
            <a:avLst>
              <a:gd name="adj" fmla="val 5612"/>
            </a:avLst>
          </a:prstGeom>
          <a:solidFill>
            <a:srgbClr val="13285A"/>
          </a:solidFill>
          <a:ln w="12700">
            <a:solidFill>
              <a:srgbClr val="13285A"/>
            </a:solidFill>
            <a:prstDash val="solid"/>
          </a:ln>
          <a:effectLst>
            <a:outerShdw sx="100000" sy="100000" kx="0" ky="0" algn="bl" rotWithShape="0" blurRad="88900" dist="25400" dir="5400000">
              <a:srgbClr val="1A2440">
                <a:alpha val="18000"/>
              </a:srgbClr>
            </a:outerShdw>
          </a:effectLst>
        </p:spPr>
      </p:sp>
      <p:sp>
        <p:nvSpPr>
          <p:cNvPr id="6" name="Text 4"/>
          <p:cNvSpPr/>
          <p:nvPr/>
        </p:nvSpPr>
        <p:spPr>
          <a:xfrm>
            <a:off x="777240" y="1060704"/>
            <a:ext cx="10652760"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Courier New" pitchFamily="34" charset="0"/>
                <a:ea typeface="Courier New" pitchFamily="34" charset="-122"/>
                <a:cs typeface="Courier New" pitchFamily="34" charset="-120"/>
              </a:rPr>
              <a:t>T_e2e = T_endpoint + T_ASR + T_NLU + T_guard + T_exec + T_render</a:t>
            </a:r>
            <a:endParaRPr lang="en-US" sz="1250" dirty="0"/>
          </a:p>
          <a:p>
            <a:pPr indent="0" marL="0">
              <a:lnSpc>
                <a:spcPct val="115000"/>
              </a:lnSpc>
              <a:buNone/>
            </a:pPr>
            <a:r>
              <a:rPr lang="en-US" sz="1050" dirty="0">
                <a:solidFill>
                  <a:srgbClr val="AEC0E8"/>
                </a:solidFill>
                <a:latin typeface="Arial" pitchFamily="34" charset="0"/>
                <a:ea typeface="Arial" pitchFamily="34" charset="-122"/>
                <a:cs typeface="Arial" pitchFamily="34" charset="-120"/>
              </a:rPr>
              <a:t>Streaming: T_ASR ≈ RTF × chunk cuối (không phải RTF × cả câu) — điều kiện toán học để đạt trần 1,5 s do đề đặt ra.</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83112" cy="914400"/>
        </p:xfrm>
        <a:graphic>
          <a:graphicData uri="http://schemas.openxmlformats.org/drawingml/2006/table">
            <a:tbl>
              <a:tblPr/>
              <a:tblGrid>
                <a:gridCol w="4114800"/>
                <a:gridCol w="1737360"/>
                <a:gridCol w="5330952"/>
              </a:tblGrid>
              <a:tr h="365760">
                <a:tc>
                  <a:txBody>
                    <a:bodyPr/>
                    <a:lstStyle/>
                    <a:p>
                      <a:pPr indent="0" marL="0">
                        <a:buNone/>
                      </a:pPr>
                      <a:r>
                        <a:rPr lang="en-US" sz="1050" b="1" dirty="0">
                          <a:solidFill>
                            <a:srgbClr val="FFFFFF"/>
                          </a:solidFill>
                          <a:latin typeface="Arial" pitchFamily="34" charset="0"/>
                          <a:ea typeface="Arial" pitchFamily="34" charset="-122"/>
                          <a:cs typeface="Arial" pitchFamily="34" charset="-120"/>
                        </a:rPr>
                        <a:t>Chặng</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13285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Dự toán</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13285A"/>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Cách kiểm chứng</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13285A"/>
                    </a:solidFill>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Endpoint detect (VAD nhận biết nói xong)</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250–300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Tham số cấu hình — đo trên laptop đội</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ASR tail (streaming, INT8)</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200–350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RTF từ pipeline ASR production của trưởng nhóm — đo lại trên i7-14650HX</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NLU — Intent T0 / T1</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5–50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Grammar ≈ 0 ms; classifier ONNX INT8 — đo trên laptop</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Safety Guard (rule tất định)</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&lt; 5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Đo cùng harness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Dispatch + VHAL / MediaSession</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30–80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App test trên AVD — Tuần 1 Vòng 2</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HMI render</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16–50 ms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1–3 frame — Tuần 1</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r h="365760">
                <a:tc>
                  <a:txBody>
                    <a:bodyPr/>
                    <a:lstStyle/>
                    <a:p>
                      <a:pPr indent="0" marL="0">
                        <a:buNone/>
                      </a:pPr>
                      <a:r>
                        <a:rPr lang="en-US" sz="1050" b="1" dirty="0">
                          <a:solidFill>
                            <a:srgbClr val="13285A"/>
                          </a:solidFill>
                          <a:latin typeface="Arial" pitchFamily="34" charset="0"/>
                          <a:ea typeface="Arial" pitchFamily="34" charset="-122"/>
                          <a:cs typeface="Arial" pitchFamily="34" charset="-120"/>
                        </a:rPr>
                        <a:t>TỔNG đường edge (dự toán)</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FDF1E7"/>
                    </a:solidFill>
                  </a:tcPr>
                </a:tc>
                <a:tc>
                  <a:txBody>
                    <a:bodyPr/>
                    <a:lstStyle/>
                    <a:p>
                      <a:pPr algn="ctr" indent="0" marL="0">
                        <a:buNone/>
                      </a:pPr>
                      <a:r>
                        <a:rPr lang="en-US" sz="1050" b="1" dirty="0">
                          <a:solidFill>
                            <a:srgbClr val="F26F21"/>
                          </a:solidFill>
                          <a:latin typeface="Arial" pitchFamily="34" charset="0"/>
                          <a:ea typeface="Arial" pitchFamily="34" charset="-122"/>
                          <a:cs typeface="Arial" pitchFamily="34" charset="-120"/>
                        </a:rPr>
                        <a:t>≈ 0,5–0,85 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FDF1E7"/>
                    </a:solidFill>
                  </a:tcPr>
                </a:tc>
                <a:tc>
                  <a:txBody>
                    <a:bodyPr/>
                    <a:lstStyle/>
                    <a:p>
                      <a:pPr indent="0" marL="0">
                        <a:buNone/>
                      </a:pPr>
                      <a:r>
                        <a:rPr lang="en-US" sz="1050" b="1" dirty="0">
                          <a:solidFill>
                            <a:srgbClr val="13285A"/>
                          </a:solidFill>
                          <a:latin typeface="Arial" pitchFamily="34" charset="0"/>
                          <a:ea typeface="Arial" pitchFamily="34" charset="-122"/>
                          <a:cs typeface="Arial" pitchFamily="34" charset="-120"/>
                        </a:rPr>
                        <a:t>Biên an toàn ~2× so với trần 1,5 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solidFill>
                      <a:srgbClr val="FDF1E7"/>
                    </a:solidFill>
                  </a:tcPr>
                </a:tc>
              </a:tr>
              <a:tr h="365760">
                <a:tc>
                  <a:txBody>
                    <a:bodyPr/>
                    <a:lstStyle/>
                    <a:p>
                      <a:pPr indent="0" marL="0">
                        <a:buNone/>
                      </a:pPr>
                      <a:r>
                        <a:rPr lang="en-US" sz="1050" dirty="0">
                          <a:solidFill>
                            <a:srgbClr val="1A2440"/>
                          </a:solidFill>
                          <a:latin typeface="Arial" pitchFamily="34" charset="0"/>
                          <a:ea typeface="Arial" pitchFamily="34" charset="-122"/>
                          <a:cs typeface="Arial" pitchFamily="34" charset="-120"/>
                        </a:rPr>
                        <a:t>Đường cloud T2 (chỉ cho câu tự do)</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algn="ctr" indent="0" marL="0">
                        <a:buNone/>
                      </a:pPr>
                      <a:r>
                        <a:rPr lang="en-US" sz="1050" dirty="0">
                          <a:solidFill>
                            <a:srgbClr val="1A2440"/>
                          </a:solidFill>
                          <a:latin typeface="Arial" pitchFamily="34" charset="0"/>
                          <a:ea typeface="Arial" pitchFamily="34" charset="-122"/>
                          <a:cs typeface="Arial" pitchFamily="34" charset="-120"/>
                        </a:rPr>
                        <a:t>0,8–2,5 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c>
                  <a:txBody>
                    <a:bodyPr/>
                    <a:lstStyle/>
                    <a:p>
                      <a:pPr indent="0" marL="0">
                        <a:buNone/>
                      </a:pPr>
                      <a:r>
                        <a:rPr lang="en-US" sz="1050" dirty="0">
                          <a:solidFill>
                            <a:srgbClr val="1A2440"/>
                          </a:solidFill>
                          <a:latin typeface="Arial" pitchFamily="34" charset="0"/>
                          <a:ea typeface="Arial" pitchFamily="34" charset="-122"/>
                          <a:cs typeface="Arial" pitchFamily="34" charset="-120"/>
                        </a:rPr>
                        <a:t>Tuần 2 — không nằm trong cam kết 1,5 s</a:t>
                      </a:r>
                      <a:endParaRPr lang="en-US" sz="1050" dirty="0">
                        <a:latin typeface="Arial" charset="0"/>
                        <a:ea typeface="Arial" charset="0"/>
                        <a:cs typeface="Arial" charset="0"/>
                      </a:endParaRPr>
                    </a:p>
                  </a:txBody>
                  <a:tcPr marL="54864" marR="54864" marT="54864" marB="54864" anchor="ctr">
                    <a:lnL w="9525" cap="flat" cmpd="sng" algn="ctr">
                      <a:solidFill>
                        <a:srgbClr val="D9E0EF"/>
                      </a:solidFill>
                      <a:prstDash val="solid"/>
                      <a:round/>
                      <a:headEnd type="none" w="med" len="med"/>
                      <a:tailEnd type="none" w="med" len="med"/>
                    </a:lnL>
                    <a:lnR w="9525" cap="flat" cmpd="sng" algn="ctr">
                      <a:solidFill>
                        <a:srgbClr val="D9E0EF"/>
                      </a:solidFill>
                      <a:prstDash val="solid"/>
                      <a:round/>
                      <a:headEnd type="none" w="med" len="med"/>
                      <a:tailEnd type="none" w="med" len="med"/>
                    </a:lnR>
                    <a:lnT w="9525" cap="flat" cmpd="sng" algn="ctr">
                      <a:solidFill>
                        <a:srgbClr val="D9E0EF"/>
                      </a:solidFill>
                      <a:prstDash val="solid"/>
                      <a:round/>
                      <a:headEnd type="none" w="med" len="med"/>
                      <a:tailEnd type="none" w="med" len="med"/>
                    </a:lnT>
                    <a:lnB w="9525" cap="flat" cmpd="sng" algn="ctr">
                      <a:solidFill>
                        <a:srgbClr val="D9E0EF"/>
                      </a:solidFill>
                      <a:prstDash val="solid"/>
                      <a:round/>
                      <a:headEnd type="none" w="med" len="med"/>
                      <a:tailEnd type="none" w="med" len="med"/>
                    </a:lnB>
                  </a:tcPr>
                </a:tc>
              </a:tr>
            </a:tbl>
          </a:graphicData>
        </a:graphic>
      </p:graphicFrame>
      <p:sp>
        <p:nvSpPr>
          <p:cNvPr id="8" name="Shape 5"/>
          <p:cNvSpPr/>
          <p:nvPr/>
        </p:nvSpPr>
        <p:spPr>
          <a:xfrm>
            <a:off x="502920" y="5504688"/>
            <a:ext cx="11183112" cy="841248"/>
          </a:xfrm>
          <a:prstGeom prst="roundRect">
            <a:avLst>
              <a:gd name="adj" fmla="val 5978"/>
            </a:avLst>
          </a:prstGeom>
          <a:solidFill>
            <a:srgbClr val="F3F6FC"/>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9" name="Text 6"/>
          <p:cNvSpPr/>
          <p:nvPr/>
        </p:nvSpPr>
        <p:spPr>
          <a:xfrm>
            <a:off x="777240" y="5632704"/>
            <a:ext cx="10652760" cy="621792"/>
          </a:xfrm>
          <a:prstGeom prst="rect">
            <a:avLst/>
          </a:prstGeom>
          <a:noFill/>
          <a:ln/>
        </p:spPr>
        <p:txBody>
          <a:bodyPr wrap="square" lIns="0" tIns="0" rIns="0" bIns="0" rtlCol="0" anchor="ctr"/>
          <a:lstStyle/>
          <a:p>
            <a:pPr indent="0" marL="0">
              <a:lnSpc>
                <a:spcPct val="110000"/>
              </a:lnSpc>
              <a:buNone/>
            </a:pPr>
            <a:r>
              <a:rPr lang="en-US" sz="1050" b="1" dirty="0">
                <a:solidFill>
                  <a:srgbClr val="13285A"/>
                </a:solidFill>
                <a:latin typeface="Arial" pitchFamily="34" charset="0"/>
                <a:ea typeface="Arial" pitchFamily="34" charset="-122"/>
                <a:cs typeface="Arial" pitchFamily="34" charset="-120"/>
              </a:rPr>
              <a:t>Kế hoạch kiểm chứng: </a:t>
            </a:r>
            <a:pPr indent="0" marL="0">
              <a:lnSpc>
                <a:spcPct val="110000"/>
              </a:lnSpc>
              <a:buNone/>
            </a:pPr>
            <a:r>
              <a:rPr lang="en-US" sz="1050" dirty="0">
                <a:solidFill>
                  <a:srgbClr val="1A2440"/>
                </a:solidFill>
                <a:latin typeface="Arial" pitchFamily="34" charset="0"/>
                <a:ea typeface="Arial" pitchFamily="34" charset="-122"/>
                <a:cs typeface="Arial" pitchFamily="34" charset="-120"/>
              </a:rPr>
              <a:t>(1) trước nộp — đo RTF thành phần trên laptop đội · (2) Tuần 1 — benchmark harness log timestamp từng chặng trên AVD · (3) Tuần 3 — báo cáo ≥20 câu lệnh, nhiều mức nhiễu, p50 &amp; p95, so sánh edge-only vs hybrid (đúng Output Request của đề).</a:t>
            </a:r>
            <a:endParaRPr lang="en-US" sz="1050" dirty="0"/>
          </a:p>
        </p:txBody>
      </p:sp>
      <p:sp>
        <p:nvSpPr>
          <p:cNvPr id="11" name="Text 7"/>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12" name="Text 8"/>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LỘ TRÌNH VÒNG 2 · 21/07 – 10/08 (3 TUẦN)</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502920" y="1051560"/>
            <a:ext cx="3557016" cy="3246120"/>
          </a:xfrm>
          <a:prstGeom prst="roundRect">
            <a:avLst>
              <a:gd name="adj" fmla="val 1549"/>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6" name="Shape 4"/>
          <p:cNvSpPr/>
          <p:nvPr/>
        </p:nvSpPr>
        <p:spPr>
          <a:xfrm>
            <a:off x="502920" y="1051560"/>
            <a:ext cx="3557016" cy="713232"/>
          </a:xfrm>
          <a:prstGeom prst="roundRect">
            <a:avLst>
              <a:gd name="adj" fmla="val 7051"/>
            </a:avLst>
          </a:prstGeom>
          <a:solidFill>
            <a:srgbClr val="13285A"/>
          </a:solidFill>
          <a:ln/>
        </p:spPr>
      </p:sp>
      <p:sp>
        <p:nvSpPr>
          <p:cNvPr id="7" name="Text 5"/>
          <p:cNvSpPr/>
          <p:nvPr/>
        </p:nvSpPr>
        <p:spPr>
          <a:xfrm>
            <a:off x="704088" y="1051560"/>
            <a:ext cx="3200400" cy="713232"/>
          </a:xfrm>
          <a:prstGeom prst="rect">
            <a:avLst/>
          </a:prstGeom>
          <a:noFill/>
          <a:ln/>
        </p:spPr>
        <p:txBody>
          <a:bodyPr wrap="square" lIns="0" tIns="0" rIns="0" bIns="0" rtlCol="0" anchor="ctr"/>
          <a:lstStyle/>
          <a:p>
            <a:pPr indent="0" marL="0">
              <a:buNone/>
            </a:pPr>
            <a:r>
              <a:rPr lang="en-US" sz="1300" b="1" dirty="0">
                <a:solidFill>
                  <a:srgbClr val="F26F21"/>
                </a:solidFill>
                <a:latin typeface="Arial" pitchFamily="34" charset="0"/>
                <a:ea typeface="Arial" pitchFamily="34" charset="-122"/>
                <a:cs typeface="Arial" pitchFamily="34" charset="-120"/>
              </a:rPr>
              <a:t>TUẦN 1  </a:t>
            </a:r>
            <a:pPr indent="0" marL="0">
              <a:buNone/>
            </a:pPr>
            <a:r>
              <a:rPr lang="en-US" sz="1300" b="1" dirty="0">
                <a:solidFill>
                  <a:srgbClr val="FFFFFF"/>
                </a:solidFill>
                <a:latin typeface="Arial" pitchFamily="34" charset="0"/>
                <a:ea typeface="Arial" pitchFamily="34" charset="-122"/>
                <a:cs typeface="Arial" pitchFamily="34" charset="-120"/>
              </a:rPr>
              <a:t>· Dựng xương sống</a:t>
            </a:r>
            <a:endParaRPr lang="en-US" sz="1300" dirty="0"/>
          </a:p>
        </p:txBody>
      </p:sp>
      <p:sp>
        <p:nvSpPr>
          <p:cNvPr id="8" name="Text 6"/>
          <p:cNvSpPr/>
          <p:nvPr/>
        </p:nvSpPr>
        <p:spPr>
          <a:xfrm>
            <a:off x="731520" y="1920240"/>
            <a:ext cx="3127248" cy="2240280"/>
          </a:xfrm>
          <a:prstGeom prst="rect">
            <a:avLst/>
          </a:prstGeom>
          <a:noFill/>
          <a:ln/>
        </p:spPr>
        <p:txBody>
          <a:bodyPr wrap="square" lIns="0" tIns="0" rIns="0" bIns="0" rtlCol="0" anchor="ctr"/>
          <a:lstStyle/>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Audio pipeline trên AVD: push-to-talk + VAD → ASR tiếng Việt (wake word “Vivi ơi” = nice-to-have)</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5 lệnh T0 + 2 hành động thật (âm lượng, nhiệt độ qua VHAL)</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Benchmark harness đo latency từng chặng từ ngày đầu</a:t>
            </a:r>
            <a:endParaRPr lang="en-US" sz="1080" dirty="0"/>
          </a:p>
        </p:txBody>
      </p:sp>
      <p:sp>
        <p:nvSpPr>
          <p:cNvPr id="9" name="Shape 7"/>
          <p:cNvSpPr/>
          <p:nvPr/>
        </p:nvSpPr>
        <p:spPr>
          <a:xfrm>
            <a:off x="4315968" y="1051560"/>
            <a:ext cx="3557016" cy="3246120"/>
          </a:xfrm>
          <a:prstGeom prst="roundRect">
            <a:avLst>
              <a:gd name="adj" fmla="val 1549"/>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0" name="Shape 8"/>
          <p:cNvSpPr/>
          <p:nvPr/>
        </p:nvSpPr>
        <p:spPr>
          <a:xfrm>
            <a:off x="4315968" y="1051560"/>
            <a:ext cx="3557016" cy="713232"/>
          </a:xfrm>
          <a:prstGeom prst="roundRect">
            <a:avLst>
              <a:gd name="adj" fmla="val 7051"/>
            </a:avLst>
          </a:prstGeom>
          <a:solidFill>
            <a:srgbClr val="13285A"/>
          </a:solidFill>
          <a:ln/>
        </p:spPr>
      </p:sp>
      <p:sp>
        <p:nvSpPr>
          <p:cNvPr id="11" name="Text 9"/>
          <p:cNvSpPr/>
          <p:nvPr/>
        </p:nvSpPr>
        <p:spPr>
          <a:xfrm>
            <a:off x="4517136" y="1051560"/>
            <a:ext cx="3200400" cy="713232"/>
          </a:xfrm>
          <a:prstGeom prst="rect">
            <a:avLst/>
          </a:prstGeom>
          <a:noFill/>
          <a:ln/>
        </p:spPr>
        <p:txBody>
          <a:bodyPr wrap="square" lIns="0" tIns="0" rIns="0" bIns="0" rtlCol="0" anchor="ctr"/>
          <a:lstStyle/>
          <a:p>
            <a:pPr indent="0" marL="0">
              <a:buNone/>
            </a:pPr>
            <a:r>
              <a:rPr lang="en-US" sz="1300" b="1" dirty="0">
                <a:solidFill>
                  <a:srgbClr val="F26F21"/>
                </a:solidFill>
                <a:latin typeface="Arial" pitchFamily="34" charset="0"/>
                <a:ea typeface="Arial" pitchFamily="34" charset="-122"/>
                <a:cs typeface="Arial" pitchFamily="34" charset="-120"/>
              </a:rPr>
              <a:t>TUẦN 2  </a:t>
            </a:r>
            <a:pPr indent="0" marL="0">
              <a:buNone/>
            </a:pPr>
            <a:r>
              <a:rPr lang="en-US" sz="1300" b="1" dirty="0">
                <a:solidFill>
                  <a:srgbClr val="FFFFFF"/>
                </a:solidFill>
                <a:latin typeface="Arial" pitchFamily="34" charset="0"/>
                <a:ea typeface="Arial" pitchFamily="34" charset="-122"/>
                <a:cs typeface="Arial" pitchFamily="34" charset="-120"/>
              </a:rPr>
              <a:t>· Đủ skill + Safety Guard</a:t>
            </a:r>
            <a:endParaRPr lang="en-US" sz="1300" dirty="0"/>
          </a:p>
        </p:txBody>
      </p:sp>
      <p:sp>
        <p:nvSpPr>
          <p:cNvPr id="12" name="Text 10"/>
          <p:cNvSpPr/>
          <p:nvPr/>
        </p:nvSpPr>
        <p:spPr>
          <a:xfrm>
            <a:off x="4544568" y="1920240"/>
            <a:ext cx="3127248" cy="2240280"/>
          </a:xfrm>
          <a:prstGeom prst="rect">
            <a:avLst/>
          </a:prstGeom>
          <a:noFill/>
          <a:ln/>
        </p:spPr>
        <p:txBody>
          <a:bodyPr wrap="square" lIns="0" tIns="0" rIns="0" bIns="0" rtlCol="0" anchor="ctr"/>
          <a:lstStyle/>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4 skill hoàn chỉnh + delivery flow end-to-end</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Safety Guard G1–G3 + xác nhận lệnh nhạy cảm</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Router 3 tầng + fallback offline + TTS phản hồi</a:t>
            </a:r>
            <a:endParaRPr lang="en-US" sz="1080" dirty="0"/>
          </a:p>
        </p:txBody>
      </p:sp>
      <p:sp>
        <p:nvSpPr>
          <p:cNvPr id="13" name="Shape 11"/>
          <p:cNvSpPr/>
          <p:nvPr/>
        </p:nvSpPr>
        <p:spPr>
          <a:xfrm>
            <a:off x="8129016" y="1051560"/>
            <a:ext cx="3557016" cy="3246120"/>
          </a:xfrm>
          <a:prstGeom prst="roundRect">
            <a:avLst>
              <a:gd name="adj" fmla="val 1549"/>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4" name="Shape 12"/>
          <p:cNvSpPr/>
          <p:nvPr/>
        </p:nvSpPr>
        <p:spPr>
          <a:xfrm>
            <a:off x="8129016" y="1051560"/>
            <a:ext cx="3557016" cy="713232"/>
          </a:xfrm>
          <a:prstGeom prst="roundRect">
            <a:avLst>
              <a:gd name="adj" fmla="val 7051"/>
            </a:avLst>
          </a:prstGeom>
          <a:solidFill>
            <a:srgbClr val="F26F21"/>
          </a:solidFill>
          <a:ln/>
        </p:spPr>
      </p:sp>
      <p:sp>
        <p:nvSpPr>
          <p:cNvPr id="15" name="Text 13"/>
          <p:cNvSpPr/>
          <p:nvPr/>
        </p:nvSpPr>
        <p:spPr>
          <a:xfrm>
            <a:off x="8330184" y="1051560"/>
            <a:ext cx="3200400" cy="7132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TUẦN 3  </a:t>
            </a:r>
            <a:pPr indent="0" marL="0">
              <a:buNone/>
            </a:pPr>
            <a:r>
              <a:rPr lang="en-US" sz="1300" b="1" dirty="0">
                <a:solidFill>
                  <a:srgbClr val="FFFFFF"/>
                </a:solidFill>
                <a:latin typeface="Arial" pitchFamily="34" charset="0"/>
                <a:ea typeface="Arial" pitchFamily="34" charset="-122"/>
                <a:cs typeface="Arial" pitchFamily="34" charset="-120"/>
              </a:rPr>
              <a:t>· Đo đạc &amp; demo</a:t>
            </a:r>
            <a:endParaRPr lang="en-US" sz="1300" dirty="0"/>
          </a:p>
        </p:txBody>
      </p:sp>
      <p:sp>
        <p:nvSpPr>
          <p:cNvPr id="16" name="Text 14"/>
          <p:cNvSpPr/>
          <p:nvPr/>
        </p:nvSpPr>
        <p:spPr>
          <a:xfrm>
            <a:off x="8357616" y="1920240"/>
            <a:ext cx="3127248" cy="2240280"/>
          </a:xfrm>
          <a:prstGeom prst="rect">
            <a:avLst/>
          </a:prstGeom>
          <a:noFill/>
          <a:ln/>
        </p:spPr>
        <p:txBody>
          <a:bodyPr wrap="square" lIns="0" tIns="0" rIns="0" bIns="0" rtlCol="0" anchor="ctr"/>
          <a:lstStyle/>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Benchmark ≥20 câu (edge vs hybrid) + safety test pack</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Video 5–7 phút + write-up kể rõ cách dùng AI (BTC cộng điểm)</a:t>
            </a:r>
            <a:endParaRPr lang="en-US" sz="1080" dirty="0"/>
          </a:p>
          <a:p>
            <a:pPr marL="342900" indent="-342900">
              <a:lnSpc>
                <a:spcPct val="108000"/>
              </a:lnSpc>
              <a:spcAft>
                <a:spcPts val="800"/>
              </a:spcAft>
              <a:buSzPct val="100000"/>
              <a:buChar char="•"/>
            </a:pPr>
            <a:r>
              <a:rPr lang="en-US" sz="1080" dirty="0">
                <a:solidFill>
                  <a:srgbClr val="1A2440"/>
                </a:solidFill>
                <a:latin typeface="Arial" pitchFamily="34" charset="0"/>
                <a:ea typeface="Arial" pitchFamily="34" charset="-122"/>
                <a:cs typeface="Arial" pitchFamily="34" charset="-120"/>
              </a:rPr>
              <a:t>Nice-to-have: barge-in, noise augmentation, theme ngày/đêm</a:t>
            </a:r>
            <a:endParaRPr lang="en-US" sz="1080" dirty="0"/>
          </a:p>
        </p:txBody>
      </p:sp>
      <p:sp>
        <p:nvSpPr>
          <p:cNvPr id="17" name="Shape 15"/>
          <p:cNvSpPr/>
          <p:nvPr/>
        </p:nvSpPr>
        <p:spPr>
          <a:xfrm>
            <a:off x="530352" y="4498848"/>
            <a:ext cx="201168" cy="201168"/>
          </a:xfrm>
          <a:prstGeom prst="rect">
            <a:avLst/>
          </a:prstGeom>
          <a:solidFill>
            <a:srgbClr val="13285A"/>
          </a:solidFill>
          <a:ln/>
        </p:spPr>
      </p:sp>
      <p:sp>
        <p:nvSpPr>
          <p:cNvPr id="18" name="Text 16"/>
          <p:cNvSpPr/>
          <p:nvPr/>
        </p:nvSpPr>
        <p:spPr>
          <a:xfrm>
            <a:off x="786384" y="4453128"/>
            <a:ext cx="1097280" cy="292608"/>
          </a:xfrm>
          <a:prstGeom prst="rect">
            <a:avLst/>
          </a:prstGeom>
          <a:noFill/>
          <a:ln/>
        </p:spPr>
        <p:txBody>
          <a:bodyPr wrap="square" lIns="0" tIns="0" rIns="0" bIns="0" rtlCol="0" anchor="ctr"/>
          <a:lstStyle/>
          <a:p>
            <a:pPr indent="0" marL="0">
              <a:buNone/>
            </a:pPr>
            <a:r>
              <a:rPr lang="en-US" sz="1000" dirty="0">
                <a:solidFill>
                  <a:srgbClr val="1A2440"/>
                </a:solidFill>
                <a:latin typeface="Arial" pitchFamily="34" charset="0"/>
                <a:ea typeface="Arial" pitchFamily="34" charset="-122"/>
                <a:cs typeface="Arial" pitchFamily="34" charset="-120"/>
              </a:rPr>
              <a:t>Must-have</a:t>
            </a:r>
            <a:endParaRPr lang="en-US" sz="1000" dirty="0"/>
          </a:p>
        </p:txBody>
      </p:sp>
      <p:sp>
        <p:nvSpPr>
          <p:cNvPr id="19" name="Shape 17"/>
          <p:cNvSpPr/>
          <p:nvPr/>
        </p:nvSpPr>
        <p:spPr>
          <a:xfrm>
            <a:off x="1920240" y="4498848"/>
            <a:ext cx="201168" cy="201168"/>
          </a:xfrm>
          <a:prstGeom prst="rect">
            <a:avLst/>
          </a:prstGeom>
          <a:solidFill>
            <a:srgbClr val="F26F21"/>
          </a:solidFill>
          <a:ln/>
        </p:spPr>
      </p:sp>
      <p:sp>
        <p:nvSpPr>
          <p:cNvPr id="20" name="Text 18"/>
          <p:cNvSpPr/>
          <p:nvPr/>
        </p:nvSpPr>
        <p:spPr>
          <a:xfrm>
            <a:off x="2176272" y="4453128"/>
            <a:ext cx="2743200" cy="292608"/>
          </a:xfrm>
          <a:prstGeom prst="rect">
            <a:avLst/>
          </a:prstGeom>
          <a:noFill/>
          <a:ln/>
        </p:spPr>
        <p:txBody>
          <a:bodyPr wrap="square" lIns="0" tIns="0" rIns="0" bIns="0" rtlCol="0" anchor="ctr"/>
          <a:lstStyle/>
          <a:p>
            <a:pPr indent="0" marL="0">
              <a:buNone/>
            </a:pPr>
            <a:r>
              <a:rPr lang="en-US" sz="1000" dirty="0">
                <a:solidFill>
                  <a:srgbClr val="1A2440"/>
                </a:solidFill>
                <a:latin typeface="Arial" pitchFamily="34" charset="0"/>
                <a:ea typeface="Arial" pitchFamily="34" charset="-122"/>
                <a:cs typeface="Arial" pitchFamily="34" charset="-120"/>
              </a:rPr>
              <a:t>Nice-to-have (chỉ làm nếu kịp)</a:t>
            </a:r>
            <a:endParaRPr lang="en-US" sz="1000" dirty="0"/>
          </a:p>
        </p:txBody>
      </p:sp>
      <p:sp>
        <p:nvSpPr>
          <p:cNvPr id="21" name="Shape 19"/>
          <p:cNvSpPr/>
          <p:nvPr/>
        </p:nvSpPr>
        <p:spPr>
          <a:xfrm>
            <a:off x="502920" y="4864608"/>
            <a:ext cx="11183112" cy="713232"/>
          </a:xfrm>
          <a:prstGeom prst="roundRect">
            <a:avLst>
              <a:gd name="adj" fmla="val 7051"/>
            </a:avLst>
          </a:prstGeom>
          <a:solidFill>
            <a:srgbClr val="13285A"/>
          </a:solidFill>
          <a:ln w="12700">
            <a:solidFill>
              <a:srgbClr val="13285A"/>
            </a:solidFill>
            <a:prstDash val="solid"/>
          </a:ln>
          <a:effectLst>
            <a:outerShdw sx="100000" sy="100000" kx="0" ky="0" algn="bl" rotWithShape="0" blurRad="88900" dist="25400" dir="5400000">
              <a:srgbClr val="1A2440">
                <a:alpha val="18000"/>
              </a:srgbClr>
            </a:outerShdw>
          </a:effectLst>
        </p:spPr>
      </p:sp>
      <p:sp>
        <p:nvSpPr>
          <p:cNvPr id="22" name="Text 20"/>
          <p:cNvSpPr/>
          <p:nvPr/>
        </p:nvSpPr>
        <p:spPr>
          <a:xfrm>
            <a:off x="777240" y="4864608"/>
            <a:ext cx="10652760" cy="713232"/>
          </a:xfrm>
          <a:prstGeom prst="rect">
            <a:avLst/>
          </a:prstGeom>
          <a:noFill/>
          <a:ln/>
        </p:spPr>
        <p:txBody>
          <a:bodyPr wrap="square" lIns="0" tIns="0" rIns="0" bIns="0" rtlCol="0" anchor="ctr"/>
          <a:lstStyle/>
          <a:p>
            <a:pPr indent="0" marL="0">
              <a:buNone/>
            </a:pPr>
            <a:r>
              <a:rPr lang="en-US" sz="1150" b="1" dirty="0">
                <a:solidFill>
                  <a:srgbClr val="F26F21"/>
                </a:solidFill>
                <a:latin typeface="Arial" pitchFamily="34" charset="0"/>
                <a:ea typeface="Arial" pitchFamily="34" charset="-122"/>
                <a:cs typeface="Arial" pitchFamily="34" charset="-120"/>
              </a:rPr>
              <a:t>Deliverables cuối Vòng 2:  </a:t>
            </a:r>
            <a:pPr indent="0" marL="0">
              <a:buNone/>
            </a:pPr>
            <a:r>
              <a:rPr lang="en-US" sz="1150" dirty="0">
                <a:solidFill>
                  <a:srgbClr val="FFFFFF"/>
                </a:solidFill>
                <a:latin typeface="Arial" pitchFamily="34" charset="0"/>
                <a:ea typeface="Arial" pitchFamily="34" charset="-122"/>
                <a:cs typeface="Arial" pitchFamily="34" charset="-120"/>
              </a:rPr>
              <a:t>Source code · Documentation · Video demo 5–7 phút · Write-up (mô tả rõ cách dùng AI, prompt, phần AI hỗ trợ hiệu quả)</a:t>
            </a:r>
            <a:endParaRPr lang="en-US" sz="1150" dirty="0"/>
          </a:p>
        </p:txBody>
      </p:sp>
      <p:sp>
        <p:nvSpPr>
          <p:cNvPr id="23" name="Shape 21"/>
          <p:cNvSpPr/>
          <p:nvPr/>
        </p:nvSpPr>
        <p:spPr>
          <a:xfrm>
            <a:off x="502920" y="5724144"/>
            <a:ext cx="11183112" cy="603504"/>
          </a:xfrm>
          <a:prstGeom prst="roundRect">
            <a:avLst>
              <a:gd name="adj" fmla="val 8333"/>
            </a:avLst>
          </a:prstGeom>
          <a:solidFill>
            <a:srgbClr val="F3F6FC"/>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24" name="Text 22"/>
          <p:cNvSpPr/>
          <p:nvPr/>
        </p:nvSpPr>
        <p:spPr>
          <a:xfrm>
            <a:off x="777240" y="5724144"/>
            <a:ext cx="10652760" cy="603504"/>
          </a:xfrm>
          <a:prstGeom prst="rect">
            <a:avLst/>
          </a:prstGeom>
          <a:noFill/>
          <a:ln/>
        </p:spPr>
        <p:txBody>
          <a:bodyPr wrap="square" lIns="0" tIns="0" rIns="0" bIns="0" rtlCol="0" anchor="ctr"/>
          <a:lstStyle/>
          <a:p>
            <a:pPr indent="0" marL="0">
              <a:buNone/>
            </a:pPr>
            <a:r>
              <a:rPr lang="en-US" sz="1050" b="1" dirty="0">
                <a:solidFill>
                  <a:srgbClr val="13285A"/>
                </a:solidFill>
                <a:latin typeface="Arial" pitchFamily="34" charset="0"/>
                <a:ea typeface="Arial" pitchFamily="34" charset="-122"/>
                <a:cs typeface="Arial" pitchFamily="34" charset="-120"/>
              </a:rPr>
              <a:t>Nhịp mentor CDC: </a:t>
            </a:r>
            <a:pPr indent="0" marL="0">
              <a:buNone/>
            </a:pPr>
            <a:r>
              <a:rPr lang="en-US" sz="1050" dirty="0">
                <a:solidFill>
                  <a:srgbClr val="1A2440"/>
                </a:solidFill>
                <a:latin typeface="Arial" pitchFamily="34" charset="0"/>
                <a:ea typeface="Arial" pitchFamily="34" charset="-122"/>
                <a:cs typeface="Arial" pitchFamily="34" charset="-120"/>
              </a:rPr>
              <a:t>tối thiểu 01 mentor/đội (FPT Automotive) · office hours Thứ 3 &amp; Thứ 5, 19:00–20:00 · Slack #cdc-vertical — checkpoint cuối mỗi tuần.</a:t>
            </a:r>
            <a:endParaRPr lang="en-US" sz="1050" dirty="0"/>
          </a:p>
        </p:txBody>
      </p:sp>
      <p:sp>
        <p:nvSpPr>
          <p:cNvPr id="25" name="Text 23"/>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26" name="Text 24"/>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CAM KẾT ĐẦU RA &amp; MỨC ĐỘ SẴN SÀNG CHO VÒNG 2</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502920" y="1005840"/>
            <a:ext cx="5440680" cy="5138928"/>
          </a:xfrm>
          <a:prstGeom prst="roundRect">
            <a:avLst>
              <a:gd name="adj" fmla="val 979"/>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6" name="Text 4"/>
          <p:cNvSpPr/>
          <p:nvPr/>
        </p:nvSpPr>
        <p:spPr>
          <a:xfrm>
            <a:off x="777240" y="1188720"/>
            <a:ext cx="4937760" cy="347472"/>
          </a:xfrm>
          <a:prstGeom prst="rect">
            <a:avLst/>
          </a:prstGeom>
          <a:noFill/>
          <a:ln/>
        </p:spPr>
        <p:txBody>
          <a:bodyPr wrap="square" lIns="0" tIns="0" rIns="0" bIns="0" rtlCol="0" anchor="ctr"/>
          <a:lstStyle/>
          <a:p>
            <a:pPr indent="0" marL="0">
              <a:buNone/>
            </a:pPr>
            <a:r>
              <a:rPr lang="en-US" sz="1400" b="1" dirty="0">
                <a:solidFill>
                  <a:srgbClr val="13285A"/>
                </a:solidFill>
                <a:latin typeface="Arial" pitchFamily="34" charset="0"/>
                <a:ea typeface="Arial" pitchFamily="34" charset="-122"/>
                <a:cs typeface="Arial" pitchFamily="34" charset="-120"/>
              </a:rPr>
              <a:t>Khớp 1-1 Output Requests của đề</a:t>
            </a:r>
            <a:endParaRPr lang="en-US" sz="1400" dirty="0"/>
          </a:p>
        </p:txBody>
      </p:sp>
      <p:pic>
        <p:nvPicPr>
          <p:cNvPr id="7" name="Image 0" descr="preencoded.png">    </p:cNvPr>
          <p:cNvPicPr>
            <a:picLocks noChangeAspect="1"/>
          </p:cNvPicPr>
          <p:nvPr/>
        </p:nvPicPr>
        <p:blipFill>
          <a:blip r:embed="rId1"/>
          <a:stretch>
            <a:fillRect/>
          </a:stretch>
        </p:blipFill>
        <p:spPr>
          <a:xfrm>
            <a:off x="777240" y="1719072"/>
            <a:ext cx="274320" cy="274320"/>
          </a:xfrm>
          <a:prstGeom prst="rect">
            <a:avLst/>
          </a:prstGeom>
        </p:spPr>
      </p:pic>
      <p:sp>
        <p:nvSpPr>
          <p:cNvPr id="8" name="Text 5"/>
          <p:cNvSpPr/>
          <p:nvPr/>
        </p:nvSpPr>
        <p:spPr>
          <a:xfrm>
            <a:off x="1170432" y="1664208"/>
            <a:ext cx="4617720" cy="822960"/>
          </a:xfrm>
          <a:prstGeom prst="rect">
            <a:avLst/>
          </a:prstGeom>
          <a:noFill/>
          <a:ln/>
        </p:spPr>
        <p:txBody>
          <a:bodyPr wrap="square" lIns="0" tIns="0" rIns="0" bIns="0" rtlCol="0" anchor="ctr"/>
          <a:lstStyle/>
          <a:p>
            <a:pPr indent="0" marL="0">
              <a:lnSpc>
                <a:spcPct val="106000"/>
              </a:lnSpc>
              <a:buNone/>
            </a:pPr>
            <a:r>
              <a:rPr lang="en-US" sz="1080" dirty="0">
                <a:solidFill>
                  <a:srgbClr val="1A2440"/>
                </a:solidFill>
                <a:latin typeface="Arial" pitchFamily="34" charset="0"/>
                <a:ea typeface="Arial" pitchFamily="34" charset="-122"/>
                <a:cs typeface="Arial" pitchFamily="34" charset="-120"/>
              </a:rPr>
              <a:t>Voice demo ≥5 lệnh car control (cửa, âm lượng, media, điều hòa) — HMI đổi trạng thái ngay</a:t>
            </a:r>
            <a:endParaRPr lang="en-US" sz="1080" dirty="0"/>
          </a:p>
        </p:txBody>
      </p:sp>
      <p:pic>
        <p:nvPicPr>
          <p:cNvPr id="9" name="Image 1" descr="preencoded.png">    </p:cNvPr>
          <p:cNvPicPr>
            <a:picLocks noChangeAspect="1"/>
          </p:cNvPicPr>
          <p:nvPr/>
        </p:nvPicPr>
        <p:blipFill>
          <a:blip r:embed="rId2"/>
          <a:stretch>
            <a:fillRect/>
          </a:stretch>
        </p:blipFill>
        <p:spPr>
          <a:xfrm>
            <a:off x="777240" y="2578608"/>
            <a:ext cx="274320" cy="274320"/>
          </a:xfrm>
          <a:prstGeom prst="rect">
            <a:avLst/>
          </a:prstGeom>
        </p:spPr>
      </p:pic>
      <p:sp>
        <p:nvSpPr>
          <p:cNvPr id="10" name="Text 6"/>
          <p:cNvSpPr/>
          <p:nvPr/>
        </p:nvSpPr>
        <p:spPr>
          <a:xfrm>
            <a:off x="1170432" y="2523744"/>
            <a:ext cx="4617720" cy="822960"/>
          </a:xfrm>
          <a:prstGeom prst="rect">
            <a:avLst/>
          </a:prstGeom>
          <a:noFill/>
          <a:ln/>
        </p:spPr>
        <p:txBody>
          <a:bodyPr wrap="square" lIns="0" tIns="0" rIns="0" bIns="0" rtlCol="0" anchor="ctr"/>
          <a:lstStyle/>
          <a:p>
            <a:pPr indent="0" marL="0">
              <a:lnSpc>
                <a:spcPct val="106000"/>
              </a:lnSpc>
              <a:buNone/>
            </a:pPr>
            <a:r>
              <a:rPr lang="en-US" sz="1080" dirty="0">
                <a:solidFill>
                  <a:srgbClr val="1A2440"/>
                </a:solidFill>
                <a:latin typeface="Arial" pitchFamily="34" charset="0"/>
                <a:ea typeface="Arial" pitchFamily="34" charset="-122"/>
                <a:cs typeface="Arial" pitchFamily="34" charset="-120"/>
              </a:rPr>
              <a:t>Delivery voice flow end-to-end: chặng kế tiếp → trạng thái đơn → xác nhận giao, rảnh tay 100%</a:t>
            </a:r>
            <a:endParaRPr lang="en-US" sz="1080" dirty="0"/>
          </a:p>
        </p:txBody>
      </p:sp>
      <p:pic>
        <p:nvPicPr>
          <p:cNvPr id="11" name="Image 2" descr="preencoded.png">    </p:cNvPr>
          <p:cNvPicPr>
            <a:picLocks noChangeAspect="1"/>
          </p:cNvPicPr>
          <p:nvPr/>
        </p:nvPicPr>
        <p:blipFill>
          <a:blip r:embed="rId3"/>
          <a:stretch>
            <a:fillRect/>
          </a:stretch>
        </p:blipFill>
        <p:spPr>
          <a:xfrm>
            <a:off x="777240" y="3438144"/>
            <a:ext cx="274320" cy="274320"/>
          </a:xfrm>
          <a:prstGeom prst="rect">
            <a:avLst/>
          </a:prstGeom>
        </p:spPr>
      </p:pic>
      <p:sp>
        <p:nvSpPr>
          <p:cNvPr id="12" name="Text 7"/>
          <p:cNvSpPr/>
          <p:nvPr/>
        </p:nvSpPr>
        <p:spPr>
          <a:xfrm>
            <a:off x="1170432" y="3383280"/>
            <a:ext cx="4617720" cy="822960"/>
          </a:xfrm>
          <a:prstGeom prst="rect">
            <a:avLst/>
          </a:prstGeom>
          <a:noFill/>
          <a:ln/>
        </p:spPr>
        <p:txBody>
          <a:bodyPr wrap="square" lIns="0" tIns="0" rIns="0" bIns="0" rtlCol="0" anchor="ctr"/>
          <a:lstStyle/>
          <a:p>
            <a:pPr indent="0" marL="0">
              <a:lnSpc>
                <a:spcPct val="106000"/>
              </a:lnSpc>
              <a:buNone/>
            </a:pPr>
            <a:r>
              <a:rPr lang="en-US" sz="1080" dirty="0">
                <a:solidFill>
                  <a:srgbClr val="1A2440"/>
                </a:solidFill>
                <a:latin typeface="Arial" pitchFamily="34" charset="0"/>
                <a:ea typeface="Arial" pitchFamily="34" charset="-122"/>
                <a:cs typeface="Arial" pitchFamily="34" charset="-120"/>
              </a:rPr>
              <a:t>Latency benchmark ≥20 câu — so sánh edge-only vs hybrid, báo p50/p95</a:t>
            </a:r>
            <a:endParaRPr lang="en-US" sz="1080" dirty="0"/>
          </a:p>
        </p:txBody>
      </p:sp>
      <p:pic>
        <p:nvPicPr>
          <p:cNvPr id="13" name="Image 3" descr="preencoded.png">    </p:cNvPr>
          <p:cNvPicPr>
            <a:picLocks noChangeAspect="1"/>
          </p:cNvPicPr>
          <p:nvPr/>
        </p:nvPicPr>
        <p:blipFill>
          <a:blip r:embed="rId4"/>
          <a:stretch>
            <a:fillRect/>
          </a:stretch>
        </p:blipFill>
        <p:spPr>
          <a:xfrm>
            <a:off x="777240" y="4297680"/>
            <a:ext cx="274320" cy="274320"/>
          </a:xfrm>
          <a:prstGeom prst="rect">
            <a:avLst/>
          </a:prstGeom>
        </p:spPr>
      </p:pic>
      <p:sp>
        <p:nvSpPr>
          <p:cNvPr id="14" name="Text 8"/>
          <p:cNvSpPr/>
          <p:nvPr/>
        </p:nvSpPr>
        <p:spPr>
          <a:xfrm>
            <a:off x="1170432" y="4242816"/>
            <a:ext cx="4617720" cy="822960"/>
          </a:xfrm>
          <a:prstGeom prst="rect">
            <a:avLst/>
          </a:prstGeom>
          <a:noFill/>
          <a:ln/>
        </p:spPr>
        <p:txBody>
          <a:bodyPr wrap="square" lIns="0" tIns="0" rIns="0" bIns="0" rtlCol="0" anchor="ctr"/>
          <a:lstStyle/>
          <a:p>
            <a:pPr indent="0" marL="0">
              <a:lnSpc>
                <a:spcPct val="106000"/>
              </a:lnSpc>
              <a:buNone/>
            </a:pPr>
            <a:r>
              <a:rPr lang="en-US" sz="1080" dirty="0">
                <a:solidFill>
                  <a:srgbClr val="1A2440"/>
                </a:solidFill>
                <a:latin typeface="Arial" pitchFamily="34" charset="0"/>
                <a:ea typeface="Arial" pitchFamily="34" charset="-122"/>
                <a:cs typeface="Arial" pitchFamily="34" charset="-120"/>
              </a:rPr>
              <a:t>Sơ đồ kiến trúc ASR → NLU → dispatcher → vehicle + extension points cho intent mới</a:t>
            </a:r>
            <a:endParaRPr lang="en-US" sz="1080" dirty="0"/>
          </a:p>
        </p:txBody>
      </p:sp>
      <p:pic>
        <p:nvPicPr>
          <p:cNvPr id="15" name="Image 4" descr="preencoded.png">    </p:cNvPr>
          <p:cNvPicPr>
            <a:picLocks noChangeAspect="1"/>
          </p:cNvPicPr>
          <p:nvPr/>
        </p:nvPicPr>
        <p:blipFill>
          <a:blip r:embed="rId5"/>
          <a:stretch>
            <a:fillRect/>
          </a:stretch>
        </p:blipFill>
        <p:spPr>
          <a:xfrm>
            <a:off x="777240" y="5157216"/>
            <a:ext cx="274320" cy="274320"/>
          </a:xfrm>
          <a:prstGeom prst="rect">
            <a:avLst/>
          </a:prstGeom>
        </p:spPr>
      </p:pic>
      <p:sp>
        <p:nvSpPr>
          <p:cNvPr id="16" name="Text 9"/>
          <p:cNvSpPr/>
          <p:nvPr/>
        </p:nvSpPr>
        <p:spPr>
          <a:xfrm>
            <a:off x="1170432" y="5102352"/>
            <a:ext cx="4617720" cy="822960"/>
          </a:xfrm>
          <a:prstGeom prst="rect">
            <a:avLst/>
          </a:prstGeom>
          <a:noFill/>
          <a:ln/>
        </p:spPr>
        <p:txBody>
          <a:bodyPr wrap="square" lIns="0" tIns="0" rIns="0" bIns="0" rtlCol="0" anchor="ctr"/>
          <a:lstStyle/>
          <a:p>
            <a:pPr indent="0" marL="0">
              <a:lnSpc>
                <a:spcPct val="106000"/>
              </a:lnSpc>
              <a:buNone/>
            </a:pPr>
            <a:r>
              <a:rPr lang="en-US" sz="1080" dirty="0">
                <a:solidFill>
                  <a:srgbClr val="1A2440"/>
                </a:solidFill>
                <a:latin typeface="Arial" pitchFamily="34" charset="0"/>
                <a:ea typeface="Arial" pitchFamily="34" charset="-122"/>
                <a:cs typeface="Arial" pitchFamily="34" charset="-120"/>
              </a:rPr>
              <a:t>Working APK cài &amp; chạy trên AAOS AVD (Android Automotive OS)</a:t>
            </a:r>
            <a:endParaRPr lang="en-US" sz="1080" dirty="0"/>
          </a:p>
        </p:txBody>
      </p:sp>
      <p:sp>
        <p:nvSpPr>
          <p:cNvPr id="17" name="Shape 10"/>
          <p:cNvSpPr/>
          <p:nvPr/>
        </p:nvSpPr>
        <p:spPr>
          <a:xfrm>
            <a:off x="6172200" y="1005840"/>
            <a:ext cx="5513832" cy="5138928"/>
          </a:xfrm>
          <a:prstGeom prst="roundRect">
            <a:avLst>
              <a:gd name="adj" fmla="val 979"/>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8" name="Text 11"/>
          <p:cNvSpPr/>
          <p:nvPr/>
        </p:nvSpPr>
        <p:spPr>
          <a:xfrm>
            <a:off x="6446520" y="1188720"/>
            <a:ext cx="5029200" cy="347472"/>
          </a:xfrm>
          <a:prstGeom prst="rect">
            <a:avLst/>
          </a:prstGeom>
          <a:noFill/>
          <a:ln/>
        </p:spPr>
        <p:txBody>
          <a:bodyPr wrap="square" lIns="0" tIns="0" rIns="0" bIns="0" rtlCol="0" anchor="ctr"/>
          <a:lstStyle/>
          <a:p>
            <a:pPr indent="0" marL="0">
              <a:buNone/>
            </a:pPr>
            <a:r>
              <a:rPr lang="en-US" sz="1400" b="1" dirty="0">
                <a:solidFill>
                  <a:srgbClr val="13285A"/>
                </a:solidFill>
                <a:latin typeface="Arial" pitchFamily="34" charset="0"/>
                <a:ea typeface="Arial" pitchFamily="34" charset="-122"/>
                <a:cs typeface="Arial" pitchFamily="34" charset="-120"/>
              </a:rPr>
              <a:t>Thiết kế bám sẵn barem Vòng 2 (100đ)</a:t>
            </a:r>
            <a:endParaRPr lang="en-US" sz="1400" dirty="0"/>
          </a:p>
        </p:txBody>
      </p:sp>
      <p:sp>
        <p:nvSpPr>
          <p:cNvPr id="19" name="Text 12"/>
          <p:cNvSpPr/>
          <p:nvPr/>
        </p:nvSpPr>
        <p:spPr>
          <a:xfrm>
            <a:off x="6446520" y="1664208"/>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Ý tưởng &amp; insight · 25đ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insight nối 4 đề + persona tài xế giao hàng cụ thể, dễ hiểu</a:t>
            </a:r>
            <a:endParaRPr lang="en-US" sz="1060" dirty="0"/>
          </a:p>
        </p:txBody>
      </p:sp>
      <p:sp>
        <p:nvSpPr>
          <p:cNvPr id="20" name="Text 13"/>
          <p:cNvSpPr/>
          <p:nvPr/>
        </p:nvSpPr>
        <p:spPr>
          <a:xfrm>
            <a:off x="6446520" y="2386584"/>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Tính kết dính · 20đ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một luồng end-to-end: voice → guard → VHAL/Media/DTC → HMI</a:t>
            </a:r>
            <a:endParaRPr lang="en-US" sz="1060" dirty="0"/>
          </a:p>
        </p:txBody>
      </p:sp>
      <p:sp>
        <p:nvSpPr>
          <p:cNvPr id="21" name="Text 14"/>
          <p:cNvSpPr/>
          <p:nvPr/>
        </p:nvSpPr>
        <p:spPr>
          <a:xfrm>
            <a:off x="6446520" y="3108960"/>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Chất lượng thực thi · 20đ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benchmark harness + safety test pack từ Tuần 1, demo chạy lại được</a:t>
            </a:r>
            <a:endParaRPr lang="en-US" sz="1060" dirty="0"/>
          </a:p>
        </p:txBody>
      </p:sp>
      <p:sp>
        <p:nvSpPr>
          <p:cNvPr id="22" name="Text 15"/>
          <p:cNvSpPr/>
          <p:nvPr/>
        </p:nvSpPr>
        <p:spPr>
          <a:xfrm>
            <a:off x="6446520" y="3831336"/>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Tận dụng nền tảng · 15đ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dùng 5/5 tài nguyên starter pack, không xây lại hạ tầng</a:t>
            </a:r>
            <a:endParaRPr lang="en-US" sz="1060" dirty="0"/>
          </a:p>
        </p:txBody>
      </p:sp>
      <p:sp>
        <p:nvSpPr>
          <p:cNvPr id="23" name="Text 16"/>
          <p:cNvSpPr/>
          <p:nvPr/>
        </p:nvSpPr>
        <p:spPr>
          <a:xfrm>
            <a:off x="6446520" y="4553712"/>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Tài liệu — README · 10đ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video 5–7 phút + write-up câu chuyện AI ngắn gọn</a:t>
            </a:r>
            <a:endParaRPr lang="en-US" sz="1060" dirty="0"/>
          </a:p>
        </p:txBody>
      </p:sp>
      <p:sp>
        <p:nvSpPr>
          <p:cNvPr id="24" name="Text 17"/>
          <p:cNvSpPr/>
          <p:nvPr/>
        </p:nvSpPr>
        <p:spPr>
          <a:xfrm>
            <a:off x="6446520" y="5276088"/>
            <a:ext cx="4983480" cy="676656"/>
          </a:xfrm>
          <a:prstGeom prst="rect">
            <a:avLst/>
          </a:prstGeom>
          <a:noFill/>
          <a:ln/>
        </p:spPr>
        <p:txBody>
          <a:bodyPr wrap="square" lIns="0" tIns="0" rIns="0" bIns="0" rtlCol="0" anchor="ctr"/>
          <a:lstStyle/>
          <a:p>
            <a:pPr indent="0" marL="0">
              <a:lnSpc>
                <a:spcPct val="105000"/>
              </a:lnSpc>
              <a:buNone/>
            </a:pPr>
            <a:r>
              <a:rPr lang="en-US" sz="1060" b="1" dirty="0">
                <a:solidFill>
                  <a:srgbClr val="F26F21"/>
                </a:solidFill>
                <a:latin typeface="Arial" pitchFamily="34" charset="0"/>
                <a:ea typeface="Arial" pitchFamily="34" charset="-122"/>
                <a:cs typeface="Arial" pitchFamily="34" charset="-120"/>
              </a:rPr>
              <a:t>Hiểu khách hàng · 10đ — </a:t>
            </a:r>
            <a:pPr indent="0" marL="0">
              <a:lnSpc>
                <a:spcPct val="105000"/>
              </a:lnSpc>
              <a:buNone/>
            </a:pPr>
            <a:r>
              <a:rPr lang="en-US" sz="1060" dirty="0">
                <a:solidFill>
                  <a:srgbClr val="1A2440"/>
                </a:solidFill>
                <a:latin typeface="Arial" pitchFamily="34" charset="0"/>
                <a:ea typeface="Arial" pitchFamily="34" charset="-122"/>
                <a:cs typeface="Arial" pitchFamily="34" charset="-120"/>
              </a:rPr>
              <a:t>doanh nghiệp giao vận / fleet — chi phí edge-first thấp, triển khai được</a:t>
            </a:r>
            <a:endParaRPr lang="en-US" sz="1060" dirty="0"/>
          </a:p>
        </p:txBody>
      </p:sp>
      <p:sp>
        <p:nvSpPr>
          <p:cNvPr id="25" name="Text 18"/>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26" name="Text 19"/>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13285A"/>
          </a:solidFill>
          <a:ln/>
        </p:spPr>
      </p:sp>
      <p:sp>
        <p:nvSpPr>
          <p:cNvPr id="3" name="Text 1"/>
          <p:cNvSpPr/>
          <p:nvPr/>
        </p:nvSpPr>
        <p:spPr>
          <a:xfrm>
            <a:off x="502920" y="118872"/>
            <a:ext cx="8778240" cy="585216"/>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TẦM NHÌN CỦA ĐỘI — NẾU ĐI TIẾP SAU HACKATHON</a:t>
            </a:r>
            <a:endParaRPr lang="en-US" sz="2400" dirty="0"/>
          </a:p>
        </p:txBody>
      </p:sp>
      <p:sp>
        <p:nvSpPr>
          <p:cNvPr id="4" name="Text 2"/>
          <p:cNvSpPr/>
          <p:nvPr/>
        </p:nvSpPr>
        <p:spPr>
          <a:xfrm>
            <a:off x="9144000" y="292608"/>
            <a:ext cx="2560320" cy="274320"/>
          </a:xfrm>
          <a:prstGeom prst="rect">
            <a:avLst/>
          </a:prstGeom>
          <a:noFill/>
          <a:ln/>
        </p:spPr>
        <p:txBody>
          <a:bodyPr wrap="square" lIns="0" tIns="0" rIns="0" bIns="0" rtlCol="0" anchor="ctr"/>
          <a:lstStyle/>
          <a:p>
            <a:pPr algn="r" indent="0" marL="0">
              <a:buNone/>
            </a:pPr>
            <a:r>
              <a:rPr lang="en-US" sz="900" spc="200" kern="0" dirty="0">
                <a:solidFill>
                  <a:srgbClr val="8FA3D6"/>
                </a:solidFill>
                <a:latin typeface="Arial" pitchFamily="34" charset="0"/>
                <a:ea typeface="Arial" pitchFamily="34" charset="-122"/>
                <a:cs typeface="Arial" pitchFamily="34" charset="-120"/>
              </a:rPr>
              <a:t>AUTOMOTIVE HACKATHON 2026</a:t>
            </a:r>
            <a:endParaRPr lang="en-US" sz="900" dirty="0"/>
          </a:p>
        </p:txBody>
      </p:sp>
      <p:sp>
        <p:nvSpPr>
          <p:cNvPr id="5" name="Shape 3"/>
          <p:cNvSpPr/>
          <p:nvPr/>
        </p:nvSpPr>
        <p:spPr>
          <a:xfrm>
            <a:off x="502920" y="1143000"/>
            <a:ext cx="1118311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6" name="Shape 4"/>
          <p:cNvSpPr/>
          <p:nvPr/>
        </p:nvSpPr>
        <p:spPr>
          <a:xfrm>
            <a:off x="777240" y="1527048"/>
            <a:ext cx="658368" cy="658368"/>
          </a:xfrm>
          <a:prstGeom prst="ellipse">
            <a:avLst/>
          </a:prstGeom>
          <a:solidFill>
            <a:srgbClr val="13285A"/>
          </a:solidFill>
          <a:ln/>
        </p:spPr>
      </p:sp>
      <p:pic>
        <p:nvPicPr>
          <p:cNvPr id="7" name="Image 0" descr="preencoded.png">    </p:cNvPr>
          <p:cNvPicPr>
            <a:picLocks noChangeAspect="1"/>
          </p:cNvPicPr>
          <p:nvPr/>
        </p:nvPicPr>
        <p:blipFill>
          <a:blip r:embed="rId1"/>
          <a:stretch>
            <a:fillRect/>
          </a:stretch>
        </p:blipFill>
        <p:spPr>
          <a:xfrm>
            <a:off x="935248" y="1685056"/>
            <a:ext cx="342351" cy="342351"/>
          </a:xfrm>
          <a:prstGeom prst="rect">
            <a:avLst/>
          </a:prstGeom>
        </p:spPr>
      </p:pic>
      <p:sp>
        <p:nvSpPr>
          <p:cNvPr id="8" name="Text 5"/>
          <p:cNvSpPr/>
          <p:nvPr/>
        </p:nvSpPr>
        <p:spPr>
          <a:xfrm>
            <a:off x="1691640" y="1307592"/>
            <a:ext cx="9692640" cy="329184"/>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Phục vụ ai</a:t>
            </a:r>
            <a:endParaRPr lang="en-US" sz="1350" dirty="0"/>
          </a:p>
        </p:txBody>
      </p:sp>
      <p:sp>
        <p:nvSpPr>
          <p:cNvPr id="9" name="Text 6"/>
          <p:cNvSpPr/>
          <p:nvPr/>
        </p:nvSpPr>
        <p:spPr>
          <a:xfrm>
            <a:off x="1691640" y="1655064"/>
            <a:ext cx="9692640" cy="841248"/>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Doanh nghiệp giao vận &amp; fleet last-mile cần quy trình rảnh tay an toàn cho tài xế; OEM / Tier-1 muốn trợ lý tiếng Việt thực sự điều khiển xe mà không thêm phần cứng.</a:t>
            </a:r>
            <a:endParaRPr lang="en-US" sz="1100" dirty="0"/>
          </a:p>
        </p:txBody>
      </p:sp>
      <p:sp>
        <p:nvSpPr>
          <p:cNvPr id="10" name="Shape 7"/>
          <p:cNvSpPr/>
          <p:nvPr/>
        </p:nvSpPr>
        <p:spPr>
          <a:xfrm>
            <a:off x="502920" y="2715768"/>
            <a:ext cx="1118311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1" name="Shape 8"/>
          <p:cNvSpPr/>
          <p:nvPr/>
        </p:nvSpPr>
        <p:spPr>
          <a:xfrm>
            <a:off x="777240" y="3099816"/>
            <a:ext cx="658368" cy="658368"/>
          </a:xfrm>
          <a:prstGeom prst="ellipse">
            <a:avLst/>
          </a:prstGeom>
          <a:solidFill>
            <a:srgbClr val="13285A"/>
          </a:solidFill>
          <a:ln/>
        </p:spPr>
      </p:sp>
      <p:pic>
        <p:nvPicPr>
          <p:cNvPr id="12" name="Image 1" descr="preencoded.png">    </p:cNvPr>
          <p:cNvPicPr>
            <a:picLocks noChangeAspect="1"/>
          </p:cNvPicPr>
          <p:nvPr/>
        </p:nvPicPr>
        <p:blipFill>
          <a:blip r:embed="rId2"/>
          <a:stretch>
            <a:fillRect/>
          </a:stretch>
        </p:blipFill>
        <p:spPr>
          <a:xfrm>
            <a:off x="935248" y="3257824"/>
            <a:ext cx="342351" cy="342351"/>
          </a:xfrm>
          <a:prstGeom prst="rect">
            <a:avLst/>
          </a:prstGeom>
        </p:spPr>
      </p:pic>
      <p:sp>
        <p:nvSpPr>
          <p:cNvPr id="13" name="Text 9"/>
          <p:cNvSpPr/>
          <p:nvPr/>
        </p:nvSpPr>
        <p:spPr>
          <a:xfrm>
            <a:off x="1691640" y="2880360"/>
            <a:ext cx="9692640" cy="329184"/>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Vì sao đáng làm tiếp</a:t>
            </a:r>
            <a:endParaRPr lang="en-US" sz="1350" dirty="0"/>
          </a:p>
        </p:txBody>
      </p:sp>
      <p:sp>
        <p:nvSpPr>
          <p:cNvPr id="14" name="Text 10"/>
          <p:cNvSpPr/>
          <p:nvPr/>
        </p:nvSpPr>
        <p:spPr>
          <a:xfrm>
            <a:off x="1691640" y="3227832"/>
            <a:ext cx="9692640" cy="841248"/>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Intent framework mở: thêm skill (đỗ xe, OTA, coaching từ DMS) không đụng core. Dữ liệu giọng Việt trong cabin ồn là lợi thế khó sao chép. Hướng cross-vertical: DTC → SOVD (Vehicle Middleware), coaching → CCS — có tiêu chí cộng điểm riêng theo thể lệ.</a:t>
            </a:r>
            <a:endParaRPr lang="en-US" sz="1100" dirty="0"/>
          </a:p>
        </p:txBody>
      </p:sp>
      <p:sp>
        <p:nvSpPr>
          <p:cNvPr id="15" name="Shape 11"/>
          <p:cNvSpPr/>
          <p:nvPr/>
        </p:nvSpPr>
        <p:spPr>
          <a:xfrm>
            <a:off x="502920" y="4288536"/>
            <a:ext cx="11183112" cy="1426464"/>
          </a:xfrm>
          <a:prstGeom prst="roundRect">
            <a:avLst>
              <a:gd name="adj" fmla="val 3526"/>
            </a:avLst>
          </a:prstGeom>
          <a:solidFill>
            <a:srgbClr val="FFFFFF"/>
          </a:solidFill>
          <a:ln w="12700">
            <a:solidFill>
              <a:srgbClr val="D9E0EF"/>
            </a:solidFill>
            <a:prstDash val="solid"/>
          </a:ln>
          <a:effectLst>
            <a:outerShdw sx="100000" sy="100000" kx="0" ky="0" algn="bl" rotWithShape="0" blurRad="88900" dist="25400" dir="5400000">
              <a:srgbClr val="1A2440">
                <a:alpha val="18000"/>
              </a:srgbClr>
            </a:outerShdw>
          </a:effectLst>
        </p:spPr>
      </p:sp>
      <p:sp>
        <p:nvSpPr>
          <p:cNvPr id="16" name="Shape 12"/>
          <p:cNvSpPr/>
          <p:nvPr/>
        </p:nvSpPr>
        <p:spPr>
          <a:xfrm>
            <a:off x="777240" y="4672584"/>
            <a:ext cx="658368" cy="658368"/>
          </a:xfrm>
          <a:prstGeom prst="ellipse">
            <a:avLst/>
          </a:prstGeom>
          <a:solidFill>
            <a:srgbClr val="13285A"/>
          </a:solidFill>
          <a:ln/>
        </p:spPr>
      </p:sp>
      <p:pic>
        <p:nvPicPr>
          <p:cNvPr id="17" name="Image 2" descr="preencoded.png">    </p:cNvPr>
          <p:cNvPicPr>
            <a:picLocks noChangeAspect="1"/>
          </p:cNvPicPr>
          <p:nvPr/>
        </p:nvPicPr>
        <p:blipFill>
          <a:blip r:embed="rId3"/>
          <a:stretch>
            <a:fillRect/>
          </a:stretch>
        </p:blipFill>
        <p:spPr>
          <a:xfrm>
            <a:off x="935248" y="4830592"/>
            <a:ext cx="342351" cy="342351"/>
          </a:xfrm>
          <a:prstGeom prst="rect">
            <a:avLst/>
          </a:prstGeom>
        </p:spPr>
      </p:pic>
      <p:sp>
        <p:nvSpPr>
          <p:cNvPr id="18" name="Text 13"/>
          <p:cNvSpPr/>
          <p:nvPr/>
        </p:nvSpPr>
        <p:spPr>
          <a:xfrm>
            <a:off x="1691640" y="4453128"/>
            <a:ext cx="9692640" cy="329184"/>
          </a:xfrm>
          <a:prstGeom prst="rect">
            <a:avLst/>
          </a:prstGeom>
          <a:noFill/>
          <a:ln/>
        </p:spPr>
        <p:txBody>
          <a:bodyPr wrap="square" lIns="0" tIns="0" rIns="0" bIns="0" rtlCol="0" anchor="ctr"/>
          <a:lstStyle/>
          <a:p>
            <a:pPr indent="0" marL="0">
              <a:buNone/>
            </a:pPr>
            <a:r>
              <a:rPr lang="en-US" sz="1350" b="1" dirty="0">
                <a:solidFill>
                  <a:srgbClr val="13285A"/>
                </a:solidFill>
                <a:latin typeface="Arial" pitchFamily="34" charset="0"/>
                <a:ea typeface="Arial" pitchFamily="34" charset="-122"/>
                <a:cs typeface="Arial" pitchFamily="34" charset="-120"/>
              </a:rPr>
              <a:t>Bước tiếp theo</a:t>
            </a:r>
            <a:endParaRPr lang="en-US" sz="1350" dirty="0"/>
          </a:p>
        </p:txBody>
      </p:sp>
      <p:sp>
        <p:nvSpPr>
          <p:cNvPr id="19" name="Text 14"/>
          <p:cNvSpPr/>
          <p:nvPr/>
        </p:nvSpPr>
        <p:spPr>
          <a:xfrm>
            <a:off x="1691640" y="4800600"/>
            <a:ext cx="9692640" cy="841248"/>
          </a:xfrm>
          <a:prstGeom prst="rect">
            <a:avLst/>
          </a:prstGeom>
          <a:noFill/>
          <a:ln/>
        </p:spPr>
        <p:txBody>
          <a:bodyPr wrap="square" lIns="0" tIns="0" rIns="0" bIns="0" rtlCol="0" anchor="ctr"/>
          <a:lstStyle/>
          <a:p>
            <a:pPr indent="0" marL="0">
              <a:lnSpc>
                <a:spcPct val="108000"/>
              </a:lnSpc>
              <a:buNone/>
            </a:pPr>
            <a:r>
              <a:rPr lang="en-US" sz="1100" dirty="0">
                <a:solidFill>
                  <a:srgbClr val="5B6580"/>
                </a:solidFill>
                <a:latin typeface="Arial" pitchFamily="34" charset="0"/>
                <a:ea typeface="Arial" pitchFamily="34" charset="-122"/>
                <a:cs typeface="Arial" pitchFamily="34" charset="-120"/>
              </a:rPr>
              <a:t>Kiểm thử với nhiễu cabin thật; mở rộng bộ lệnh; đo thời gian hoàn thành tác vụ so với thao tác chạm truyền thống.</a:t>
            </a:r>
            <a:endParaRPr lang="en-US" sz="1100" dirty="0"/>
          </a:p>
        </p:txBody>
      </p:sp>
      <p:sp>
        <p:nvSpPr>
          <p:cNvPr id="20" name="Text 15"/>
          <p:cNvSpPr/>
          <p:nvPr/>
        </p:nvSpPr>
        <p:spPr>
          <a:xfrm>
            <a:off x="502920" y="5989320"/>
            <a:ext cx="11155680" cy="310896"/>
          </a:xfrm>
          <a:prstGeom prst="rect">
            <a:avLst/>
          </a:prstGeom>
          <a:noFill/>
          <a:ln/>
        </p:spPr>
        <p:txBody>
          <a:bodyPr wrap="square" lIns="0" tIns="0" rIns="0" bIns="0" rtlCol="0" anchor="ctr"/>
          <a:lstStyle/>
          <a:p>
            <a:pPr indent="0" marL="0">
              <a:buNone/>
            </a:pPr>
            <a:r>
              <a:rPr lang="en-US" sz="1050" i="1" dirty="0">
                <a:solidFill>
                  <a:srgbClr val="5B6580"/>
                </a:solidFill>
                <a:latin typeface="Arial" pitchFamily="34" charset="0"/>
                <a:ea typeface="Arial" pitchFamily="34" charset="-122"/>
                <a:cs typeface="Arial" pitchFamily="34" charset="-120"/>
              </a:rPr>
              <a:t>Vòng 1 không bắt buộc business model chi tiết — để mở là được.</a:t>
            </a:r>
            <a:endParaRPr lang="en-US" sz="1050" dirty="0"/>
          </a:p>
        </p:txBody>
      </p:sp>
      <p:sp>
        <p:nvSpPr>
          <p:cNvPr id="21" name="Text 16"/>
          <p:cNvSpPr/>
          <p:nvPr/>
        </p:nvSpPr>
        <p:spPr>
          <a:xfrm>
            <a:off x="502920" y="6528816"/>
            <a:ext cx="7772400" cy="237744"/>
          </a:xfrm>
          <a:prstGeom prst="rect">
            <a:avLst/>
          </a:prstGeom>
          <a:noFill/>
          <a:ln/>
        </p:spPr>
        <p:txBody>
          <a:bodyPr wrap="square" lIns="0" tIns="0" rIns="0" bIns="0" rtlCol="0" anchor="ctr"/>
          <a:lstStyle/>
          <a:p>
            <a:pPr indent="0" marL="0">
              <a:buNone/>
            </a:pPr>
            <a:r>
              <a:rPr lang="en-US" sz="800" dirty="0">
                <a:solidFill>
                  <a:srgbClr val="8B94AD"/>
                </a:solidFill>
                <a:latin typeface="Arial" pitchFamily="34" charset="0"/>
                <a:ea typeface="Arial" pitchFamily="34" charset="-122"/>
                <a:cs typeface="Arial" pitchFamily="34" charset="-120"/>
              </a:rPr>
              <a:t>Team VIVA · Proposal Vòng 1 · Digital Cockpit — Voice-Controlled Assistant</a:t>
            </a:r>
            <a:endParaRPr lang="en-US" sz="800" dirty="0"/>
          </a:p>
        </p:txBody>
      </p:sp>
      <p:sp>
        <p:nvSpPr>
          <p:cNvPr id="22" name="Text 17"/>
          <p:cNvSpPr/>
          <p:nvPr/>
        </p:nvSpPr>
        <p:spPr>
          <a:xfrm>
            <a:off x="11430000" y="6528816"/>
            <a:ext cx="365760" cy="237744"/>
          </a:xfrm>
          <a:prstGeom prst="rect">
            <a:avLst/>
          </a:prstGeom>
          <a:noFill/>
          <a:ln/>
        </p:spPr>
        <p:txBody>
          <a:bodyPr wrap="square" lIns="0" tIns="0" rIns="0" bIns="0" rtlCol="0" anchor="ctr"/>
          <a:lstStyle/>
          <a:p>
            <a:pPr algn="r" indent="0" marL="0">
              <a:buNone/>
            </a:pPr>
            <a:r>
              <a:rPr lang="en-US" sz="900" dirty="0">
                <a:solidFill>
                  <a:srgbClr val="8B94AD"/>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E4B"/>
        </a:solidFill>
      </p:bgPr>
    </p:bg>
    <p:spTree>
      <p:nvGrpSpPr>
        <p:cNvPr id="1" name=""/>
        <p:cNvGrpSpPr/>
        <p:nvPr/>
      </p:nvGrpSpPr>
      <p:grpSpPr>
        <a:xfrm>
          <a:off x="0" y="0"/>
          <a:ext cx="0" cy="0"/>
          <a:chOff x="0" y="0"/>
          <a:chExt cx="0" cy="0"/>
        </a:xfrm>
      </p:grpSpPr>
      <p:sp>
        <p:nvSpPr>
          <p:cNvPr id="2" name="Shape 0"/>
          <p:cNvSpPr/>
          <p:nvPr/>
        </p:nvSpPr>
        <p:spPr>
          <a:xfrm>
            <a:off x="9418320" y="822960"/>
            <a:ext cx="2103120" cy="2103120"/>
          </a:xfrm>
          <a:prstGeom prst="ellipse">
            <a:avLst/>
          </a:prstGeom>
          <a:solidFill>
            <a:srgbClr val="1B2F6B"/>
          </a:solidFill>
          <a:ln w="19050">
            <a:solidFill>
              <a:srgbClr val="2E4489"/>
            </a:solidFill>
            <a:prstDash val="solid"/>
          </a:ln>
        </p:spPr>
      </p:sp>
      <p:pic>
        <p:nvPicPr>
          <p:cNvPr id="3" name="Image 0" descr="preencoded.png">    </p:cNvPr>
          <p:cNvPicPr>
            <a:picLocks noChangeAspect="1"/>
          </p:cNvPicPr>
          <p:nvPr/>
        </p:nvPicPr>
        <p:blipFill>
          <a:blip r:embed="rId1"/>
          <a:stretch>
            <a:fillRect/>
          </a:stretch>
        </p:blipFill>
        <p:spPr>
          <a:xfrm>
            <a:off x="10104120" y="1508760"/>
            <a:ext cx="731520" cy="731520"/>
          </a:xfrm>
          <a:prstGeom prst="rect">
            <a:avLst/>
          </a:prstGeom>
        </p:spPr>
      </p:pic>
      <p:sp>
        <p:nvSpPr>
          <p:cNvPr id="4" name="Text 1"/>
          <p:cNvSpPr/>
          <p:nvPr/>
        </p:nvSpPr>
        <p:spPr>
          <a:xfrm>
            <a:off x="822960" y="1828800"/>
            <a:ext cx="10515600" cy="914400"/>
          </a:xfrm>
          <a:prstGeom prst="rect">
            <a:avLst/>
          </a:prstGeom>
          <a:noFill/>
          <a:ln/>
        </p:spPr>
        <p:txBody>
          <a:bodyPr wrap="square" lIns="0" tIns="0" rIns="0" bIns="0" rtlCol="0" anchor="ctr"/>
          <a:lstStyle/>
          <a:p>
            <a:pPr indent="0" marL="0">
              <a:buNone/>
            </a:pPr>
            <a:r>
              <a:rPr lang="en-US" sz="4400" b="1" dirty="0">
                <a:solidFill>
                  <a:srgbClr val="F26F21"/>
                </a:solidFill>
                <a:latin typeface="Arial" pitchFamily="34" charset="0"/>
                <a:ea typeface="Arial" pitchFamily="34" charset="-122"/>
                <a:cs typeface="Arial" pitchFamily="34" charset="-120"/>
              </a:rPr>
              <a:t>CẢM ƠN BAN GIÁM KHẢO!</a:t>
            </a:r>
            <a:endParaRPr lang="en-US" sz="4400" dirty="0"/>
          </a:p>
        </p:txBody>
      </p:sp>
      <p:sp>
        <p:nvSpPr>
          <p:cNvPr id="5" name="Text 2"/>
          <p:cNvSpPr/>
          <p:nvPr/>
        </p:nvSpPr>
        <p:spPr>
          <a:xfrm>
            <a:off x="850392" y="2880360"/>
            <a:ext cx="1005840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TEAM VIVA — Vietnamese In-Vehicle Assistant</a:t>
            </a:r>
            <a:endParaRPr lang="en-US" sz="1900" dirty="0"/>
          </a:p>
        </p:txBody>
      </p:sp>
      <p:sp>
        <p:nvSpPr>
          <p:cNvPr id="6" name="Text 3"/>
          <p:cNvSpPr/>
          <p:nvPr/>
        </p:nvSpPr>
        <p:spPr>
          <a:xfrm>
            <a:off x="850392" y="3401568"/>
            <a:ext cx="10058400" cy="365760"/>
          </a:xfrm>
          <a:prstGeom prst="rect">
            <a:avLst/>
          </a:prstGeom>
          <a:noFill/>
          <a:ln/>
        </p:spPr>
        <p:txBody>
          <a:bodyPr wrap="square" lIns="0" tIns="0" rIns="0" bIns="0" rtlCol="0" anchor="ctr"/>
          <a:lstStyle/>
          <a:p>
            <a:pPr indent="0" marL="0">
              <a:buNone/>
            </a:pPr>
            <a:r>
              <a:rPr lang="en-US" sz="1300" dirty="0">
                <a:solidFill>
                  <a:srgbClr val="AEC0E8"/>
                </a:solidFill>
                <a:latin typeface="Arial" pitchFamily="34" charset="0"/>
                <a:ea typeface="Arial" pitchFamily="34" charset="-122"/>
                <a:cs typeface="Arial" pitchFamily="34" charset="-120"/>
              </a:rPr>
              <a:t>Sẵn sàng build trên Virtual Development Platform từ 21/07/2026 — cùng mentor CDC.</a:t>
            </a:r>
            <a:endParaRPr lang="en-US" sz="1300" dirty="0"/>
          </a:p>
        </p:txBody>
      </p:sp>
      <p:sp>
        <p:nvSpPr>
          <p:cNvPr id="7" name="Shape 4"/>
          <p:cNvSpPr/>
          <p:nvPr/>
        </p:nvSpPr>
        <p:spPr>
          <a:xfrm>
            <a:off x="850392" y="4206240"/>
            <a:ext cx="6675120" cy="1371600"/>
          </a:xfrm>
          <a:prstGeom prst="rect">
            <a:avLst/>
          </a:prstGeom>
          <a:solidFill>
            <a:srgbClr val="1B2F6B"/>
          </a:solidFill>
          <a:ln w="12700">
            <a:solidFill>
              <a:srgbClr val="3D5399"/>
            </a:solidFill>
            <a:prstDash val="solid"/>
          </a:ln>
        </p:spPr>
      </p:sp>
      <p:sp>
        <p:nvSpPr>
          <p:cNvPr id="8" name="Text 5"/>
          <p:cNvSpPr/>
          <p:nvPr/>
        </p:nvSpPr>
        <p:spPr>
          <a:xfrm>
            <a:off x="1078992" y="4352544"/>
            <a:ext cx="6309360" cy="1097280"/>
          </a:xfrm>
          <a:prstGeom prst="rect">
            <a:avLst/>
          </a:prstGeom>
          <a:noFill/>
          <a:ln/>
        </p:spPr>
        <p:txBody>
          <a:bodyPr wrap="square" lIns="0" tIns="0" rIns="0" bIns="0" rtlCol="0" anchor="ctr"/>
          <a:lstStyle/>
          <a:p>
            <a:pPr indent="0" marL="0">
              <a:lnSpc>
                <a:spcPct val="130000"/>
              </a:lnSpc>
              <a:buNone/>
            </a:pPr>
            <a:r>
              <a:rPr lang="en-US" sz="1200" b="1" dirty="0">
                <a:solidFill>
                  <a:srgbClr val="FFFFFF"/>
                </a:solidFill>
                <a:latin typeface="Arial" pitchFamily="34" charset="0"/>
                <a:ea typeface="Arial" pitchFamily="34" charset="-122"/>
                <a:cs typeface="Arial" pitchFamily="34" charset="-120"/>
              </a:rPr>
              <a:t>Đội trưởng: Ngô Văn Long — AI Engineer</a:t>
            </a:r>
            <a:endParaRPr lang="en-US" sz="1200" dirty="0"/>
          </a:p>
          <a:p>
            <a:pPr indent="0" marL="0">
              <a:lnSpc>
                <a:spcPct val="130000"/>
              </a:lnSpc>
              <a:buNone/>
            </a:pPr>
            <a:r>
              <a:rPr lang="en-US" sz="1200" dirty="0">
                <a:solidFill>
                  <a:srgbClr val="AEC0E8"/>
                </a:solidFill>
                <a:latin typeface="Arial" pitchFamily="34" charset="0"/>
                <a:ea typeface="Arial" pitchFamily="34" charset="-122"/>
                <a:cs typeface="Arial" pitchFamily="34" charset="-120"/>
              </a:rPr>
              <a:t>longnv3008@gmail.com   ·   0348 006 898</a:t>
            </a:r>
            <a:endParaRPr lang="en-US" sz="1200" dirty="0"/>
          </a:p>
          <a:p>
            <a:pPr indent="0" marL="0">
              <a:lnSpc>
                <a:spcPct val="130000"/>
              </a:lnSpc>
              <a:buNone/>
            </a:pPr>
            <a:r>
              <a:rPr lang="en-US" sz="1200" dirty="0">
                <a:solidFill>
                  <a:srgbClr val="AEC0E8"/>
                </a:solidFill>
                <a:latin typeface="Arial" pitchFamily="34" charset="0"/>
                <a:ea typeface="Arial" pitchFamily="34" charset="-122"/>
                <a:cs typeface="Arial" pitchFamily="34" charset="-120"/>
              </a:rPr>
              <a:t>linkedin.com/in/longnv3008   ·   github.com/longnv3008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Vong 1 - VIVA - FPT Automotive Hackathon 2026</dc:title>
  <dc:subject>PptxGenJS Presentation</dc:subject>
  <dc:creator>Team VIVA</dc:creator>
  <cp:lastModifiedBy>Team VIVA</cp:lastModifiedBy>
  <cp:revision>1</cp:revision>
  <dcterms:created xsi:type="dcterms:W3CDTF">2026-07-12T16:43:31Z</dcterms:created>
  <dcterms:modified xsi:type="dcterms:W3CDTF">2026-07-12T16:43:31Z</dcterms:modified>
</cp:coreProperties>
</file>